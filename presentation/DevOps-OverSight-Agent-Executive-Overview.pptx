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If you remember one slide, this is it. Every major incident starts the same painful way — engineers manually cross-referencing a logging tool and a monitoring tool, by hand, under pressure, for 20 to 40 minutes before they even have a theory. We built an AI agent that automates that cross-referencing, proposes one specific fix, and then stops — it will not touch production without a human explicitly approving. And critically, this isn't a pitch: on a production-grade AI model, we measured it getting the diagnosis right 18 times out of 18 in controlled testing.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business case in plain terms. Your organization almost certainly runs a dedicated logging platform and a separate metrics and monitoring platform — that's standard and it's the right call individually. The problem is the seam between them is entirely manual. During a live incident, an engineer is doing the integration work by hand: copying an identifier from one tool, pasting it into a search in the other, cross-referencing in their head. Industry experience puts that at 20 to 40 minutes per major incident, every time, and it scales badly as your systems grow. That's not a technical curiosity — it's minutes of extended downtime and customer impact on every P1.</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plain terms: the agent watches the same telemetry your engineers already have access to, and when something breaks, it does the cross-tool detective work automatically instead of a human doing it by hand. The critical distinction: it proposes, it does not act. It names one specific, pre-approved fix, and the fix only runs after a human explicitly signs off. That approval step is not a suggestion in a prompt — it's a hard gate the system enforces. Everything it does is recorded.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cycle, start to finish, and it's the same shape a skilled engineer follows manually — just automated and fast. Detect: something breaks. Investigate: the agent gathers evidence from both platforms and links it by a shared identifier, the same way an engineer would but without the manual copy-paste. Diagnose: it identifies the root cause and checks what else is affected. Suggest a runbook: it names one specific fix — not generic advice, a specific, pre-approved action. Approve — highlighted here in orange because it's the most important box on this slide — a human reviews the evidence and must explicitly say yes before anything happens. Only then: remediate and recover, and the whole thing is documented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didn't want to guess which engineering approach was better, so we built the exact same capability twice and tested both against the same scenario. Solution one is built in Ballerina, WSO2's own language, and runs natively on our Agent Manager platform — one agent, one connection point, minimal moving parts. Solution two is built in Python using LangChain, the most widely used AI agent framework, and splits the investigation across specialist agents. Both are covered in the next two slides, and then we'll show you what we actually measured.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one, at a glance: one agent, one gateway, reaching both your logging and monitoring tools. The appeal here is simplicity — fewer components means fewer things to operate, secure, and audit. It's also the option that runs natively on WSO2's own Agent Manager platform, which is our purpose-built way of governing and observing AI agents in production. And the entire stack, top to bottom, is one consistent programming language, which simplifies maintenance for a small platform team.</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two takes a divide-and-conquer approach: a lead agent delegates to two specialist agents, one that only knows the monitoring platform and one that only knows the logging platform. It's built in Python on LangChain, which is the most widely adopted framework in the AI agent space — a real advantage for hiring and long-term support. Its other genuine edge: the human-approval step is enforced directly in the system's code, not just as an instruction to the model. And this specialist-agent pattern scales cleanly if you later want to add more tools or more teams into the picture.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slide with the receipts. We ran a controlled test — the same simulated incident, injected 18 separate times, for each architecture, on a production-grade AI model. Both got the diagnosis right every single time: 18 out of 18. Ballerina resolved faster in this test, about 14 seconds versus 36, because its design makes fewer round trips between agents for the same investigation. But I want to flag the most important finding on this slide, in the purple box: we also tested both approaches on a free, locally-hosted AI model, and reliability dropped to somewhere between 28 and 61 percent — for BOTH architectures. That tells us reliability is primarily a function of which AI model you use, not which of these two architectures you pick. That's a direct, quantifiable input into any cost-versus-reliability conversation about self-hosting a model versus paying for a cloud provider.</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anyone in this room thinking about risk and governance, this is the slide that matters most. Three hard rules, and they're enforced by the system, not by policy documents. One: the agent proposes a fix and stops — it cannot execute a change without an explicit human approval recorded against that specific incident. Two: it can only ever choose from a small, pre-approved list of fixes; there is no path for it to invent or run an arbitrary command. Three: every proposal, every approval, and every executed action is written to an audit log. This is what makes an AI agent acceptable to run against production systems in a regulated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addresses a real procurement and resilience concern. Which AI provider this system uses is a configuration setting, not an architectural commitment — you can point it at a locally-hosted model with zero cost and zero outside dependency, or at any major cloud AI provider, or route it through our own WSO2 gateway for governed, audited access. We've proven the same investigation runs successfully across multiple providers with no code changes. You are never locked into a single AI vendor.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Everything on this deck can be demonstrated live in under five minutes, on a laptop, without needing any live vendor accounts. We inject a real fault into a test service, the agent detects and investigates automatically, it proposes a specific fix that an operator approves, and the system recovers with an automatic record of what happened. This is repeatable on demand — including in front of a client, live.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our honest read. Both are ready for production use on a real AI model — this is not a coin flip between something that works and something that doesn't. Ballerina measured faster and has fewer moving parts, and it's the option built natively for our own agent platform. LangChain has its own genuine edge: its approval gate is enforced directly in the code rather than relying on an instruction, and it's built on the technology stack the widest pool of engineering talent already knows. The deciding factor from here isn't more technology testing — it's which of these fits your team and your governance posture, and that's the conversation we'd like to have next.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path from here is short and low-risk. First, decide on a direction — or run a brief pilot of both approaches against one real, low-stakes service to build internal confidence. Second, connect it to your actual logging and monitoring platforms; that's a configuration change, not new code. Third, finalize the approval workflow and audit requirements with compliance so it satisfies your specific governance posture. Fourth, run a live, supervised pilot on a non-critical service before any wider rollout. None of this requires re-architecting what we've already built and tested.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it out and open the floor. Offer to go deeper on any part — the technical architecture, the full measured results, or a concrete rollout plan — and note that a more detailed, engineering-level version of this deck exists if anyone wants to go further.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766560"/>
            <a:ext cx="12191695"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502920"/>
            <a:ext cx="2194560" cy="457200"/>
          </a:xfrm>
          <a:prstGeom prst="rect">
            <a:avLst/>
          </a:prstGeom>
          <a:noFill/>
        </p:spPr>
        <p:txBody>
          <a:bodyPr wrap="square" anchor="ctr" lIns="0" rIns="0" tIns="0" bIns="0">
            <a:noAutofit/>
          </a:bodyPr>
          <a:lstStyle/>
          <a:p>
            <a:pPr algn="l">
              <a:lnSpc>
                <a:spcPct val="100000"/>
              </a:lnSpc>
              <a:spcBef>
                <a:spcPts val="0"/>
              </a:spcBef>
              <a:spcAft>
                <a:spcPts val="600"/>
              </a:spcAft>
            </a:pPr>
            <a:r>
              <a:rPr sz="2200" b="1">
                <a:solidFill>
                  <a:srgbClr val="FFFFFF"/>
                </a:solidFill>
                <a:latin typeface="Arial"/>
              </a:rPr>
              <a:t>wso</a:t>
            </a:r>
            <a:r>
              <a:rPr sz="2200" b="1">
                <a:solidFill>
                  <a:srgbClr val="FF7300"/>
                </a:solidFill>
                <a:latin typeface="Arial"/>
              </a:rPr>
              <a:t>2</a:t>
            </a:r>
          </a:p>
        </p:txBody>
      </p:sp>
      <p:sp>
        <p:nvSpPr>
          <p:cNvPr id="6" name="TextBox 5"/>
          <p:cNvSpPr txBox="1"/>
          <p:nvPr/>
        </p:nvSpPr>
        <p:spPr>
          <a:xfrm>
            <a:off x="1618488" y="502920"/>
            <a:ext cx="5486400" cy="457200"/>
          </a:xfrm>
          <a:prstGeom prst="rect">
            <a:avLst/>
          </a:prstGeom>
          <a:noFill/>
        </p:spPr>
        <p:txBody>
          <a:bodyPr wrap="square" anchor="ctr" lIns="0" rIns="0" tIns="0" bIns="0">
            <a:noAutofit/>
          </a:bodyPr>
          <a:lstStyle/>
          <a:p>
            <a:pPr algn="l">
              <a:lnSpc>
                <a:spcPct val="100000"/>
              </a:lnSpc>
              <a:spcBef>
                <a:spcPts val="0"/>
              </a:spcBef>
              <a:spcAft>
                <a:spcPts val="600"/>
              </a:spcAft>
            </a:pPr>
            <a:r>
              <a:rPr sz="1250" b="0">
                <a:solidFill>
                  <a:srgbClr val="AEBECD"/>
                </a:solidFill>
                <a:latin typeface="Arial"/>
              </a:rPr>
              <a:t>|   Executive Briefing</a:t>
            </a:r>
          </a:p>
        </p:txBody>
      </p:sp>
      <p:sp>
        <p:nvSpPr>
          <p:cNvPr id="7" name="TextBox 6"/>
          <p:cNvSpPr txBox="1"/>
          <p:nvPr/>
        </p:nvSpPr>
        <p:spPr>
          <a:xfrm>
            <a:off x="566928" y="2286000"/>
            <a:ext cx="10515600" cy="365760"/>
          </a:xfrm>
          <a:prstGeom prst="rect">
            <a:avLst/>
          </a:prstGeom>
          <a:noFill/>
        </p:spPr>
        <p:txBody>
          <a:bodyPr wrap="square" anchor="t" lIns="0" rIns="0" tIns="0" bIns="0">
            <a:noAutofit/>
          </a:bodyPr>
          <a:lstStyle/>
          <a:p>
            <a:pPr algn="l">
              <a:lnSpc>
                <a:spcPct val="100000"/>
              </a:lnSpc>
              <a:spcBef>
                <a:spcPts val="0"/>
              </a:spcBef>
              <a:spcAft>
                <a:spcPts val="600"/>
              </a:spcAft>
            </a:pPr>
            <a:r>
              <a:rPr sz="1400" b="1">
                <a:solidFill>
                  <a:srgbClr val="FF7300"/>
                </a:solidFill>
                <a:latin typeface="Arial"/>
              </a:rPr>
              <a:t>EXECUTIVE OVERVIEW</a:t>
            </a:r>
          </a:p>
        </p:txBody>
      </p:sp>
      <p:sp>
        <p:nvSpPr>
          <p:cNvPr id="8" name="TextBox 7"/>
          <p:cNvSpPr txBox="1"/>
          <p:nvPr/>
        </p:nvSpPr>
        <p:spPr>
          <a:xfrm>
            <a:off x="566928" y="2679192"/>
            <a:ext cx="10881360" cy="1463040"/>
          </a:xfrm>
          <a:prstGeom prst="rect">
            <a:avLst/>
          </a:prstGeom>
          <a:noFill/>
        </p:spPr>
        <p:txBody>
          <a:bodyPr wrap="square" anchor="t" lIns="0" rIns="0" tIns="0" bIns="0">
            <a:noAutofit/>
          </a:bodyPr>
          <a:lstStyle/>
          <a:p>
            <a:pPr algn="l">
              <a:lnSpc>
                <a:spcPct val="100000"/>
              </a:lnSpc>
              <a:spcBef>
                <a:spcPts val="0"/>
              </a:spcBef>
              <a:spcAft>
                <a:spcPts val="600"/>
              </a:spcAft>
            </a:pPr>
            <a:r>
              <a:rPr sz="4400" b="1">
                <a:solidFill>
                  <a:srgbClr val="FFFFFF"/>
                </a:solidFill>
                <a:latin typeface="Arial"/>
              </a:rPr>
              <a:t>The DevOps OverSight Agent</a:t>
            </a:r>
          </a:p>
        </p:txBody>
      </p:sp>
      <p:sp>
        <p:nvSpPr>
          <p:cNvPr id="9" name="TextBox 8"/>
          <p:cNvSpPr txBox="1"/>
          <p:nvPr/>
        </p:nvSpPr>
        <p:spPr>
          <a:xfrm>
            <a:off x="566928" y="3794760"/>
            <a:ext cx="10241280" cy="1097280"/>
          </a:xfrm>
          <a:prstGeom prst="rect">
            <a:avLst/>
          </a:prstGeom>
          <a:noFill/>
        </p:spPr>
        <p:txBody>
          <a:bodyPr wrap="square" anchor="t" lIns="0" rIns="0" tIns="0" bIns="0">
            <a:noAutofit/>
          </a:bodyPr>
          <a:lstStyle/>
          <a:p>
            <a:pPr algn="l">
              <a:lnSpc>
                <a:spcPct val="125000"/>
              </a:lnSpc>
              <a:spcBef>
                <a:spcPts val="0"/>
              </a:spcBef>
              <a:spcAft>
                <a:spcPts val="600"/>
              </a:spcAft>
            </a:pPr>
            <a:r>
              <a:rPr sz="1600" b="0">
                <a:solidFill>
                  <a:srgbClr val="AEBECD"/>
                </a:solidFill>
                <a:latin typeface="Arial"/>
              </a:rPr>
              <a:t>An AI agent that diagnoses production incidents in minutes — across both your logging and monitoring platforms — and never acts without a human's sign-off.</a:t>
            </a:r>
          </a:p>
        </p:txBody>
      </p:sp>
      <p:sp>
        <p:nvSpPr>
          <p:cNvPr id="10" name="Rounded Rectangle 9"/>
          <p:cNvSpPr/>
          <p:nvPr/>
        </p:nvSpPr>
        <p:spPr>
          <a:xfrm>
            <a:off x="566928" y="5074920"/>
            <a:ext cx="4297680" cy="365760"/>
          </a:xfrm>
          <a:prstGeom prst="roundRect">
            <a:avLst>
              <a:gd name="adj" fmla="val 50000"/>
            </a:avLst>
          </a:prstGeom>
          <a:solidFill>
            <a:srgbClr val="3A241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66928" y="5074920"/>
            <a:ext cx="4297680" cy="365760"/>
          </a:xfrm>
          <a:prstGeom prst="rect">
            <a:avLst/>
          </a:prstGeom>
          <a:noFill/>
        </p:spPr>
        <p:txBody>
          <a:bodyPr wrap="square" anchor="ctr" lIns="0" rIns="0" tIns="0" bIns="0">
            <a:noAutofit/>
          </a:bodyPr>
          <a:lstStyle/>
          <a:p>
            <a:pPr algn="ctr">
              <a:lnSpc>
                <a:spcPct val="100000"/>
              </a:lnSpc>
              <a:spcBef>
                <a:spcPts val="0"/>
              </a:spcBef>
              <a:spcAft>
                <a:spcPts val="600"/>
              </a:spcAft>
            </a:pPr>
            <a:r>
              <a:rPr sz="1100" b="1">
                <a:solidFill>
                  <a:srgbClr val="FF7300"/>
                </a:solidFill>
                <a:latin typeface="Arial"/>
              </a:rPr>
              <a:t>Measured on a production-grade AI model</a:t>
            </a:r>
          </a:p>
        </p:txBody>
      </p:sp>
      <p:sp>
        <p:nvSpPr>
          <p:cNvPr id="12" name="Rectangle 11"/>
          <p:cNvSpPr/>
          <p:nvPr/>
        </p:nvSpPr>
        <p:spPr>
          <a:xfrm>
            <a:off x="566928" y="6089904"/>
            <a:ext cx="11057839" cy="12801"/>
          </a:xfrm>
          <a:prstGeom prst="rect">
            <a:avLst/>
          </a:prstGeom>
          <a:solidFill>
            <a:srgbClr val="2037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66928" y="6236208"/>
            <a:ext cx="11057839" cy="365760"/>
          </a:xfrm>
          <a:prstGeom prst="rect">
            <a:avLst/>
          </a:prstGeom>
          <a:noFill/>
        </p:spPr>
        <p:txBody>
          <a:bodyPr wrap="square" anchor="ctr" lIns="0" rIns="0" tIns="0" bIns="0">
            <a:noAutofit/>
          </a:bodyPr>
          <a:lstStyle/>
          <a:p>
            <a:pPr algn="l">
              <a:lnSpc>
                <a:spcPct val="100000"/>
              </a:lnSpc>
              <a:spcBef>
                <a:spcPts val="0"/>
              </a:spcBef>
              <a:spcAft>
                <a:spcPts val="600"/>
              </a:spcAft>
            </a:pPr>
            <a:r>
              <a:rPr sz="1200" b="1">
                <a:solidFill>
                  <a:srgbClr val="FFFFFF"/>
                </a:solidFill>
                <a:latin typeface="Arial"/>
              </a:rPr>
              <a:t>Scott Bechtel</a:t>
            </a:r>
            <a:r>
              <a:rPr sz="1200" b="0">
                <a:solidFill>
                  <a:srgbClr val="AEBECD"/>
                </a:solidFill>
                <a:latin typeface="Arial"/>
              </a:rPr>
              <a:t>   ·   For leadership review</a:t>
            </a:r>
            <a:r>
              <a:rPr sz="1200" b="0">
                <a:solidFill>
                  <a:srgbClr val="AEBECD"/>
                </a:solidFill>
                <a:latin typeface="Arial"/>
              </a:rPr>
              <a:t>   ·   July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THE ONE-SLIDE VERSION</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Executive summary</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828800"/>
            <a:ext cx="6126480" cy="3291840"/>
          </a:xfrm>
          <a:prstGeom prst="rect">
            <a:avLst/>
          </a:prstGeom>
          <a:noFill/>
        </p:spPr>
        <p:txBody>
          <a:bodyPr wrap="square" anchor="t" lIns="0" rIns="0" tIns="0" bIns="0">
            <a:noAutofit/>
          </a:bodyPr>
          <a:lstStyle/>
          <a:p>
            <a:pPr algn="l" marL="256032" indent="-256032">
              <a:lnSpc>
                <a:spcPct val="106000"/>
              </a:lnSpc>
              <a:spcBef>
                <a:spcPts val="0"/>
              </a:spcBef>
              <a:spcAft>
                <a:spcPts val="1300"/>
              </a:spcAft>
              <a:buClr>
                <a:srgbClr val="FF7300"/>
              </a:buClr>
              <a:buFont typeface="Arial"/>
              <a:buChar char="▪"/>
            </a:pPr>
            <a:r>
              <a:rPr sz="1350" b="1">
                <a:solidFill>
                  <a:srgbClr val="1B2733"/>
                </a:solidFill>
                <a:latin typeface="Arial"/>
              </a:rPr>
              <a:t>The problem:  </a:t>
            </a:r>
            <a:r>
              <a:rPr sz="1350" b="0">
                <a:solidFill>
                  <a:srgbClr val="1B2733"/>
                </a:solidFill>
                <a:latin typeface="Arial"/>
              </a:rPr>
              <a:t>engineers lose 20–40 minutes per major incident manually cross-referencing two separate tools before they even know what's wrong.</a:t>
            </a:r>
          </a:p>
          <a:p>
            <a:pPr algn="l" marL="256032" indent="-256032">
              <a:lnSpc>
                <a:spcPct val="106000"/>
              </a:lnSpc>
              <a:spcBef>
                <a:spcPts val="0"/>
              </a:spcBef>
              <a:spcAft>
                <a:spcPts val="1300"/>
              </a:spcAft>
              <a:buClr>
                <a:srgbClr val="FF7300"/>
              </a:buClr>
              <a:buFont typeface="Arial"/>
              <a:buChar char="▪"/>
            </a:pPr>
            <a:r>
              <a:rPr sz="1350" b="1">
                <a:solidFill>
                  <a:srgbClr val="1B2733"/>
                </a:solidFill>
                <a:latin typeface="Arial"/>
              </a:rPr>
              <a:t>What we built:  </a:t>
            </a:r>
            <a:r>
              <a:rPr sz="1350" b="0">
                <a:solidFill>
                  <a:srgbClr val="1B2733"/>
                </a:solidFill>
                <a:latin typeface="Arial"/>
              </a:rPr>
              <a:t>an AI agent that does that cross-tool detective work automatically — then proposes one specific fix and waits for a human to approve it.</a:t>
            </a:r>
          </a:p>
          <a:p>
            <a:pPr algn="l" marL="256032" indent="-256032">
              <a:lnSpc>
                <a:spcPct val="106000"/>
              </a:lnSpc>
              <a:spcBef>
                <a:spcPts val="0"/>
              </a:spcBef>
              <a:spcAft>
                <a:spcPts val="1300"/>
              </a:spcAft>
              <a:buClr>
                <a:srgbClr val="FF7300"/>
              </a:buClr>
              <a:buFont typeface="Arial"/>
              <a:buChar char="▪"/>
            </a:pPr>
            <a:r>
              <a:rPr sz="1350" b="1">
                <a:solidFill>
                  <a:srgbClr val="1B2733"/>
                </a:solidFill>
                <a:latin typeface="Arial"/>
              </a:rPr>
              <a:t>It never acts alone:  </a:t>
            </a:r>
            <a:r>
              <a:rPr sz="1350" b="0">
                <a:solidFill>
                  <a:srgbClr val="1B2733"/>
                </a:solidFill>
                <a:latin typeface="Arial"/>
              </a:rPr>
              <a:t>no fix runs, no system changes, without an explicit human approval. This is enforced, not just policy.</a:t>
            </a:r>
          </a:p>
          <a:p>
            <a:pPr algn="l" marL="256032" indent="-256032">
              <a:lnSpc>
                <a:spcPct val="106000"/>
              </a:lnSpc>
              <a:spcBef>
                <a:spcPts val="0"/>
              </a:spcBef>
              <a:spcAft>
                <a:spcPts val="1300"/>
              </a:spcAft>
              <a:buClr>
                <a:srgbClr val="FF7300"/>
              </a:buClr>
              <a:buFont typeface="Arial"/>
              <a:buChar char="▪"/>
            </a:pPr>
            <a:r>
              <a:rPr sz="1350" b="1">
                <a:solidFill>
                  <a:srgbClr val="1B2733"/>
                </a:solidFill>
                <a:latin typeface="Arial"/>
              </a:rPr>
              <a:t>It's measured, not promised:  </a:t>
            </a:r>
            <a:r>
              <a:rPr sz="1350" b="0">
                <a:solidFill>
                  <a:srgbClr val="1B2733"/>
                </a:solidFill>
                <a:latin typeface="Arial"/>
              </a:rPr>
              <a:t>on a production-grade AI model, it correctly diagnosed the test incident 18 times out of 18.</a:t>
            </a:r>
          </a:p>
        </p:txBody>
      </p:sp>
      <p:sp>
        <p:nvSpPr>
          <p:cNvPr id="8" name="Rounded Rectangle 7"/>
          <p:cNvSpPr/>
          <p:nvPr/>
        </p:nvSpPr>
        <p:spPr>
          <a:xfrm>
            <a:off x="7059168" y="1828800"/>
            <a:ext cx="4565599" cy="1234440"/>
          </a:xfrm>
          <a:prstGeom prst="roundRect">
            <a:avLst>
              <a:gd name="adj" fmla="val 4500"/>
            </a:avLst>
          </a:prstGeom>
          <a:solidFill>
            <a:srgbClr val="F6F8FA"/>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68896" y="1938528"/>
            <a:ext cx="4346143" cy="1014984"/>
          </a:xfrm>
          <a:prstGeom prst="rect">
            <a:avLst/>
          </a:prstGeom>
          <a:noFill/>
        </p:spPr>
        <p:txBody>
          <a:bodyPr wrap="square" anchor="ctr" lIns="0" rIns="0" tIns="0" bIns="0">
            <a:noAutofit/>
          </a:bodyPr>
          <a:lstStyle/>
          <a:p>
            <a:pPr algn="ctr">
              <a:lnSpc>
                <a:spcPct val="100000"/>
              </a:lnSpc>
              <a:spcBef>
                <a:spcPts val="0"/>
              </a:spcBef>
              <a:spcAft>
                <a:spcPts val="200"/>
              </a:spcAft>
            </a:pPr>
            <a:r>
              <a:rPr sz="3800" b="1">
                <a:solidFill>
                  <a:srgbClr val="FF7300"/>
                </a:solidFill>
                <a:latin typeface="Arial"/>
              </a:rPr>
              <a:t>100%</a:t>
            </a:r>
          </a:p>
          <a:p>
            <a:pPr algn="ctr">
              <a:lnSpc>
                <a:spcPct val="102000"/>
              </a:lnSpc>
              <a:spcBef>
                <a:spcPts val="0"/>
              </a:spcBef>
              <a:spcAft>
                <a:spcPts val="0"/>
              </a:spcAft>
            </a:pPr>
            <a:r>
              <a:rPr sz="1100" b="1">
                <a:solidFill>
                  <a:srgbClr val="1B2733"/>
                </a:solidFill>
                <a:latin typeface="Arial"/>
              </a:rPr>
              <a:t>correct diagnosis rate (measured)</a:t>
            </a:r>
          </a:p>
        </p:txBody>
      </p:sp>
      <p:sp>
        <p:nvSpPr>
          <p:cNvPr id="10" name="Rounded Rectangle 9"/>
          <p:cNvSpPr/>
          <p:nvPr/>
        </p:nvSpPr>
        <p:spPr>
          <a:xfrm>
            <a:off x="7059168" y="3246120"/>
            <a:ext cx="2168499" cy="1097280"/>
          </a:xfrm>
          <a:prstGeom prst="roundRect">
            <a:avLst>
              <a:gd name="adj" fmla="val 4500"/>
            </a:avLst>
          </a:prstGeom>
          <a:solidFill>
            <a:srgbClr val="F6F8FA"/>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68896" y="3355848"/>
            <a:ext cx="1949043" cy="877824"/>
          </a:xfrm>
          <a:prstGeom prst="rect">
            <a:avLst/>
          </a:prstGeom>
          <a:noFill/>
        </p:spPr>
        <p:txBody>
          <a:bodyPr wrap="square" anchor="ctr" lIns="0" rIns="0" tIns="0" bIns="0">
            <a:noAutofit/>
          </a:bodyPr>
          <a:lstStyle/>
          <a:p>
            <a:pPr algn="ctr">
              <a:lnSpc>
                <a:spcPct val="100000"/>
              </a:lnSpc>
              <a:spcBef>
                <a:spcPts val="0"/>
              </a:spcBef>
              <a:spcAft>
                <a:spcPts val="200"/>
              </a:spcAft>
            </a:pPr>
            <a:r>
              <a:rPr sz="2200" b="1">
                <a:solidFill>
                  <a:srgbClr val="0E8FA8"/>
                </a:solidFill>
                <a:latin typeface="Arial"/>
              </a:rPr>
              <a:t>14–36s</a:t>
            </a:r>
          </a:p>
          <a:p>
            <a:pPr algn="ctr">
              <a:lnSpc>
                <a:spcPct val="102000"/>
              </a:lnSpc>
              <a:spcBef>
                <a:spcPts val="0"/>
              </a:spcBef>
              <a:spcAft>
                <a:spcPts val="0"/>
              </a:spcAft>
            </a:pPr>
            <a:r>
              <a:rPr sz="950" b="1">
                <a:solidFill>
                  <a:srgbClr val="1B2733"/>
                </a:solidFill>
                <a:latin typeface="Arial"/>
              </a:rPr>
              <a:t>time to a proposed fix</a:t>
            </a:r>
          </a:p>
        </p:txBody>
      </p:sp>
      <p:sp>
        <p:nvSpPr>
          <p:cNvPr id="12" name="Rounded Rectangle 11"/>
          <p:cNvSpPr/>
          <p:nvPr/>
        </p:nvSpPr>
        <p:spPr>
          <a:xfrm>
            <a:off x="9456267" y="3246120"/>
            <a:ext cx="2168499" cy="1097280"/>
          </a:xfrm>
          <a:prstGeom prst="roundRect">
            <a:avLst>
              <a:gd name="adj" fmla="val 4500"/>
            </a:avLst>
          </a:prstGeom>
          <a:solidFill>
            <a:srgbClr val="F6F8FA"/>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565995" y="3355848"/>
            <a:ext cx="1949043" cy="877824"/>
          </a:xfrm>
          <a:prstGeom prst="rect">
            <a:avLst/>
          </a:prstGeom>
          <a:noFill/>
        </p:spPr>
        <p:txBody>
          <a:bodyPr wrap="square" anchor="ctr" lIns="0" rIns="0" tIns="0" bIns="0">
            <a:noAutofit/>
          </a:bodyPr>
          <a:lstStyle/>
          <a:p>
            <a:pPr algn="ctr">
              <a:lnSpc>
                <a:spcPct val="100000"/>
              </a:lnSpc>
              <a:spcBef>
                <a:spcPts val="0"/>
              </a:spcBef>
              <a:spcAft>
                <a:spcPts val="200"/>
              </a:spcAft>
            </a:pPr>
            <a:r>
              <a:rPr sz="2600" b="1">
                <a:solidFill>
                  <a:srgbClr val="6A4CE0"/>
                </a:solidFill>
                <a:latin typeface="Arial"/>
              </a:rPr>
              <a:t>0</a:t>
            </a:r>
          </a:p>
          <a:p>
            <a:pPr algn="ctr">
              <a:lnSpc>
                <a:spcPct val="102000"/>
              </a:lnSpc>
              <a:spcBef>
                <a:spcPts val="0"/>
              </a:spcBef>
              <a:spcAft>
                <a:spcPts val="0"/>
              </a:spcAft>
            </a:pPr>
            <a:r>
              <a:rPr sz="950" b="1">
                <a:solidFill>
                  <a:srgbClr val="1B2733"/>
                </a:solidFill>
                <a:latin typeface="Arial"/>
              </a:rPr>
              <a:t>vendor lock-in</a:t>
            </a:r>
          </a:p>
        </p:txBody>
      </p:sp>
      <p:sp>
        <p:nvSpPr>
          <p:cNvPr id="14" name="Rounded Rectangle 13"/>
          <p:cNvSpPr/>
          <p:nvPr/>
        </p:nvSpPr>
        <p:spPr>
          <a:xfrm>
            <a:off x="7059168" y="4526279"/>
            <a:ext cx="4565599" cy="914400"/>
          </a:xfrm>
          <a:prstGeom prst="roundRect">
            <a:avLst>
              <a:gd name="adj" fmla="val 4500"/>
            </a:avLst>
          </a:prstGeom>
          <a:solidFill>
            <a:srgbClr val="FF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059168" y="4526279"/>
            <a:ext cx="91440" cy="91440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296912" y="4654295"/>
            <a:ext cx="4181551" cy="658368"/>
          </a:xfrm>
          <a:prstGeom prst="rect">
            <a:avLst/>
          </a:prstGeom>
          <a:noFill/>
        </p:spPr>
        <p:txBody>
          <a:bodyPr wrap="square" anchor="ctr" lIns="0" rIns="0" tIns="0" bIns="0">
            <a:noAutofit/>
          </a:bodyPr>
          <a:lstStyle/>
          <a:p>
            <a:pPr algn="l">
              <a:lnSpc>
                <a:spcPct val="100000"/>
              </a:lnSpc>
              <a:spcBef>
                <a:spcPts val="0"/>
              </a:spcBef>
              <a:spcAft>
                <a:spcPts val="300"/>
              </a:spcAft>
            </a:pPr>
            <a:r>
              <a:rPr sz="1200" b="1">
                <a:solidFill>
                  <a:srgbClr val="FF7300"/>
                </a:solidFill>
                <a:latin typeface="Arial"/>
              </a:rPr>
              <a:t>◆  Bottom line</a:t>
            </a:r>
          </a:p>
          <a:p>
            <a:pPr algn="l">
              <a:lnSpc>
                <a:spcPct val="112000"/>
              </a:lnSpc>
              <a:spcBef>
                <a:spcPts val="0"/>
              </a:spcBef>
              <a:spcAft>
                <a:spcPts val="0"/>
              </a:spcAft>
            </a:pPr>
            <a:r>
              <a:rPr sz="1050" b="0">
                <a:solidFill>
                  <a:srgbClr val="3E4C59"/>
                </a:solidFill>
                <a:latin typeface="Arial"/>
              </a:rPr>
              <a:t>This isn't a concept — it's a working system with measured, repeatable results.</a:t>
            </a:r>
          </a:p>
        </p:txBody>
      </p:sp>
      <p:sp>
        <p:nvSpPr>
          <p:cNvPr id="17" name="TextBox 16"/>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Executive Overview</a:t>
            </a:r>
          </a:p>
        </p:txBody>
      </p:sp>
      <p:sp>
        <p:nvSpPr>
          <p:cNvPr id="18" name="TextBox 17"/>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02  /  15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THE BUSINESS PROBLEM</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The cost of manually correlating two tools</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828800"/>
            <a:ext cx="6035040" cy="3291840"/>
          </a:xfrm>
          <a:prstGeom prst="rect">
            <a:avLst/>
          </a:prstGeom>
          <a:noFill/>
        </p:spPr>
        <p:txBody>
          <a:bodyPr wrap="square" anchor="t" lIns="0" rIns="0" tIns="0" bIns="0">
            <a:noAutofit/>
          </a:bodyPr>
          <a:lstStyle/>
          <a:p>
            <a:pPr algn="l" marL="256032" indent="-256032">
              <a:lnSpc>
                <a:spcPct val="106000"/>
              </a:lnSpc>
              <a:spcBef>
                <a:spcPts val="0"/>
              </a:spcBef>
              <a:spcAft>
                <a:spcPts val="1200"/>
              </a:spcAft>
              <a:buClr>
                <a:srgbClr val="FF7300"/>
              </a:buClr>
              <a:buFont typeface="Arial"/>
              <a:buChar char="▪"/>
            </a:pPr>
            <a:r>
              <a:rPr sz="1350" b="1">
                <a:solidFill>
                  <a:srgbClr val="1B2733"/>
                </a:solidFill>
                <a:latin typeface="Arial"/>
              </a:rPr>
              <a:t>Two systems, no shared language.  </a:t>
            </a:r>
            <a:r>
              <a:rPr sz="1350" b="0">
                <a:solidFill>
                  <a:srgbClr val="1B2733"/>
                </a:solidFill>
                <a:latin typeface="Arial"/>
              </a:rPr>
              <a:t>Your logs live in one platform, your metrics and traces in another. They don't talk to each other.</a:t>
            </a:r>
          </a:p>
          <a:p>
            <a:pPr algn="l" marL="256032" indent="-256032">
              <a:lnSpc>
                <a:spcPct val="106000"/>
              </a:lnSpc>
              <a:spcBef>
                <a:spcPts val="0"/>
              </a:spcBef>
              <a:spcAft>
                <a:spcPts val="1200"/>
              </a:spcAft>
              <a:buClr>
                <a:srgbClr val="FF7300"/>
              </a:buClr>
              <a:buFont typeface="Arial"/>
              <a:buChar char="▪"/>
            </a:pPr>
            <a:r>
              <a:rPr sz="1350" b="1">
                <a:solidFill>
                  <a:srgbClr val="1B2733"/>
                </a:solidFill>
                <a:latin typeface="Arial"/>
              </a:rPr>
              <a:t>A person is the integration.  </a:t>
            </a:r>
            <a:r>
              <a:rPr sz="1350" b="0">
                <a:solidFill>
                  <a:srgbClr val="1B2733"/>
                </a:solidFill>
                <a:latin typeface="Arial"/>
              </a:rPr>
              <a:t>During an incident, an engineer manually copies identifiers between tools, cross-referencing by hand and by memory.</a:t>
            </a:r>
          </a:p>
          <a:p>
            <a:pPr algn="l" marL="256032" indent="-256032">
              <a:lnSpc>
                <a:spcPct val="106000"/>
              </a:lnSpc>
              <a:spcBef>
                <a:spcPts val="0"/>
              </a:spcBef>
              <a:spcAft>
                <a:spcPts val="1200"/>
              </a:spcAft>
              <a:buClr>
                <a:srgbClr val="FF7300"/>
              </a:buClr>
              <a:buFont typeface="Arial"/>
              <a:buChar char="▪"/>
            </a:pPr>
            <a:r>
              <a:rPr sz="1350" b="1">
                <a:solidFill>
                  <a:srgbClr val="1B2733"/>
                </a:solidFill>
                <a:latin typeface="Arial"/>
              </a:rPr>
              <a:t>It doesn't scale.  </a:t>
            </a:r>
            <a:r>
              <a:rPr sz="1350" b="0">
                <a:solidFill>
                  <a:srgbClr val="1B2733"/>
                </a:solidFill>
                <a:latin typeface="Arial"/>
              </a:rPr>
              <a:t>The bigger and more complex your systems get, the worse this gets — and it depends on whoever happens to be on call.</a:t>
            </a:r>
          </a:p>
          <a:p>
            <a:pPr algn="l" marL="256032" indent="-256032">
              <a:lnSpc>
                <a:spcPct val="106000"/>
              </a:lnSpc>
              <a:spcBef>
                <a:spcPts val="0"/>
              </a:spcBef>
              <a:spcAft>
                <a:spcPts val="1200"/>
              </a:spcAft>
              <a:buClr>
                <a:srgbClr val="FF7300"/>
              </a:buClr>
              <a:buFont typeface="Arial"/>
              <a:buChar char="▪"/>
            </a:pPr>
            <a:r>
              <a:rPr sz="1350" b="1">
                <a:solidFill>
                  <a:srgbClr val="1B2733"/>
                </a:solidFill>
                <a:latin typeface="Arial"/>
              </a:rPr>
              <a:t>The stakes are real.  </a:t>
            </a:r>
            <a:r>
              <a:rPr sz="1350" b="0">
                <a:solidFill>
                  <a:srgbClr val="1B2733"/>
                </a:solidFill>
                <a:latin typeface="Arial"/>
              </a:rPr>
              <a:t>Every minute of manual correlation is a minute of extended downtime, customer impact, and risk exposure.</a:t>
            </a:r>
          </a:p>
        </p:txBody>
      </p:sp>
      <p:sp>
        <p:nvSpPr>
          <p:cNvPr id="8" name="Rounded Rectangle 7"/>
          <p:cNvSpPr/>
          <p:nvPr/>
        </p:nvSpPr>
        <p:spPr>
          <a:xfrm>
            <a:off x="7013448" y="1828800"/>
            <a:ext cx="4611319" cy="1737360"/>
          </a:xfrm>
          <a:prstGeom prst="roundRect">
            <a:avLst>
              <a:gd name="adj" fmla="val 4500"/>
            </a:avLst>
          </a:prstGeom>
          <a:solidFill>
            <a:srgbClr val="FBE7E6"/>
          </a:solidFill>
          <a:ln w="12700">
            <a:solidFill>
              <a:srgbClr val="FBE7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23176" y="1938528"/>
            <a:ext cx="4391863" cy="1517904"/>
          </a:xfrm>
          <a:prstGeom prst="rect">
            <a:avLst/>
          </a:prstGeom>
          <a:noFill/>
        </p:spPr>
        <p:txBody>
          <a:bodyPr wrap="square" anchor="ctr" lIns="0" rIns="0" tIns="0" bIns="0">
            <a:noAutofit/>
          </a:bodyPr>
          <a:lstStyle/>
          <a:p>
            <a:pPr algn="ctr">
              <a:lnSpc>
                <a:spcPct val="100000"/>
              </a:lnSpc>
              <a:spcBef>
                <a:spcPts val="0"/>
              </a:spcBef>
              <a:spcAft>
                <a:spcPts val="200"/>
              </a:spcAft>
            </a:pPr>
            <a:r>
              <a:rPr sz="3400" b="1">
                <a:solidFill>
                  <a:srgbClr val="CE4A45"/>
                </a:solidFill>
                <a:latin typeface="Arial"/>
              </a:rPr>
              <a:t>20–40 min</a:t>
            </a:r>
          </a:p>
          <a:p>
            <a:pPr algn="ctr">
              <a:lnSpc>
                <a:spcPct val="102000"/>
              </a:lnSpc>
              <a:spcBef>
                <a:spcPts val="0"/>
              </a:spcBef>
              <a:spcAft>
                <a:spcPts val="0"/>
              </a:spcAft>
            </a:pPr>
            <a:r>
              <a:rPr sz="1200" b="1">
                <a:solidFill>
                  <a:srgbClr val="1B2733"/>
                </a:solidFill>
                <a:latin typeface="Arial"/>
              </a:rPr>
              <a:t>lost per major incident
to manual correlation alone</a:t>
            </a:r>
          </a:p>
        </p:txBody>
      </p:sp>
      <p:sp>
        <p:nvSpPr>
          <p:cNvPr id="10" name="Rounded Rectangle 9"/>
          <p:cNvSpPr/>
          <p:nvPr/>
        </p:nvSpPr>
        <p:spPr>
          <a:xfrm>
            <a:off x="7013448" y="3749039"/>
            <a:ext cx="4611319" cy="1691640"/>
          </a:xfrm>
          <a:prstGeom prst="roundRect">
            <a:avLst>
              <a:gd name="adj" fmla="val 4500"/>
            </a:avLst>
          </a:prstGeom>
          <a:solidFill>
            <a:srgbClr val="FF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013448" y="3749039"/>
            <a:ext cx="91440" cy="16916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51192" y="3877055"/>
            <a:ext cx="4227271" cy="1435608"/>
          </a:xfrm>
          <a:prstGeom prst="rect">
            <a:avLst/>
          </a:prstGeom>
          <a:noFill/>
        </p:spPr>
        <p:txBody>
          <a:bodyPr wrap="square" anchor="ctr" lIns="0" rIns="0" tIns="0" bIns="0">
            <a:noAutofit/>
          </a:bodyPr>
          <a:lstStyle/>
          <a:p>
            <a:pPr algn="l">
              <a:lnSpc>
                <a:spcPct val="100000"/>
              </a:lnSpc>
              <a:spcBef>
                <a:spcPts val="0"/>
              </a:spcBef>
              <a:spcAft>
                <a:spcPts val="300"/>
              </a:spcAft>
            </a:pPr>
            <a:r>
              <a:rPr sz="1200" b="1">
                <a:solidFill>
                  <a:srgbClr val="FF7300"/>
                </a:solidFill>
                <a:latin typeface="Arial"/>
              </a:rPr>
              <a:t>◆  Why it matters at your level</a:t>
            </a:r>
          </a:p>
          <a:p>
            <a:pPr algn="l">
              <a:lnSpc>
                <a:spcPct val="112000"/>
              </a:lnSpc>
              <a:spcBef>
                <a:spcPts val="0"/>
              </a:spcBef>
              <a:spcAft>
                <a:spcPts val="0"/>
              </a:spcAft>
            </a:pPr>
            <a:r>
              <a:rPr sz="1050" b="0">
                <a:solidFill>
                  <a:srgbClr val="3E4C59"/>
                </a:solidFill>
                <a:latin typeface="Arial"/>
              </a:rPr>
              <a:t>This is a direct, measurable line item in mean-time-to-resolution — and MTTR is a direct line item in customer trust and operational cost.</a:t>
            </a:r>
          </a:p>
        </p:txBody>
      </p:sp>
      <p:sp>
        <p:nvSpPr>
          <p:cNvPr id="13" name="TextBox 12"/>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Executive Overview</a:t>
            </a:r>
          </a:p>
        </p:txBody>
      </p:sp>
      <p:sp>
        <p:nvSpPr>
          <p:cNvPr id="14" name="TextBox 13"/>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03  /  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INTRODUCTION</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What it is, in plain terms</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828800"/>
            <a:ext cx="5943600" cy="3474720"/>
          </a:xfrm>
          <a:prstGeom prst="rect">
            <a:avLst/>
          </a:prstGeom>
          <a:noFill/>
        </p:spPr>
        <p:txBody>
          <a:bodyPr wrap="square" anchor="t" lIns="0" rIns="0" tIns="0" bIns="0">
            <a:noAutofit/>
          </a:bodyPr>
          <a:lstStyle/>
          <a:p>
            <a:pPr algn="l" marL="256032" indent="-256032">
              <a:lnSpc>
                <a:spcPct val="106000"/>
              </a:lnSpc>
              <a:spcBef>
                <a:spcPts val="0"/>
              </a:spcBef>
              <a:spcAft>
                <a:spcPts val="1100"/>
              </a:spcAft>
              <a:buClr>
                <a:srgbClr val="FF7300"/>
              </a:buClr>
              <a:buFont typeface="Arial"/>
              <a:buChar char="▪"/>
            </a:pPr>
            <a:r>
              <a:rPr sz="1300" b="1">
                <a:solidFill>
                  <a:srgbClr val="1B2733"/>
                </a:solidFill>
                <a:latin typeface="Arial"/>
              </a:rPr>
              <a:t>It watches.  </a:t>
            </a:r>
            <a:r>
              <a:rPr sz="1300" b="0">
                <a:solidFill>
                  <a:srgbClr val="1B2733"/>
                </a:solidFill>
                <a:latin typeface="Arial"/>
              </a:rPr>
              <a:t>The agent continuously has access to both your logging and monitoring platforms — the same data your engineers already look at.</a:t>
            </a:r>
          </a:p>
          <a:p>
            <a:pPr algn="l" marL="256032" indent="-256032">
              <a:lnSpc>
                <a:spcPct val="106000"/>
              </a:lnSpc>
              <a:spcBef>
                <a:spcPts val="0"/>
              </a:spcBef>
              <a:spcAft>
                <a:spcPts val="1100"/>
              </a:spcAft>
              <a:buClr>
                <a:srgbClr val="FF7300"/>
              </a:buClr>
              <a:buFont typeface="Arial"/>
              <a:buChar char="▪"/>
            </a:pPr>
            <a:r>
              <a:rPr sz="1300" b="1">
                <a:solidFill>
                  <a:srgbClr val="1B2733"/>
                </a:solidFill>
                <a:latin typeface="Arial"/>
              </a:rPr>
              <a:t>It investigates automatically.  </a:t>
            </a:r>
            <a:r>
              <a:rPr sz="1300" b="0">
                <a:solidFill>
                  <a:srgbClr val="1B2733"/>
                </a:solidFill>
                <a:latin typeface="Arial"/>
              </a:rPr>
              <a:t>When something breaks, it pulls evidence from both tools and connects them using the identifier that already links them together.</a:t>
            </a:r>
          </a:p>
          <a:p>
            <a:pPr algn="l" marL="256032" indent="-256032">
              <a:lnSpc>
                <a:spcPct val="106000"/>
              </a:lnSpc>
              <a:spcBef>
                <a:spcPts val="0"/>
              </a:spcBef>
              <a:spcAft>
                <a:spcPts val="1100"/>
              </a:spcAft>
              <a:buClr>
                <a:srgbClr val="FF7300"/>
              </a:buClr>
              <a:buFont typeface="Arial"/>
              <a:buChar char="▪"/>
            </a:pPr>
            <a:r>
              <a:rPr sz="1300" b="1">
                <a:solidFill>
                  <a:srgbClr val="1B2733"/>
                </a:solidFill>
                <a:latin typeface="Arial"/>
              </a:rPr>
              <a:t>It proposes — it doesn't act.  </a:t>
            </a:r>
            <a:r>
              <a:rPr sz="1300" b="0">
                <a:solidFill>
                  <a:srgbClr val="1B2733"/>
                </a:solidFill>
                <a:latin typeface="Arial"/>
              </a:rPr>
              <a:t>It names one specific fix from a pre-approved list. It never invents an action and never runs one unsupervised.</a:t>
            </a:r>
          </a:p>
          <a:p>
            <a:pPr algn="l" marL="256032" indent="-256032">
              <a:lnSpc>
                <a:spcPct val="106000"/>
              </a:lnSpc>
              <a:spcBef>
                <a:spcPts val="0"/>
              </a:spcBef>
              <a:spcAft>
                <a:spcPts val="1100"/>
              </a:spcAft>
              <a:buClr>
                <a:srgbClr val="FF7300"/>
              </a:buClr>
              <a:buFont typeface="Arial"/>
              <a:buChar char="▪"/>
            </a:pPr>
            <a:r>
              <a:rPr sz="1300" b="1">
                <a:solidFill>
                  <a:srgbClr val="1B2733"/>
                </a:solidFill>
                <a:latin typeface="Arial"/>
              </a:rPr>
              <a:t>A human always decides.  </a:t>
            </a:r>
            <a:r>
              <a:rPr sz="1300" b="0">
                <a:solidFill>
                  <a:srgbClr val="1B2733"/>
                </a:solidFill>
                <a:latin typeface="Arial"/>
              </a:rPr>
              <a:t>The fix only executes after an engineer explicitly approves it. Every action is logged.</a:t>
            </a:r>
          </a:p>
        </p:txBody>
      </p:sp>
      <p:sp>
        <p:nvSpPr>
          <p:cNvPr id="8" name="Rounded Rectangle 7"/>
          <p:cNvSpPr/>
          <p:nvPr/>
        </p:nvSpPr>
        <p:spPr>
          <a:xfrm>
            <a:off x="6922008" y="1920240"/>
            <a:ext cx="4702759" cy="777240"/>
          </a:xfrm>
          <a:prstGeom prst="roundRect">
            <a:avLst>
              <a:gd name="adj" fmla="val 10000"/>
            </a:avLst>
          </a:prstGeom>
          <a:solidFill>
            <a:srgbClr val="F6F8FA"/>
          </a:solidFill>
          <a:ln w="1778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95160" y="1956816"/>
            <a:ext cx="4556455" cy="704088"/>
          </a:xfrm>
          <a:prstGeom prst="rect">
            <a:avLst/>
          </a:prstGeom>
          <a:noFill/>
        </p:spPr>
        <p:txBody>
          <a:bodyPr wrap="square" anchor="ctr" lIns="0" rIns="0" tIns="0" bIns="0">
            <a:noAutofit/>
          </a:bodyPr>
          <a:lstStyle/>
          <a:p>
            <a:pPr algn="ctr">
              <a:lnSpc>
                <a:spcPct val="100000"/>
              </a:lnSpc>
              <a:spcBef>
                <a:spcPts val="0"/>
              </a:spcBef>
              <a:spcAft>
                <a:spcPts val="200"/>
              </a:spcAft>
            </a:pPr>
            <a:r>
              <a:rPr sz="1300" b="1">
                <a:solidFill>
                  <a:srgbClr val="1B2733"/>
                </a:solidFill>
                <a:latin typeface="Arial"/>
              </a:rPr>
              <a:t>Your telemetry</a:t>
            </a:r>
          </a:p>
          <a:p>
            <a:pPr algn="ctr">
              <a:lnSpc>
                <a:spcPct val="102000"/>
              </a:lnSpc>
              <a:spcBef>
                <a:spcPts val="0"/>
              </a:spcBef>
              <a:spcAft>
                <a:spcPts val="0"/>
              </a:spcAft>
            </a:pPr>
            <a:r>
              <a:rPr sz="900" b="0">
                <a:solidFill>
                  <a:srgbClr val="6B7885"/>
                </a:solidFill>
                <a:latin typeface="Arial"/>
              </a:rPr>
              <a:t>logging + monitoring platforms</a:t>
            </a:r>
          </a:p>
        </p:txBody>
      </p:sp>
      <p:cxnSp>
        <p:nvCxnSpPr>
          <p:cNvPr id="10" name="Connector 9"/>
          <p:cNvCxnSpPr/>
          <p:nvPr/>
        </p:nvCxnSpPr>
        <p:spPr>
          <a:xfrm>
            <a:off x="9273387" y="2697480"/>
            <a:ext cx="0" cy="320040"/>
          </a:xfrm>
          <a:prstGeom prst="line">
            <a:avLst/>
          </a:prstGeom>
          <a:ln w="2032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922008" y="3063239"/>
            <a:ext cx="4702759" cy="777240"/>
          </a:xfrm>
          <a:prstGeom prst="roundRect">
            <a:avLst>
              <a:gd name="adj" fmla="val 10000"/>
            </a:avLst>
          </a:prstGeom>
          <a:solidFill>
            <a:srgbClr val="1B2733"/>
          </a:solidFill>
          <a:ln w="17780">
            <a:solidFill>
              <a:srgbClr val="1B27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995160" y="3099815"/>
            <a:ext cx="4556455" cy="704088"/>
          </a:xfrm>
          <a:prstGeom prst="rect">
            <a:avLst/>
          </a:prstGeom>
          <a:noFill/>
        </p:spPr>
        <p:txBody>
          <a:bodyPr wrap="square" anchor="ctr" lIns="0" rIns="0" tIns="0" bIns="0">
            <a:noAutofit/>
          </a:bodyPr>
          <a:lstStyle/>
          <a:p>
            <a:pPr algn="ctr">
              <a:lnSpc>
                <a:spcPct val="100000"/>
              </a:lnSpc>
              <a:spcBef>
                <a:spcPts val="0"/>
              </a:spcBef>
              <a:spcAft>
                <a:spcPts val="200"/>
              </a:spcAft>
            </a:pPr>
            <a:r>
              <a:rPr sz="1300" b="1">
                <a:solidFill>
                  <a:srgbClr val="FFFFFF"/>
                </a:solidFill>
                <a:latin typeface="Arial"/>
              </a:rPr>
              <a:t>AI Agent</a:t>
            </a:r>
          </a:p>
          <a:p>
            <a:pPr algn="ctr">
              <a:lnSpc>
                <a:spcPct val="102000"/>
              </a:lnSpc>
              <a:spcBef>
                <a:spcPts val="0"/>
              </a:spcBef>
              <a:spcAft>
                <a:spcPts val="0"/>
              </a:spcAft>
            </a:pPr>
            <a:r>
              <a:rPr sz="900" b="0">
                <a:solidFill>
                  <a:srgbClr val="AEBECD"/>
                </a:solidFill>
                <a:latin typeface="Arial"/>
              </a:rPr>
              <a:t>investigates &amp; proposes</a:t>
            </a:r>
          </a:p>
        </p:txBody>
      </p:sp>
      <p:cxnSp>
        <p:nvCxnSpPr>
          <p:cNvPr id="13" name="Connector 12"/>
          <p:cNvCxnSpPr/>
          <p:nvPr/>
        </p:nvCxnSpPr>
        <p:spPr>
          <a:xfrm>
            <a:off x="9273387" y="3840479"/>
            <a:ext cx="0" cy="320041"/>
          </a:xfrm>
          <a:prstGeom prst="line">
            <a:avLst/>
          </a:prstGeom>
          <a:ln w="2032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6922008" y="4206240"/>
            <a:ext cx="4702759" cy="777240"/>
          </a:xfrm>
          <a:prstGeom prst="roundRect">
            <a:avLst>
              <a:gd name="adj" fmla="val 10000"/>
            </a:avLst>
          </a:prstGeom>
          <a:solidFill>
            <a:srgbClr val="FFEBDA"/>
          </a:solidFill>
          <a:ln w="17780">
            <a:solidFill>
              <a:srgbClr val="FF7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995160" y="4242816"/>
            <a:ext cx="4556455" cy="704088"/>
          </a:xfrm>
          <a:prstGeom prst="rect">
            <a:avLst/>
          </a:prstGeom>
          <a:noFill/>
        </p:spPr>
        <p:txBody>
          <a:bodyPr wrap="square" anchor="ctr" lIns="0" rIns="0" tIns="0" bIns="0">
            <a:noAutofit/>
          </a:bodyPr>
          <a:lstStyle/>
          <a:p>
            <a:pPr algn="ctr">
              <a:lnSpc>
                <a:spcPct val="100000"/>
              </a:lnSpc>
              <a:spcBef>
                <a:spcPts val="0"/>
              </a:spcBef>
              <a:spcAft>
                <a:spcPts val="200"/>
              </a:spcAft>
            </a:pPr>
            <a:r>
              <a:rPr sz="1300" b="1">
                <a:solidFill>
                  <a:srgbClr val="1B2733"/>
                </a:solidFill>
                <a:latin typeface="Arial"/>
              </a:rPr>
              <a:t>Human approval</a:t>
            </a:r>
          </a:p>
          <a:p>
            <a:pPr algn="ctr">
              <a:lnSpc>
                <a:spcPct val="102000"/>
              </a:lnSpc>
              <a:spcBef>
                <a:spcPts val="0"/>
              </a:spcBef>
              <a:spcAft>
                <a:spcPts val="0"/>
              </a:spcAft>
            </a:pPr>
            <a:r>
              <a:rPr sz="900" b="0">
                <a:solidFill>
                  <a:srgbClr val="6B7885"/>
                </a:solidFill>
                <a:latin typeface="Arial"/>
              </a:rPr>
              <a:t>mandatory gate</a:t>
            </a:r>
          </a:p>
        </p:txBody>
      </p:sp>
      <p:cxnSp>
        <p:nvCxnSpPr>
          <p:cNvPr id="16" name="Connector 15"/>
          <p:cNvCxnSpPr/>
          <p:nvPr/>
        </p:nvCxnSpPr>
        <p:spPr>
          <a:xfrm>
            <a:off x="9273387" y="4983479"/>
            <a:ext cx="0" cy="320041"/>
          </a:xfrm>
          <a:prstGeom prst="line">
            <a:avLst/>
          </a:prstGeom>
          <a:ln w="20320">
            <a:solidFill>
              <a:srgbClr val="2E9E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6922008" y="5349240"/>
            <a:ext cx="4702759" cy="685800"/>
          </a:xfrm>
          <a:prstGeom prst="roundRect">
            <a:avLst>
              <a:gd name="adj" fmla="val 10000"/>
            </a:avLst>
          </a:prstGeom>
          <a:solidFill>
            <a:srgbClr val="E4F4EB"/>
          </a:solidFill>
          <a:ln w="17780">
            <a:solidFill>
              <a:srgbClr val="2E9E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995160" y="5385816"/>
            <a:ext cx="4556455" cy="612648"/>
          </a:xfrm>
          <a:prstGeom prst="rect">
            <a:avLst/>
          </a:prstGeom>
          <a:noFill/>
        </p:spPr>
        <p:txBody>
          <a:bodyPr wrap="square" anchor="ctr" lIns="0" rIns="0" tIns="0" bIns="0">
            <a:noAutofit/>
          </a:bodyPr>
          <a:lstStyle/>
          <a:p>
            <a:pPr algn="ctr">
              <a:lnSpc>
                <a:spcPct val="100000"/>
              </a:lnSpc>
              <a:spcBef>
                <a:spcPts val="0"/>
              </a:spcBef>
              <a:spcAft>
                <a:spcPts val="200"/>
              </a:spcAft>
            </a:pPr>
            <a:r>
              <a:rPr sz="1250" b="1">
                <a:solidFill>
                  <a:srgbClr val="1B2733"/>
                </a:solidFill>
                <a:latin typeface="Arial"/>
              </a:rPr>
              <a:t>Fix executes</a:t>
            </a:r>
          </a:p>
          <a:p>
            <a:pPr algn="ctr">
              <a:lnSpc>
                <a:spcPct val="102000"/>
              </a:lnSpc>
              <a:spcBef>
                <a:spcPts val="0"/>
              </a:spcBef>
              <a:spcAft>
                <a:spcPts val="0"/>
              </a:spcAft>
            </a:pPr>
            <a:r>
              <a:rPr sz="900" b="0">
                <a:solidFill>
                  <a:srgbClr val="6B7885"/>
                </a:solidFill>
                <a:latin typeface="Arial"/>
              </a:rPr>
              <a:t>recovery + record</a:t>
            </a:r>
          </a:p>
        </p:txBody>
      </p:sp>
      <p:sp>
        <p:nvSpPr>
          <p:cNvPr id="19" name="TextBox 18"/>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Executive Overview</a:t>
            </a:r>
          </a:p>
        </p:txBody>
      </p:sp>
      <p:sp>
        <p:nvSpPr>
          <p:cNvPr id="20" name="TextBox 19"/>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04  /  15</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HOW IT WORKS</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The workflow cycle</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783080"/>
            <a:ext cx="3515258" cy="1783080"/>
          </a:xfrm>
          <a:prstGeom prst="roundRect">
            <a:avLst>
              <a:gd name="adj" fmla="val 4500"/>
            </a:avLst>
          </a:prstGeom>
          <a:solidFill>
            <a:srgbClr val="FFFFFF"/>
          </a:solidFill>
          <a:ln w="1778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13232" y="1929384"/>
            <a:ext cx="420624" cy="420624"/>
          </a:xfrm>
          <a:prstGeom prst="ellipse">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 y="1929384"/>
            <a:ext cx="420624" cy="420624"/>
          </a:xfrm>
          <a:prstGeom prst="rect">
            <a:avLst/>
          </a:prstGeom>
          <a:noFill/>
        </p:spPr>
        <p:txBody>
          <a:bodyPr wrap="square" anchor="ctr" lIns="0" rIns="0" tIns="0" bIns="0">
            <a:noAutofit/>
          </a:bodyPr>
          <a:lstStyle/>
          <a:p>
            <a:pPr algn="ctr">
              <a:lnSpc>
                <a:spcPct val="100000"/>
              </a:lnSpc>
              <a:spcBef>
                <a:spcPts val="0"/>
              </a:spcBef>
              <a:spcAft>
                <a:spcPts val="600"/>
              </a:spcAft>
            </a:pPr>
            <a:r>
              <a:rPr sz="1700" b="1">
                <a:solidFill>
                  <a:srgbClr val="FFFFFF"/>
                </a:solidFill>
                <a:latin typeface="Arial"/>
              </a:rPr>
              <a:t>1</a:t>
            </a:r>
          </a:p>
        </p:txBody>
      </p:sp>
      <p:sp>
        <p:nvSpPr>
          <p:cNvPr id="10" name="TextBox 9"/>
          <p:cNvSpPr txBox="1"/>
          <p:nvPr/>
        </p:nvSpPr>
        <p:spPr>
          <a:xfrm>
            <a:off x="731520" y="2441448"/>
            <a:ext cx="3186074" cy="1005840"/>
          </a:xfrm>
          <a:prstGeom prst="rect">
            <a:avLst/>
          </a:prstGeom>
          <a:noFill/>
        </p:spPr>
        <p:txBody>
          <a:bodyPr wrap="square" anchor="t" lIns="0" rIns="0" tIns="0" bIns="0">
            <a:noAutofit/>
          </a:bodyPr>
          <a:lstStyle/>
          <a:p>
            <a:pPr algn="l">
              <a:lnSpc>
                <a:spcPct val="100000"/>
              </a:lnSpc>
              <a:spcBef>
                <a:spcPts val="0"/>
              </a:spcBef>
              <a:spcAft>
                <a:spcPts val="400"/>
              </a:spcAft>
            </a:pPr>
            <a:r>
              <a:rPr sz="1400" b="1">
                <a:solidFill>
                  <a:srgbClr val="1B2733"/>
                </a:solidFill>
                <a:latin typeface="Arial"/>
              </a:rPr>
              <a:t>Detect</a:t>
            </a:r>
          </a:p>
          <a:p>
            <a:pPr algn="l">
              <a:lnSpc>
                <a:spcPct val="114000"/>
              </a:lnSpc>
              <a:spcBef>
                <a:spcPts val="0"/>
              </a:spcBef>
              <a:spcAft>
                <a:spcPts val="600"/>
              </a:spcAft>
            </a:pPr>
            <a:r>
              <a:rPr sz="1050" b="0">
                <a:solidFill>
                  <a:srgbClr val="3E4C59"/>
                </a:solidFill>
                <a:latin typeface="Arial"/>
              </a:rPr>
              <a:t>An alert fires — an anomaly in monitoring, or an incoming alert.</a:t>
            </a:r>
          </a:p>
        </p:txBody>
      </p:sp>
      <p:sp>
        <p:nvSpPr>
          <p:cNvPr id="11" name="Rounded Rectangle 10"/>
          <p:cNvSpPr/>
          <p:nvPr/>
        </p:nvSpPr>
        <p:spPr>
          <a:xfrm>
            <a:off x="4338218" y="1783080"/>
            <a:ext cx="3515258" cy="1783080"/>
          </a:xfrm>
          <a:prstGeom prst="roundRect">
            <a:avLst>
              <a:gd name="adj" fmla="val 4500"/>
            </a:avLst>
          </a:prstGeom>
          <a:solidFill>
            <a:srgbClr val="FFFFFF"/>
          </a:solidFill>
          <a:ln w="1778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4484522" y="1929384"/>
            <a:ext cx="420624" cy="420624"/>
          </a:xfrm>
          <a:prstGeom prst="ellipse">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484522" y="1929384"/>
            <a:ext cx="420624" cy="420624"/>
          </a:xfrm>
          <a:prstGeom prst="rect">
            <a:avLst/>
          </a:prstGeom>
          <a:noFill/>
        </p:spPr>
        <p:txBody>
          <a:bodyPr wrap="square" anchor="ctr" lIns="0" rIns="0" tIns="0" bIns="0">
            <a:noAutofit/>
          </a:bodyPr>
          <a:lstStyle/>
          <a:p>
            <a:pPr algn="ctr">
              <a:lnSpc>
                <a:spcPct val="100000"/>
              </a:lnSpc>
              <a:spcBef>
                <a:spcPts val="0"/>
              </a:spcBef>
              <a:spcAft>
                <a:spcPts val="600"/>
              </a:spcAft>
            </a:pPr>
            <a:r>
              <a:rPr sz="1700" b="1">
                <a:solidFill>
                  <a:srgbClr val="FFFFFF"/>
                </a:solidFill>
                <a:latin typeface="Arial"/>
              </a:rPr>
              <a:t>2</a:t>
            </a:r>
          </a:p>
        </p:txBody>
      </p:sp>
      <p:sp>
        <p:nvSpPr>
          <p:cNvPr id="14" name="TextBox 13"/>
          <p:cNvSpPr txBox="1"/>
          <p:nvPr/>
        </p:nvSpPr>
        <p:spPr>
          <a:xfrm>
            <a:off x="4502810" y="2441448"/>
            <a:ext cx="3186074" cy="1005840"/>
          </a:xfrm>
          <a:prstGeom prst="rect">
            <a:avLst/>
          </a:prstGeom>
          <a:noFill/>
        </p:spPr>
        <p:txBody>
          <a:bodyPr wrap="square" anchor="t" lIns="0" rIns="0" tIns="0" bIns="0">
            <a:noAutofit/>
          </a:bodyPr>
          <a:lstStyle/>
          <a:p>
            <a:pPr algn="l">
              <a:lnSpc>
                <a:spcPct val="100000"/>
              </a:lnSpc>
              <a:spcBef>
                <a:spcPts val="0"/>
              </a:spcBef>
              <a:spcAft>
                <a:spcPts val="400"/>
              </a:spcAft>
            </a:pPr>
            <a:r>
              <a:rPr sz="1400" b="1">
                <a:solidFill>
                  <a:srgbClr val="1B2733"/>
                </a:solidFill>
                <a:latin typeface="Arial"/>
              </a:rPr>
              <a:t>Investigate</a:t>
            </a:r>
          </a:p>
          <a:p>
            <a:pPr algn="l">
              <a:lnSpc>
                <a:spcPct val="114000"/>
              </a:lnSpc>
              <a:spcBef>
                <a:spcPts val="0"/>
              </a:spcBef>
              <a:spcAft>
                <a:spcPts val="600"/>
              </a:spcAft>
            </a:pPr>
            <a:r>
              <a:rPr sz="1050" b="0">
                <a:solidFill>
                  <a:srgbClr val="3E4C59"/>
                </a:solidFill>
                <a:latin typeface="Arial"/>
              </a:rPr>
              <a:t>The agent pulls evidence from both platforms and links it by a shared identifier.</a:t>
            </a:r>
          </a:p>
        </p:txBody>
      </p:sp>
      <p:sp>
        <p:nvSpPr>
          <p:cNvPr id="15" name="Rounded Rectangle 14"/>
          <p:cNvSpPr/>
          <p:nvPr/>
        </p:nvSpPr>
        <p:spPr>
          <a:xfrm>
            <a:off x="8109508" y="1783080"/>
            <a:ext cx="3515258" cy="1783080"/>
          </a:xfrm>
          <a:prstGeom prst="roundRect">
            <a:avLst>
              <a:gd name="adj" fmla="val 4500"/>
            </a:avLst>
          </a:prstGeom>
          <a:solidFill>
            <a:srgbClr val="FFFFFF"/>
          </a:solidFill>
          <a:ln w="1778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255812" y="1929384"/>
            <a:ext cx="420624" cy="420624"/>
          </a:xfrm>
          <a:prstGeom prst="ellipse">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255812" y="1929384"/>
            <a:ext cx="420624" cy="420624"/>
          </a:xfrm>
          <a:prstGeom prst="rect">
            <a:avLst/>
          </a:prstGeom>
          <a:noFill/>
        </p:spPr>
        <p:txBody>
          <a:bodyPr wrap="square" anchor="ctr" lIns="0" rIns="0" tIns="0" bIns="0">
            <a:noAutofit/>
          </a:bodyPr>
          <a:lstStyle/>
          <a:p>
            <a:pPr algn="ctr">
              <a:lnSpc>
                <a:spcPct val="100000"/>
              </a:lnSpc>
              <a:spcBef>
                <a:spcPts val="0"/>
              </a:spcBef>
              <a:spcAft>
                <a:spcPts val="600"/>
              </a:spcAft>
            </a:pPr>
            <a:r>
              <a:rPr sz="1700" b="1">
                <a:solidFill>
                  <a:srgbClr val="FFFFFF"/>
                </a:solidFill>
                <a:latin typeface="Arial"/>
              </a:rPr>
              <a:t>3</a:t>
            </a:r>
          </a:p>
        </p:txBody>
      </p:sp>
      <p:sp>
        <p:nvSpPr>
          <p:cNvPr id="18" name="TextBox 17"/>
          <p:cNvSpPr txBox="1"/>
          <p:nvPr/>
        </p:nvSpPr>
        <p:spPr>
          <a:xfrm>
            <a:off x="8274100" y="2441448"/>
            <a:ext cx="3186074" cy="1005840"/>
          </a:xfrm>
          <a:prstGeom prst="rect">
            <a:avLst/>
          </a:prstGeom>
          <a:noFill/>
        </p:spPr>
        <p:txBody>
          <a:bodyPr wrap="square" anchor="t" lIns="0" rIns="0" tIns="0" bIns="0">
            <a:noAutofit/>
          </a:bodyPr>
          <a:lstStyle/>
          <a:p>
            <a:pPr algn="l">
              <a:lnSpc>
                <a:spcPct val="100000"/>
              </a:lnSpc>
              <a:spcBef>
                <a:spcPts val="0"/>
              </a:spcBef>
              <a:spcAft>
                <a:spcPts val="400"/>
              </a:spcAft>
            </a:pPr>
            <a:r>
              <a:rPr sz="1400" b="1">
                <a:solidFill>
                  <a:srgbClr val="1B2733"/>
                </a:solidFill>
                <a:latin typeface="Arial"/>
              </a:rPr>
              <a:t>Diagnose</a:t>
            </a:r>
          </a:p>
          <a:p>
            <a:pPr algn="l">
              <a:lnSpc>
                <a:spcPct val="114000"/>
              </a:lnSpc>
              <a:spcBef>
                <a:spcPts val="0"/>
              </a:spcBef>
              <a:spcAft>
                <a:spcPts val="600"/>
              </a:spcAft>
            </a:pPr>
            <a:r>
              <a:rPr sz="1050" b="0">
                <a:solidFill>
                  <a:srgbClr val="3E4C59"/>
                </a:solidFill>
                <a:latin typeface="Arial"/>
              </a:rPr>
              <a:t>Root cause is identified, and the agent assesses what else is affected.</a:t>
            </a:r>
          </a:p>
        </p:txBody>
      </p:sp>
      <p:sp>
        <p:nvSpPr>
          <p:cNvPr id="19" name="Rounded Rectangle 18"/>
          <p:cNvSpPr/>
          <p:nvPr/>
        </p:nvSpPr>
        <p:spPr>
          <a:xfrm>
            <a:off x="566928" y="3822191"/>
            <a:ext cx="3515258" cy="1783080"/>
          </a:xfrm>
          <a:prstGeom prst="roundRect">
            <a:avLst>
              <a:gd name="adj" fmla="val 4500"/>
            </a:avLst>
          </a:prstGeom>
          <a:solidFill>
            <a:srgbClr val="FFFFFF"/>
          </a:solidFill>
          <a:ln w="1778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13232" y="3968496"/>
            <a:ext cx="420624" cy="420624"/>
          </a:xfrm>
          <a:prstGeom prst="ellipse">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13232" y="3968496"/>
            <a:ext cx="420624" cy="420624"/>
          </a:xfrm>
          <a:prstGeom prst="rect">
            <a:avLst/>
          </a:prstGeom>
          <a:noFill/>
        </p:spPr>
        <p:txBody>
          <a:bodyPr wrap="square" anchor="ctr" lIns="0" rIns="0" tIns="0" bIns="0">
            <a:noAutofit/>
          </a:bodyPr>
          <a:lstStyle/>
          <a:p>
            <a:pPr algn="ctr">
              <a:lnSpc>
                <a:spcPct val="100000"/>
              </a:lnSpc>
              <a:spcBef>
                <a:spcPts val="0"/>
              </a:spcBef>
              <a:spcAft>
                <a:spcPts val="600"/>
              </a:spcAft>
            </a:pPr>
            <a:r>
              <a:rPr sz="1700" b="1">
                <a:solidFill>
                  <a:srgbClr val="FFFFFF"/>
                </a:solidFill>
                <a:latin typeface="Arial"/>
              </a:rPr>
              <a:t>4</a:t>
            </a:r>
          </a:p>
        </p:txBody>
      </p:sp>
      <p:sp>
        <p:nvSpPr>
          <p:cNvPr id="22" name="TextBox 21"/>
          <p:cNvSpPr txBox="1"/>
          <p:nvPr/>
        </p:nvSpPr>
        <p:spPr>
          <a:xfrm>
            <a:off x="731520" y="4480559"/>
            <a:ext cx="3186074" cy="1005840"/>
          </a:xfrm>
          <a:prstGeom prst="rect">
            <a:avLst/>
          </a:prstGeom>
          <a:noFill/>
        </p:spPr>
        <p:txBody>
          <a:bodyPr wrap="square" anchor="t" lIns="0" rIns="0" tIns="0" bIns="0">
            <a:noAutofit/>
          </a:bodyPr>
          <a:lstStyle/>
          <a:p>
            <a:pPr algn="l">
              <a:lnSpc>
                <a:spcPct val="100000"/>
              </a:lnSpc>
              <a:spcBef>
                <a:spcPts val="0"/>
              </a:spcBef>
              <a:spcAft>
                <a:spcPts val="400"/>
              </a:spcAft>
            </a:pPr>
            <a:r>
              <a:rPr sz="1400" b="1">
                <a:solidFill>
                  <a:srgbClr val="1B2733"/>
                </a:solidFill>
                <a:latin typeface="Arial"/>
              </a:rPr>
              <a:t>Suggest a runbook</a:t>
            </a:r>
          </a:p>
          <a:p>
            <a:pPr algn="l">
              <a:lnSpc>
                <a:spcPct val="114000"/>
              </a:lnSpc>
              <a:spcBef>
                <a:spcPts val="0"/>
              </a:spcBef>
              <a:spcAft>
                <a:spcPts val="600"/>
              </a:spcAft>
            </a:pPr>
            <a:r>
              <a:rPr sz="1050" b="0">
                <a:solidFill>
                  <a:srgbClr val="3E4C59"/>
                </a:solidFill>
                <a:latin typeface="Arial"/>
              </a:rPr>
              <a:t>The agent proposes ONE specific, named fix — never vague advice.</a:t>
            </a:r>
          </a:p>
        </p:txBody>
      </p:sp>
      <p:sp>
        <p:nvSpPr>
          <p:cNvPr id="23" name="Rounded Rectangle 22"/>
          <p:cNvSpPr/>
          <p:nvPr/>
        </p:nvSpPr>
        <p:spPr>
          <a:xfrm>
            <a:off x="4338218" y="3822191"/>
            <a:ext cx="3515258" cy="1783080"/>
          </a:xfrm>
          <a:prstGeom prst="roundRect">
            <a:avLst>
              <a:gd name="adj" fmla="val 4500"/>
            </a:avLst>
          </a:prstGeom>
          <a:solidFill>
            <a:srgbClr val="FFEBDA"/>
          </a:solidFill>
          <a:ln w="17780">
            <a:solidFill>
              <a:srgbClr val="FF7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4484522" y="3968496"/>
            <a:ext cx="420624" cy="420624"/>
          </a:xfrm>
          <a:prstGeom prst="ellipse">
            <a:avLst/>
          </a:prstGeom>
          <a:solidFill>
            <a:srgbClr val="C85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484522" y="3968496"/>
            <a:ext cx="420624" cy="420624"/>
          </a:xfrm>
          <a:prstGeom prst="rect">
            <a:avLst/>
          </a:prstGeom>
          <a:noFill/>
        </p:spPr>
        <p:txBody>
          <a:bodyPr wrap="square" anchor="ctr" lIns="0" rIns="0" tIns="0" bIns="0">
            <a:noAutofit/>
          </a:bodyPr>
          <a:lstStyle/>
          <a:p>
            <a:pPr algn="ctr">
              <a:lnSpc>
                <a:spcPct val="100000"/>
              </a:lnSpc>
              <a:spcBef>
                <a:spcPts val="0"/>
              </a:spcBef>
              <a:spcAft>
                <a:spcPts val="600"/>
              </a:spcAft>
            </a:pPr>
            <a:r>
              <a:rPr sz="1700" b="1">
                <a:solidFill>
                  <a:srgbClr val="FFFFFF"/>
                </a:solidFill>
                <a:latin typeface="Arial"/>
              </a:rPr>
              <a:t>5</a:t>
            </a:r>
          </a:p>
        </p:txBody>
      </p:sp>
      <p:sp>
        <p:nvSpPr>
          <p:cNvPr id="26" name="TextBox 25"/>
          <p:cNvSpPr txBox="1"/>
          <p:nvPr/>
        </p:nvSpPr>
        <p:spPr>
          <a:xfrm>
            <a:off x="4502810" y="4480559"/>
            <a:ext cx="3186074" cy="1005840"/>
          </a:xfrm>
          <a:prstGeom prst="rect">
            <a:avLst/>
          </a:prstGeom>
          <a:noFill/>
        </p:spPr>
        <p:txBody>
          <a:bodyPr wrap="square" anchor="t" lIns="0" rIns="0" tIns="0" bIns="0">
            <a:noAutofit/>
          </a:bodyPr>
          <a:lstStyle/>
          <a:p>
            <a:pPr algn="l">
              <a:lnSpc>
                <a:spcPct val="100000"/>
              </a:lnSpc>
              <a:spcBef>
                <a:spcPts val="0"/>
              </a:spcBef>
              <a:spcAft>
                <a:spcPts val="400"/>
              </a:spcAft>
            </a:pPr>
            <a:r>
              <a:rPr sz="1400" b="1">
                <a:solidFill>
                  <a:srgbClr val="C85A00"/>
                </a:solidFill>
                <a:latin typeface="Arial"/>
              </a:rPr>
              <a:t>Approve</a:t>
            </a:r>
          </a:p>
          <a:p>
            <a:pPr algn="l">
              <a:lnSpc>
                <a:spcPct val="114000"/>
              </a:lnSpc>
              <a:spcBef>
                <a:spcPts val="0"/>
              </a:spcBef>
              <a:spcAft>
                <a:spcPts val="600"/>
              </a:spcAft>
            </a:pPr>
            <a:r>
              <a:rPr sz="1050" b="0">
                <a:solidFill>
                  <a:srgbClr val="3E4C59"/>
                </a:solidFill>
                <a:latin typeface="Arial"/>
              </a:rPr>
              <a:t>A human reviews the evidence and the proposed fix, then explicitly approves.</a:t>
            </a:r>
          </a:p>
        </p:txBody>
      </p:sp>
      <p:sp>
        <p:nvSpPr>
          <p:cNvPr id="27" name="Rounded Rectangle 26"/>
          <p:cNvSpPr/>
          <p:nvPr/>
        </p:nvSpPr>
        <p:spPr>
          <a:xfrm>
            <a:off x="8109508" y="3822191"/>
            <a:ext cx="3515258" cy="1783080"/>
          </a:xfrm>
          <a:prstGeom prst="roundRect">
            <a:avLst>
              <a:gd name="adj" fmla="val 4500"/>
            </a:avLst>
          </a:prstGeom>
          <a:solidFill>
            <a:srgbClr val="FFFFFF"/>
          </a:solidFill>
          <a:ln w="1778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8255812" y="3968496"/>
            <a:ext cx="420624" cy="420624"/>
          </a:xfrm>
          <a:prstGeom prst="ellipse">
            <a:avLst/>
          </a:prstGeom>
          <a:solidFill>
            <a:srgbClr val="1B27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55812" y="3968496"/>
            <a:ext cx="420624" cy="420624"/>
          </a:xfrm>
          <a:prstGeom prst="rect">
            <a:avLst/>
          </a:prstGeom>
          <a:noFill/>
        </p:spPr>
        <p:txBody>
          <a:bodyPr wrap="square" anchor="ctr" lIns="0" rIns="0" tIns="0" bIns="0">
            <a:noAutofit/>
          </a:bodyPr>
          <a:lstStyle/>
          <a:p>
            <a:pPr algn="ctr">
              <a:lnSpc>
                <a:spcPct val="100000"/>
              </a:lnSpc>
              <a:spcBef>
                <a:spcPts val="0"/>
              </a:spcBef>
              <a:spcAft>
                <a:spcPts val="600"/>
              </a:spcAft>
            </a:pPr>
            <a:r>
              <a:rPr sz="1700" b="1">
                <a:solidFill>
                  <a:srgbClr val="FFFFFF"/>
                </a:solidFill>
                <a:latin typeface="Arial"/>
              </a:rPr>
              <a:t>6</a:t>
            </a:r>
          </a:p>
        </p:txBody>
      </p:sp>
      <p:sp>
        <p:nvSpPr>
          <p:cNvPr id="30" name="TextBox 29"/>
          <p:cNvSpPr txBox="1"/>
          <p:nvPr/>
        </p:nvSpPr>
        <p:spPr>
          <a:xfrm>
            <a:off x="8274100" y="4480559"/>
            <a:ext cx="3186074" cy="1005840"/>
          </a:xfrm>
          <a:prstGeom prst="rect">
            <a:avLst/>
          </a:prstGeom>
          <a:noFill/>
        </p:spPr>
        <p:txBody>
          <a:bodyPr wrap="square" anchor="t" lIns="0" rIns="0" tIns="0" bIns="0">
            <a:noAutofit/>
          </a:bodyPr>
          <a:lstStyle/>
          <a:p>
            <a:pPr algn="l">
              <a:lnSpc>
                <a:spcPct val="100000"/>
              </a:lnSpc>
              <a:spcBef>
                <a:spcPts val="0"/>
              </a:spcBef>
              <a:spcAft>
                <a:spcPts val="400"/>
              </a:spcAft>
            </a:pPr>
            <a:r>
              <a:rPr sz="1400" b="1">
                <a:solidFill>
                  <a:srgbClr val="1B2733"/>
                </a:solidFill>
                <a:latin typeface="Arial"/>
              </a:rPr>
              <a:t>Remediate &amp; recover</a:t>
            </a:r>
          </a:p>
          <a:p>
            <a:pPr algn="l">
              <a:lnSpc>
                <a:spcPct val="114000"/>
              </a:lnSpc>
              <a:spcBef>
                <a:spcPts val="0"/>
              </a:spcBef>
              <a:spcAft>
                <a:spcPts val="600"/>
              </a:spcAft>
            </a:pPr>
            <a:r>
              <a:rPr sz="1050" b="0">
                <a:solidFill>
                  <a:srgbClr val="3E4C59"/>
                </a:solidFill>
                <a:latin typeface="Arial"/>
              </a:rPr>
              <a:t>The fix runs, systems recover, and a record is generated automatically.</a:t>
            </a:r>
          </a:p>
        </p:txBody>
      </p:sp>
      <p:cxnSp>
        <p:nvCxnSpPr>
          <p:cNvPr id="31" name="Connector 30"/>
          <p:cNvCxnSpPr/>
          <p:nvPr/>
        </p:nvCxnSpPr>
        <p:spPr>
          <a:xfrm>
            <a:off x="4082186" y="2674620"/>
            <a:ext cx="256032" cy="0"/>
          </a:xfrm>
          <a:prstGeom prst="line">
            <a:avLst/>
          </a:prstGeom>
          <a:ln w="2032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853476" y="2674620"/>
            <a:ext cx="256032" cy="0"/>
          </a:xfrm>
          <a:prstGeom prst="line">
            <a:avLst/>
          </a:prstGeom>
          <a:ln w="2032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4082186" y="4713731"/>
            <a:ext cx="256032" cy="0"/>
          </a:xfrm>
          <a:prstGeom prst="line">
            <a:avLst/>
          </a:prstGeom>
          <a:ln w="2032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7853476" y="4713731"/>
            <a:ext cx="256032" cy="0"/>
          </a:xfrm>
          <a:prstGeom prst="line">
            <a:avLst/>
          </a:prstGeom>
          <a:ln w="20320">
            <a:solidFill>
              <a:srgbClr val="9AA5B1"/>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Executive Overview</a:t>
            </a:r>
          </a:p>
        </p:txBody>
      </p:sp>
      <p:sp>
        <p:nvSpPr>
          <p:cNvPr id="36" name="TextBox 35"/>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05  /  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66928" y="1371600"/>
            <a:ext cx="11057839" cy="457200"/>
          </a:xfrm>
          <a:prstGeom prst="rect">
            <a:avLst/>
          </a:prstGeom>
          <a:noFill/>
        </p:spPr>
        <p:txBody>
          <a:bodyPr wrap="square" anchor="t" lIns="0" rIns="0" tIns="0" bIns="0">
            <a:noAutofit/>
          </a:bodyPr>
          <a:lstStyle/>
          <a:p>
            <a:pPr algn="l">
              <a:lnSpc>
                <a:spcPct val="100000"/>
              </a:lnSpc>
              <a:spcBef>
                <a:spcPts val="0"/>
              </a:spcBef>
              <a:spcAft>
                <a:spcPts val="600"/>
              </a:spcAft>
            </a:pPr>
            <a:r>
              <a:rPr sz="1300" b="1">
                <a:solidFill>
                  <a:srgbClr val="FF7300"/>
                </a:solidFill>
                <a:latin typeface="Arial"/>
              </a:rPr>
              <a:t>TWO WAYS WE BUILT IT</a:t>
            </a:r>
          </a:p>
        </p:txBody>
      </p:sp>
      <p:sp>
        <p:nvSpPr>
          <p:cNvPr id="4" name="TextBox 3"/>
          <p:cNvSpPr txBox="1"/>
          <p:nvPr/>
        </p:nvSpPr>
        <p:spPr>
          <a:xfrm>
            <a:off x="566928" y="1783080"/>
            <a:ext cx="11057839" cy="914400"/>
          </a:xfrm>
          <a:prstGeom prst="rect">
            <a:avLst/>
          </a:prstGeom>
          <a:noFill/>
        </p:spPr>
        <p:txBody>
          <a:bodyPr wrap="square" anchor="t" lIns="0" rIns="0" tIns="0" bIns="0">
            <a:noAutofit/>
          </a:bodyPr>
          <a:lstStyle/>
          <a:p>
            <a:pPr algn="l">
              <a:lnSpc>
                <a:spcPct val="100000"/>
              </a:lnSpc>
              <a:spcBef>
                <a:spcPts val="0"/>
              </a:spcBef>
              <a:spcAft>
                <a:spcPts val="600"/>
              </a:spcAft>
            </a:pPr>
            <a:r>
              <a:rPr sz="3400" b="1">
                <a:solidFill>
                  <a:srgbClr val="FFFFFF"/>
                </a:solidFill>
                <a:latin typeface="Arial"/>
              </a:rPr>
              <a:t>We built it twice, to compare</a:t>
            </a:r>
          </a:p>
        </p:txBody>
      </p:sp>
      <p:sp>
        <p:nvSpPr>
          <p:cNvPr id="5" name="TextBox 4"/>
          <p:cNvSpPr txBox="1"/>
          <p:nvPr/>
        </p:nvSpPr>
        <p:spPr>
          <a:xfrm>
            <a:off x="566928" y="2606040"/>
            <a:ext cx="10241280" cy="822960"/>
          </a:xfrm>
          <a:prstGeom prst="rect">
            <a:avLst/>
          </a:prstGeom>
          <a:noFill/>
        </p:spPr>
        <p:txBody>
          <a:bodyPr wrap="square" anchor="t" lIns="0" rIns="0" tIns="0" bIns="0">
            <a:noAutofit/>
          </a:bodyPr>
          <a:lstStyle/>
          <a:p>
            <a:pPr algn="l">
              <a:lnSpc>
                <a:spcPct val="125000"/>
              </a:lnSpc>
              <a:spcBef>
                <a:spcPts val="0"/>
              </a:spcBef>
              <a:spcAft>
                <a:spcPts val="600"/>
              </a:spcAft>
            </a:pPr>
            <a:r>
              <a:rPr sz="1500" b="0">
                <a:solidFill>
                  <a:srgbClr val="AEBECD"/>
                </a:solidFill>
                <a:latin typeface="Arial"/>
              </a:rPr>
              <a:t>Same capability, same test scenario — two different engineering approaches, so we could evaluate real trade-offs instead of guessing.</a:t>
            </a:r>
          </a:p>
        </p:txBody>
      </p:sp>
      <p:sp>
        <p:nvSpPr>
          <p:cNvPr id="6" name="Rounded Rectangle 5"/>
          <p:cNvSpPr/>
          <p:nvPr/>
        </p:nvSpPr>
        <p:spPr>
          <a:xfrm>
            <a:off x="566928" y="3657600"/>
            <a:ext cx="5300319" cy="2194560"/>
          </a:xfrm>
          <a:prstGeom prst="roundRect">
            <a:avLst>
              <a:gd name="adj" fmla="val 4500"/>
            </a:avLst>
          </a:prstGeom>
          <a:solidFill>
            <a:srgbClr val="10333B"/>
          </a:solidFill>
          <a:ln w="17780">
            <a:solidFill>
              <a:srgbClr val="0E8F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95528" y="3858768"/>
            <a:ext cx="1554480" cy="274320"/>
          </a:xfrm>
          <a:prstGeom prst="roundRect">
            <a:avLst>
              <a:gd name="adj" fmla="val 50000"/>
            </a:avLst>
          </a:prstGeom>
          <a:solidFill>
            <a:srgbClr val="0A283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95528" y="3858768"/>
            <a:ext cx="1554480" cy="274320"/>
          </a:xfrm>
          <a:prstGeom prst="rect">
            <a:avLst/>
          </a:prstGeom>
          <a:noFill/>
        </p:spPr>
        <p:txBody>
          <a:bodyPr wrap="square" anchor="ctr" lIns="0" rIns="0" tIns="0" bIns="0">
            <a:noAutofit/>
          </a:bodyPr>
          <a:lstStyle/>
          <a:p>
            <a:pPr algn="ctr">
              <a:lnSpc>
                <a:spcPct val="100000"/>
              </a:lnSpc>
              <a:spcBef>
                <a:spcPts val="0"/>
              </a:spcBef>
              <a:spcAft>
                <a:spcPts val="600"/>
              </a:spcAft>
            </a:pPr>
            <a:r>
              <a:rPr sz="1000" b="1">
                <a:solidFill>
                  <a:srgbClr val="0E8FA8"/>
                </a:solidFill>
                <a:latin typeface="Arial"/>
              </a:rPr>
              <a:t>SOLUTION 1</a:t>
            </a:r>
          </a:p>
        </p:txBody>
      </p:sp>
      <p:sp>
        <p:nvSpPr>
          <p:cNvPr id="9" name="TextBox 8"/>
          <p:cNvSpPr txBox="1"/>
          <p:nvPr/>
        </p:nvSpPr>
        <p:spPr>
          <a:xfrm>
            <a:off x="795528" y="4279392"/>
            <a:ext cx="4843119" cy="1417319"/>
          </a:xfrm>
          <a:prstGeom prst="rect">
            <a:avLst/>
          </a:prstGeom>
          <a:noFill/>
        </p:spPr>
        <p:txBody>
          <a:bodyPr wrap="square" anchor="t" lIns="0" rIns="0" tIns="0" bIns="0">
            <a:noAutofit/>
          </a:bodyPr>
          <a:lstStyle/>
          <a:p>
            <a:pPr algn="l">
              <a:lnSpc>
                <a:spcPct val="100000"/>
              </a:lnSpc>
              <a:spcBef>
                <a:spcPts val="0"/>
              </a:spcBef>
              <a:spcAft>
                <a:spcPts val="600"/>
              </a:spcAft>
            </a:pPr>
            <a:r>
              <a:rPr sz="1800" b="1">
                <a:solidFill>
                  <a:srgbClr val="FFFFFF"/>
                </a:solidFill>
                <a:latin typeface="Arial"/>
              </a:rPr>
              <a:t>Ballerina + MCP Proxy</a:t>
            </a:r>
          </a:p>
          <a:p>
            <a:pPr algn="l">
              <a:lnSpc>
                <a:spcPct val="125000"/>
              </a:lnSpc>
              <a:spcBef>
                <a:spcPts val="0"/>
              </a:spcBef>
              <a:spcAft>
                <a:spcPts val="600"/>
              </a:spcAft>
            </a:pPr>
            <a:r>
              <a:rPr sz="1150" b="0">
                <a:solidFill>
                  <a:srgbClr val="BFE3EA"/>
                </a:solidFill>
                <a:latin typeface="Arial"/>
              </a:rPr>
              <a:t>One agent, one gateway to both platforms. Built to run natively on our WSO2 Agent Manager platform.</a:t>
            </a:r>
          </a:p>
        </p:txBody>
      </p:sp>
      <p:sp>
        <p:nvSpPr>
          <p:cNvPr id="10" name="Rounded Rectangle 9"/>
          <p:cNvSpPr/>
          <p:nvPr/>
        </p:nvSpPr>
        <p:spPr>
          <a:xfrm>
            <a:off x="6324447" y="3657600"/>
            <a:ext cx="5300319" cy="2194560"/>
          </a:xfrm>
          <a:prstGeom prst="roundRect">
            <a:avLst>
              <a:gd name="adj" fmla="val 4500"/>
            </a:avLst>
          </a:prstGeom>
          <a:solidFill>
            <a:srgbClr val="241E52"/>
          </a:solidFill>
          <a:ln w="17780">
            <a:solidFill>
              <a:srgbClr val="6A4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6553047" y="3858768"/>
            <a:ext cx="1554480" cy="274320"/>
          </a:xfrm>
          <a:prstGeom prst="roundRect">
            <a:avLst>
              <a:gd name="adj" fmla="val 50000"/>
            </a:avLst>
          </a:prstGeom>
          <a:solidFill>
            <a:srgbClr val="1B16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53047" y="3858768"/>
            <a:ext cx="1554480" cy="274320"/>
          </a:xfrm>
          <a:prstGeom prst="rect">
            <a:avLst/>
          </a:prstGeom>
          <a:noFill/>
        </p:spPr>
        <p:txBody>
          <a:bodyPr wrap="square" anchor="ctr" lIns="0" rIns="0" tIns="0" bIns="0">
            <a:noAutofit/>
          </a:bodyPr>
          <a:lstStyle/>
          <a:p>
            <a:pPr algn="ctr">
              <a:lnSpc>
                <a:spcPct val="100000"/>
              </a:lnSpc>
              <a:spcBef>
                <a:spcPts val="0"/>
              </a:spcBef>
              <a:spcAft>
                <a:spcPts val="600"/>
              </a:spcAft>
            </a:pPr>
            <a:r>
              <a:rPr sz="1000" b="1">
                <a:solidFill>
                  <a:srgbClr val="B7A9F5"/>
                </a:solidFill>
                <a:latin typeface="Arial"/>
              </a:rPr>
              <a:t>SOLUTION 2</a:t>
            </a:r>
          </a:p>
        </p:txBody>
      </p:sp>
      <p:sp>
        <p:nvSpPr>
          <p:cNvPr id="13" name="TextBox 12"/>
          <p:cNvSpPr txBox="1"/>
          <p:nvPr/>
        </p:nvSpPr>
        <p:spPr>
          <a:xfrm>
            <a:off x="6553047" y="4279392"/>
            <a:ext cx="4843119" cy="1417319"/>
          </a:xfrm>
          <a:prstGeom prst="rect">
            <a:avLst/>
          </a:prstGeom>
          <a:noFill/>
        </p:spPr>
        <p:txBody>
          <a:bodyPr wrap="square" anchor="t" lIns="0" rIns="0" tIns="0" bIns="0">
            <a:noAutofit/>
          </a:bodyPr>
          <a:lstStyle/>
          <a:p>
            <a:pPr algn="l">
              <a:lnSpc>
                <a:spcPct val="100000"/>
              </a:lnSpc>
              <a:spcBef>
                <a:spcPts val="0"/>
              </a:spcBef>
              <a:spcAft>
                <a:spcPts val="600"/>
              </a:spcAft>
            </a:pPr>
            <a:r>
              <a:rPr sz="1800" b="1">
                <a:solidFill>
                  <a:srgbClr val="FFFFFF"/>
                </a:solidFill>
                <a:latin typeface="Arial"/>
              </a:rPr>
              <a:t>LangChain + A2A</a:t>
            </a:r>
          </a:p>
          <a:p>
            <a:pPr algn="l">
              <a:lnSpc>
                <a:spcPct val="125000"/>
              </a:lnSpc>
              <a:spcBef>
                <a:spcPts val="0"/>
              </a:spcBef>
              <a:spcAft>
                <a:spcPts val="600"/>
              </a:spcAft>
            </a:pPr>
            <a:r>
              <a:rPr sz="1150" b="0">
                <a:solidFill>
                  <a:srgbClr val="D6CEFB"/>
                </a:solidFill>
                <a:latin typeface="Arial"/>
              </a:rPr>
              <a:t>Specialist agents divide the work, one per platform. Built in Python — the most widely adopted AI agent ecosystem.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0E8FA8"/>
                </a:solidFill>
                <a:latin typeface="Arial"/>
              </a:rPr>
              <a:t>SOLUTION 1</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Ballerina + MCP Proxy</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874519"/>
            <a:ext cx="5760720" cy="3291840"/>
          </a:xfrm>
          <a:prstGeom prst="rect">
            <a:avLst/>
          </a:prstGeom>
          <a:noFill/>
        </p:spPr>
        <p:txBody>
          <a:bodyPr wrap="square" anchor="t" lIns="0" rIns="0" tIns="0" bIns="0">
            <a:noAutofit/>
          </a:bodyPr>
          <a:lstStyle/>
          <a:p>
            <a:pPr algn="l" marL="256032" indent="-256032">
              <a:lnSpc>
                <a:spcPct val="106000"/>
              </a:lnSpc>
              <a:spcBef>
                <a:spcPts val="0"/>
              </a:spcBef>
              <a:spcAft>
                <a:spcPts val="1300"/>
              </a:spcAft>
              <a:buClr>
                <a:srgbClr val="0E8FA8"/>
              </a:buClr>
              <a:buFont typeface="Arial"/>
              <a:buChar char="▪"/>
            </a:pPr>
            <a:r>
              <a:rPr sz="1300" b="1">
                <a:solidFill>
                  <a:srgbClr val="0A6E82"/>
                </a:solidFill>
                <a:latin typeface="Arial"/>
              </a:rPr>
              <a:t>One agent, one gateway.  </a:t>
            </a:r>
            <a:r>
              <a:rPr sz="1300" b="0">
                <a:solidFill>
                  <a:srgbClr val="1B2733"/>
                </a:solidFill>
                <a:latin typeface="Arial"/>
              </a:rPr>
              <a:t>A single AI agent connects through one gateway that reaches both your logging and monitoring platforms.</a:t>
            </a:r>
          </a:p>
          <a:p>
            <a:pPr algn="l" marL="256032" indent="-256032">
              <a:lnSpc>
                <a:spcPct val="106000"/>
              </a:lnSpc>
              <a:spcBef>
                <a:spcPts val="0"/>
              </a:spcBef>
              <a:spcAft>
                <a:spcPts val="1300"/>
              </a:spcAft>
              <a:buClr>
                <a:srgbClr val="0E8FA8"/>
              </a:buClr>
              <a:buFont typeface="Arial"/>
              <a:buChar char="▪"/>
            </a:pPr>
            <a:r>
              <a:rPr sz="1300" b="1">
                <a:solidFill>
                  <a:srgbClr val="0A6E82"/>
                </a:solidFill>
                <a:latin typeface="Arial"/>
              </a:rPr>
              <a:t>Fewer moving parts.  </a:t>
            </a:r>
            <a:r>
              <a:rPr sz="1300" b="0">
                <a:solidFill>
                  <a:srgbClr val="1B2733"/>
                </a:solidFill>
                <a:latin typeface="Arial"/>
              </a:rPr>
              <a:t>Fewer components to operate, secure, and audit — a simpler system to run day to day.</a:t>
            </a:r>
          </a:p>
          <a:p>
            <a:pPr algn="l" marL="256032" indent="-256032">
              <a:lnSpc>
                <a:spcPct val="106000"/>
              </a:lnSpc>
              <a:spcBef>
                <a:spcPts val="0"/>
              </a:spcBef>
              <a:spcAft>
                <a:spcPts val="1300"/>
              </a:spcAft>
              <a:buClr>
                <a:srgbClr val="0E8FA8"/>
              </a:buClr>
              <a:buFont typeface="Arial"/>
              <a:buChar char="▪"/>
            </a:pPr>
            <a:r>
              <a:rPr sz="1300" b="1">
                <a:solidFill>
                  <a:srgbClr val="0A6E82"/>
                </a:solidFill>
                <a:latin typeface="Arial"/>
              </a:rPr>
              <a:t>Native to our platform.  </a:t>
            </a:r>
            <a:r>
              <a:rPr sz="1300" b="0">
                <a:solidFill>
                  <a:srgbClr val="1B2733"/>
                </a:solidFill>
                <a:latin typeface="Arial"/>
              </a:rPr>
              <a:t>Runs directly on WSO2's own Agent Manager, our platform for governing and observing AI agents.</a:t>
            </a:r>
          </a:p>
          <a:p>
            <a:pPr algn="l" marL="256032" indent="-256032">
              <a:lnSpc>
                <a:spcPct val="106000"/>
              </a:lnSpc>
              <a:spcBef>
                <a:spcPts val="0"/>
              </a:spcBef>
              <a:spcAft>
                <a:spcPts val="1300"/>
              </a:spcAft>
              <a:buClr>
                <a:srgbClr val="0E8FA8"/>
              </a:buClr>
              <a:buFont typeface="Arial"/>
              <a:buChar char="▪"/>
            </a:pPr>
            <a:r>
              <a:rPr sz="1300" b="1">
                <a:solidFill>
                  <a:srgbClr val="0A6E82"/>
                </a:solidFill>
                <a:latin typeface="Arial"/>
              </a:rPr>
              <a:t>One consistent language.  </a:t>
            </a:r>
            <a:r>
              <a:rPr sz="1300" b="0">
                <a:solidFill>
                  <a:srgbClr val="1B2733"/>
                </a:solidFill>
                <a:latin typeface="Arial"/>
              </a:rPr>
              <a:t>The entire stack — agent, gateway, and services — is built in a single language end to end.</a:t>
            </a:r>
          </a:p>
        </p:txBody>
      </p:sp>
      <p:sp>
        <p:nvSpPr>
          <p:cNvPr id="8" name="Rounded Rectangle 7"/>
          <p:cNvSpPr/>
          <p:nvPr/>
        </p:nvSpPr>
        <p:spPr>
          <a:xfrm>
            <a:off x="6784848" y="2011679"/>
            <a:ext cx="4839919" cy="822960"/>
          </a:xfrm>
          <a:prstGeom prst="roundRect">
            <a:avLst>
              <a:gd name="adj" fmla="val 10000"/>
            </a:avLst>
          </a:prstGeom>
          <a:solidFill>
            <a:srgbClr val="1B2733"/>
          </a:solidFill>
          <a:ln w="17780">
            <a:solidFill>
              <a:srgbClr val="1B27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0" y="2048255"/>
            <a:ext cx="4693615" cy="749808"/>
          </a:xfrm>
          <a:prstGeom prst="rect">
            <a:avLst/>
          </a:prstGeom>
          <a:noFill/>
        </p:spPr>
        <p:txBody>
          <a:bodyPr wrap="square" anchor="ctr" lIns="0" rIns="0" tIns="0" bIns="0">
            <a:noAutofit/>
          </a:bodyPr>
          <a:lstStyle/>
          <a:p>
            <a:pPr algn="ctr">
              <a:lnSpc>
                <a:spcPct val="100000"/>
              </a:lnSpc>
              <a:spcBef>
                <a:spcPts val="0"/>
              </a:spcBef>
              <a:spcAft>
                <a:spcPts val="0"/>
              </a:spcAft>
            </a:pPr>
            <a:r>
              <a:rPr sz="1400" b="1">
                <a:solidFill>
                  <a:srgbClr val="FFFFFF"/>
                </a:solidFill>
                <a:latin typeface="Arial"/>
              </a:rPr>
              <a:t>AI Agent</a:t>
            </a:r>
          </a:p>
        </p:txBody>
      </p:sp>
      <p:cxnSp>
        <p:nvCxnSpPr>
          <p:cNvPr id="10" name="Connector 9"/>
          <p:cNvCxnSpPr/>
          <p:nvPr/>
        </p:nvCxnSpPr>
        <p:spPr>
          <a:xfrm>
            <a:off x="9204807" y="2834639"/>
            <a:ext cx="0" cy="365761"/>
          </a:xfrm>
          <a:prstGeom prst="line">
            <a:avLst/>
          </a:prstGeom>
          <a:ln w="25400">
            <a:solidFill>
              <a:srgbClr val="0E8FA8"/>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784848" y="3246120"/>
            <a:ext cx="4839919" cy="822960"/>
          </a:xfrm>
          <a:prstGeom prst="roundRect">
            <a:avLst>
              <a:gd name="adj" fmla="val 10000"/>
            </a:avLst>
          </a:prstGeom>
          <a:solidFill>
            <a:srgbClr val="E0F1F5"/>
          </a:solidFill>
          <a:ln w="17780">
            <a:solidFill>
              <a:srgbClr val="0E8F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0" y="3282696"/>
            <a:ext cx="4693615" cy="749808"/>
          </a:xfrm>
          <a:prstGeom prst="rect">
            <a:avLst/>
          </a:prstGeom>
          <a:noFill/>
        </p:spPr>
        <p:txBody>
          <a:bodyPr wrap="square" anchor="ctr" lIns="0" rIns="0" tIns="0" bIns="0">
            <a:noAutofit/>
          </a:bodyPr>
          <a:lstStyle/>
          <a:p>
            <a:pPr algn="ctr">
              <a:lnSpc>
                <a:spcPct val="100000"/>
              </a:lnSpc>
              <a:spcBef>
                <a:spcPts val="0"/>
              </a:spcBef>
              <a:spcAft>
                <a:spcPts val="200"/>
              </a:spcAft>
            </a:pPr>
            <a:r>
              <a:rPr sz="1400" b="1">
                <a:solidFill>
                  <a:srgbClr val="1B2733"/>
                </a:solidFill>
                <a:latin typeface="Arial"/>
              </a:rPr>
              <a:t>Gateway</a:t>
            </a:r>
          </a:p>
          <a:p>
            <a:pPr algn="ctr">
              <a:lnSpc>
                <a:spcPct val="102000"/>
              </a:lnSpc>
              <a:spcBef>
                <a:spcPts val="0"/>
              </a:spcBef>
              <a:spcAft>
                <a:spcPts val="0"/>
              </a:spcAft>
            </a:pPr>
            <a:r>
              <a:rPr sz="950" b="0">
                <a:solidFill>
                  <a:srgbClr val="6B7885"/>
                </a:solidFill>
                <a:latin typeface="Arial"/>
              </a:rPr>
              <a:t>single connection point</a:t>
            </a:r>
          </a:p>
        </p:txBody>
      </p:sp>
      <p:cxnSp>
        <p:nvCxnSpPr>
          <p:cNvPr id="13" name="Connector 12"/>
          <p:cNvCxnSpPr/>
          <p:nvPr/>
        </p:nvCxnSpPr>
        <p:spPr>
          <a:xfrm flipH="1">
            <a:off x="7268839" y="4069079"/>
            <a:ext cx="871186" cy="411481"/>
          </a:xfrm>
          <a:prstGeom prst="line">
            <a:avLst/>
          </a:prstGeom>
          <a:ln w="20320">
            <a:solidFill>
              <a:srgbClr val="5AA82B"/>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10269589" y="4069079"/>
            <a:ext cx="871186" cy="411481"/>
          </a:xfrm>
          <a:prstGeom prst="line">
            <a:avLst/>
          </a:prstGeom>
          <a:ln w="20320">
            <a:solidFill>
              <a:srgbClr val="7A3FE4"/>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6784848" y="4526279"/>
            <a:ext cx="2226362" cy="685800"/>
          </a:xfrm>
          <a:prstGeom prst="roundRect">
            <a:avLst>
              <a:gd name="adj" fmla="val 10000"/>
            </a:avLst>
          </a:prstGeom>
          <a:solidFill>
            <a:srgbClr val="EAF4E1"/>
          </a:solidFill>
          <a:ln w="17780">
            <a:solidFill>
              <a:srgbClr val="5AA8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0" y="4562855"/>
            <a:ext cx="2080058" cy="612648"/>
          </a:xfrm>
          <a:prstGeom prst="rect">
            <a:avLst/>
          </a:prstGeom>
          <a:noFill/>
        </p:spPr>
        <p:txBody>
          <a:bodyPr wrap="square" anchor="ctr" lIns="0" rIns="0" tIns="0" bIns="0">
            <a:noAutofit/>
          </a:bodyPr>
          <a:lstStyle/>
          <a:p>
            <a:pPr algn="ctr">
              <a:lnSpc>
                <a:spcPct val="100000"/>
              </a:lnSpc>
              <a:spcBef>
                <a:spcPts val="0"/>
              </a:spcBef>
              <a:spcAft>
                <a:spcPts val="0"/>
              </a:spcAft>
            </a:pPr>
            <a:r>
              <a:rPr sz="1150" b="1">
                <a:solidFill>
                  <a:srgbClr val="1B2733"/>
                </a:solidFill>
                <a:latin typeface="Arial"/>
              </a:rPr>
              <a:t>Logging</a:t>
            </a:r>
          </a:p>
        </p:txBody>
      </p:sp>
      <p:sp>
        <p:nvSpPr>
          <p:cNvPr id="17" name="Rounded Rectangle 16"/>
          <p:cNvSpPr/>
          <p:nvPr/>
        </p:nvSpPr>
        <p:spPr>
          <a:xfrm>
            <a:off x="9398404" y="4526279"/>
            <a:ext cx="2226362" cy="685800"/>
          </a:xfrm>
          <a:prstGeom prst="roundRect">
            <a:avLst>
              <a:gd name="adj" fmla="val 10000"/>
            </a:avLst>
          </a:prstGeom>
          <a:solidFill>
            <a:srgbClr val="EFE8FC"/>
          </a:solidFill>
          <a:ln w="17780">
            <a:solidFill>
              <a:srgbClr val="7A3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471556" y="4562855"/>
            <a:ext cx="2080058" cy="612648"/>
          </a:xfrm>
          <a:prstGeom prst="rect">
            <a:avLst/>
          </a:prstGeom>
          <a:noFill/>
        </p:spPr>
        <p:txBody>
          <a:bodyPr wrap="square" anchor="ctr" lIns="0" rIns="0" tIns="0" bIns="0">
            <a:noAutofit/>
          </a:bodyPr>
          <a:lstStyle/>
          <a:p>
            <a:pPr algn="ctr">
              <a:lnSpc>
                <a:spcPct val="100000"/>
              </a:lnSpc>
              <a:spcBef>
                <a:spcPts val="0"/>
              </a:spcBef>
              <a:spcAft>
                <a:spcPts val="0"/>
              </a:spcAft>
            </a:pPr>
            <a:r>
              <a:rPr sz="1150" b="1">
                <a:solidFill>
                  <a:srgbClr val="1B2733"/>
                </a:solidFill>
                <a:latin typeface="Arial"/>
              </a:rPr>
              <a:t>Monitoring</a:t>
            </a:r>
          </a:p>
        </p:txBody>
      </p:sp>
      <p:sp>
        <p:nvSpPr>
          <p:cNvPr id="19" name="TextBox 18"/>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Executive Overview</a:t>
            </a:r>
          </a:p>
        </p:txBody>
      </p:sp>
      <p:sp>
        <p:nvSpPr>
          <p:cNvPr id="20" name="TextBox 19"/>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07  /  15</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6A4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6A4CE0"/>
                </a:solidFill>
                <a:latin typeface="Arial"/>
              </a:rPr>
              <a:t>SOLUTION 2</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LangChain + A2A</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874519"/>
            <a:ext cx="5760720" cy="3291840"/>
          </a:xfrm>
          <a:prstGeom prst="rect">
            <a:avLst/>
          </a:prstGeom>
          <a:noFill/>
        </p:spPr>
        <p:txBody>
          <a:bodyPr wrap="square" anchor="t" lIns="0" rIns="0" tIns="0" bIns="0">
            <a:noAutofit/>
          </a:bodyPr>
          <a:lstStyle/>
          <a:p>
            <a:pPr algn="l" marL="256032" indent="-256032">
              <a:lnSpc>
                <a:spcPct val="106000"/>
              </a:lnSpc>
              <a:spcBef>
                <a:spcPts val="0"/>
              </a:spcBef>
              <a:spcAft>
                <a:spcPts val="1300"/>
              </a:spcAft>
              <a:buClr>
                <a:srgbClr val="6A4CE0"/>
              </a:buClr>
              <a:buFont typeface="Arial"/>
              <a:buChar char="▪"/>
            </a:pPr>
            <a:r>
              <a:rPr sz="1300" b="1">
                <a:solidFill>
                  <a:srgbClr val="5138C0"/>
                </a:solidFill>
                <a:latin typeface="Arial"/>
              </a:rPr>
              <a:t>Specialist agents.  </a:t>
            </a:r>
            <a:r>
              <a:rPr sz="1300" b="0">
                <a:solidFill>
                  <a:srgbClr val="1B2733"/>
                </a:solidFill>
                <a:latin typeface="Arial"/>
              </a:rPr>
              <a:t>A lead agent delegates to two specialist agents, one dedicated to each platform.</a:t>
            </a:r>
          </a:p>
          <a:p>
            <a:pPr algn="l" marL="256032" indent="-256032">
              <a:lnSpc>
                <a:spcPct val="106000"/>
              </a:lnSpc>
              <a:spcBef>
                <a:spcPts val="0"/>
              </a:spcBef>
              <a:spcAft>
                <a:spcPts val="1300"/>
              </a:spcAft>
              <a:buClr>
                <a:srgbClr val="6A4CE0"/>
              </a:buClr>
              <a:buFont typeface="Arial"/>
              <a:buChar char="▪"/>
            </a:pPr>
            <a:r>
              <a:rPr sz="1300" b="1">
                <a:solidFill>
                  <a:srgbClr val="5138C0"/>
                </a:solidFill>
                <a:latin typeface="Arial"/>
              </a:rPr>
              <a:t>Built on Python.  </a:t>
            </a:r>
            <a:r>
              <a:rPr sz="1300" b="0">
                <a:solidFill>
                  <a:srgbClr val="1B2733"/>
                </a:solidFill>
                <a:latin typeface="Arial"/>
              </a:rPr>
              <a:t>Uses LangChain, the most widely adopted framework for building AI agents — a large hiring and support pool.</a:t>
            </a:r>
          </a:p>
          <a:p>
            <a:pPr algn="l" marL="256032" indent="-256032">
              <a:lnSpc>
                <a:spcPct val="106000"/>
              </a:lnSpc>
              <a:spcBef>
                <a:spcPts val="0"/>
              </a:spcBef>
              <a:spcAft>
                <a:spcPts val="1300"/>
              </a:spcAft>
              <a:buClr>
                <a:srgbClr val="6A4CE0"/>
              </a:buClr>
              <a:buFont typeface="Arial"/>
              <a:buChar char="▪"/>
            </a:pPr>
            <a:r>
              <a:rPr sz="1300" b="1">
                <a:solidFill>
                  <a:srgbClr val="5138C0"/>
                </a:solidFill>
                <a:latin typeface="Arial"/>
              </a:rPr>
              <a:t>Approval enforced in code.  </a:t>
            </a:r>
            <a:r>
              <a:rPr sz="1300" b="0">
                <a:solidFill>
                  <a:srgbClr val="1B2733"/>
                </a:solidFill>
                <a:latin typeface="Arial"/>
              </a:rPr>
              <a:t>The human-approval step is built into the system's control flow, not just an instruction to the AI.</a:t>
            </a:r>
          </a:p>
          <a:p>
            <a:pPr algn="l" marL="256032" indent="-256032">
              <a:lnSpc>
                <a:spcPct val="106000"/>
              </a:lnSpc>
              <a:spcBef>
                <a:spcPts val="0"/>
              </a:spcBef>
              <a:spcAft>
                <a:spcPts val="1300"/>
              </a:spcAft>
              <a:buClr>
                <a:srgbClr val="6A4CE0"/>
              </a:buClr>
              <a:buFont typeface="Arial"/>
              <a:buChar char="▪"/>
            </a:pPr>
            <a:r>
              <a:rPr sz="1300" b="1">
                <a:solidFill>
                  <a:srgbClr val="5138C0"/>
                </a:solidFill>
                <a:latin typeface="Arial"/>
              </a:rPr>
              <a:t>Scales to many platforms.  </a:t>
            </a:r>
            <a:r>
              <a:rPr sz="1300" b="0">
                <a:solidFill>
                  <a:srgbClr val="1B2733"/>
                </a:solidFill>
                <a:latin typeface="Arial"/>
              </a:rPr>
              <a:t>This division-of-labor pattern extends cleanly if more tools or teams are added later.</a:t>
            </a:r>
          </a:p>
        </p:txBody>
      </p:sp>
      <p:sp>
        <p:nvSpPr>
          <p:cNvPr id="8" name="Rounded Rectangle 7"/>
          <p:cNvSpPr/>
          <p:nvPr/>
        </p:nvSpPr>
        <p:spPr>
          <a:xfrm>
            <a:off x="6784848" y="1874519"/>
            <a:ext cx="4839919" cy="777240"/>
          </a:xfrm>
          <a:prstGeom prst="roundRect">
            <a:avLst>
              <a:gd name="adj" fmla="val 10000"/>
            </a:avLst>
          </a:prstGeom>
          <a:solidFill>
            <a:srgbClr val="1B2733"/>
          </a:solidFill>
          <a:ln w="17780">
            <a:solidFill>
              <a:srgbClr val="1B273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0" y="1911095"/>
            <a:ext cx="4693615" cy="704088"/>
          </a:xfrm>
          <a:prstGeom prst="rect">
            <a:avLst/>
          </a:prstGeom>
          <a:noFill/>
        </p:spPr>
        <p:txBody>
          <a:bodyPr wrap="square" anchor="ctr" lIns="0" rIns="0" tIns="0" bIns="0">
            <a:noAutofit/>
          </a:bodyPr>
          <a:lstStyle/>
          <a:p>
            <a:pPr algn="ctr">
              <a:lnSpc>
                <a:spcPct val="100000"/>
              </a:lnSpc>
              <a:spcBef>
                <a:spcPts val="0"/>
              </a:spcBef>
              <a:spcAft>
                <a:spcPts val="0"/>
              </a:spcAft>
            </a:pPr>
            <a:r>
              <a:rPr sz="1350" b="1">
                <a:solidFill>
                  <a:srgbClr val="FFFFFF"/>
                </a:solidFill>
                <a:latin typeface="Arial"/>
              </a:rPr>
              <a:t>Lead Agent</a:t>
            </a:r>
          </a:p>
        </p:txBody>
      </p:sp>
      <p:cxnSp>
        <p:nvCxnSpPr>
          <p:cNvPr id="10" name="Connector 9"/>
          <p:cNvCxnSpPr/>
          <p:nvPr/>
        </p:nvCxnSpPr>
        <p:spPr>
          <a:xfrm flipH="1">
            <a:off x="7510835" y="2651760"/>
            <a:ext cx="629190" cy="365760"/>
          </a:xfrm>
          <a:prstGeom prst="line">
            <a:avLst/>
          </a:prstGeom>
          <a:ln w="20320">
            <a:solidFill>
              <a:srgbClr val="7A3FE4"/>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10269589" y="2651760"/>
            <a:ext cx="629190" cy="365760"/>
          </a:xfrm>
          <a:prstGeom prst="line">
            <a:avLst/>
          </a:prstGeom>
          <a:ln w="20320">
            <a:solidFill>
              <a:srgbClr val="5AA82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784848" y="3063239"/>
            <a:ext cx="2226362" cy="731520"/>
          </a:xfrm>
          <a:prstGeom prst="roundRect">
            <a:avLst>
              <a:gd name="adj" fmla="val 10000"/>
            </a:avLst>
          </a:prstGeom>
          <a:solidFill>
            <a:srgbClr val="EFE8FC"/>
          </a:solidFill>
          <a:ln w="17780">
            <a:solidFill>
              <a:srgbClr val="7A3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0" y="3099815"/>
            <a:ext cx="2080058" cy="658368"/>
          </a:xfrm>
          <a:prstGeom prst="rect">
            <a:avLst/>
          </a:prstGeom>
          <a:noFill/>
        </p:spPr>
        <p:txBody>
          <a:bodyPr wrap="square" anchor="ctr" lIns="0" rIns="0" tIns="0" bIns="0">
            <a:noAutofit/>
          </a:bodyPr>
          <a:lstStyle/>
          <a:p>
            <a:pPr algn="ctr">
              <a:lnSpc>
                <a:spcPct val="100000"/>
              </a:lnSpc>
              <a:spcBef>
                <a:spcPts val="0"/>
              </a:spcBef>
              <a:spcAft>
                <a:spcPts val="200"/>
              </a:spcAft>
            </a:pPr>
            <a:r>
              <a:rPr sz="1200" b="1">
                <a:solidFill>
                  <a:srgbClr val="1B2733"/>
                </a:solidFill>
                <a:latin typeface="Arial"/>
              </a:rPr>
              <a:t>Monitoring</a:t>
            </a:r>
          </a:p>
          <a:p>
            <a:pPr algn="ctr">
              <a:lnSpc>
                <a:spcPct val="102000"/>
              </a:lnSpc>
              <a:spcBef>
                <a:spcPts val="0"/>
              </a:spcBef>
              <a:spcAft>
                <a:spcPts val="0"/>
              </a:spcAft>
            </a:pPr>
            <a:r>
              <a:rPr sz="900" b="0">
                <a:solidFill>
                  <a:srgbClr val="6B7885"/>
                </a:solidFill>
                <a:latin typeface="Arial"/>
              </a:rPr>
              <a:t>specialist agent</a:t>
            </a:r>
          </a:p>
        </p:txBody>
      </p:sp>
      <p:sp>
        <p:nvSpPr>
          <p:cNvPr id="14" name="Rounded Rectangle 13"/>
          <p:cNvSpPr/>
          <p:nvPr/>
        </p:nvSpPr>
        <p:spPr>
          <a:xfrm>
            <a:off x="9398404" y="3063239"/>
            <a:ext cx="2226362" cy="731520"/>
          </a:xfrm>
          <a:prstGeom prst="roundRect">
            <a:avLst>
              <a:gd name="adj" fmla="val 10000"/>
            </a:avLst>
          </a:prstGeom>
          <a:solidFill>
            <a:srgbClr val="EAF4E1"/>
          </a:solidFill>
          <a:ln w="17780">
            <a:solidFill>
              <a:srgbClr val="5AA8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71556" y="3099815"/>
            <a:ext cx="2080058" cy="658368"/>
          </a:xfrm>
          <a:prstGeom prst="rect">
            <a:avLst/>
          </a:prstGeom>
          <a:noFill/>
        </p:spPr>
        <p:txBody>
          <a:bodyPr wrap="square" anchor="ctr" lIns="0" rIns="0" tIns="0" bIns="0">
            <a:noAutofit/>
          </a:bodyPr>
          <a:lstStyle/>
          <a:p>
            <a:pPr algn="ctr">
              <a:lnSpc>
                <a:spcPct val="100000"/>
              </a:lnSpc>
              <a:spcBef>
                <a:spcPts val="0"/>
              </a:spcBef>
              <a:spcAft>
                <a:spcPts val="200"/>
              </a:spcAft>
            </a:pPr>
            <a:r>
              <a:rPr sz="1200" b="1">
                <a:solidFill>
                  <a:srgbClr val="1B2733"/>
                </a:solidFill>
                <a:latin typeface="Arial"/>
              </a:rPr>
              <a:t>Logging</a:t>
            </a:r>
          </a:p>
          <a:p>
            <a:pPr algn="ctr">
              <a:lnSpc>
                <a:spcPct val="102000"/>
              </a:lnSpc>
              <a:spcBef>
                <a:spcPts val="0"/>
              </a:spcBef>
              <a:spcAft>
                <a:spcPts val="0"/>
              </a:spcAft>
            </a:pPr>
            <a:r>
              <a:rPr sz="900" b="0">
                <a:solidFill>
                  <a:srgbClr val="6B7885"/>
                </a:solidFill>
                <a:latin typeface="Arial"/>
              </a:rPr>
              <a:t>specialist agent</a:t>
            </a:r>
          </a:p>
        </p:txBody>
      </p:sp>
      <p:cxnSp>
        <p:nvCxnSpPr>
          <p:cNvPr id="16" name="Connector 15"/>
          <p:cNvCxnSpPr/>
          <p:nvPr/>
        </p:nvCxnSpPr>
        <p:spPr>
          <a:xfrm>
            <a:off x="7898029" y="3794760"/>
            <a:ext cx="0" cy="320040"/>
          </a:xfrm>
          <a:prstGeom prst="line">
            <a:avLst/>
          </a:prstGeom>
          <a:ln w="20320">
            <a:solidFill>
              <a:srgbClr val="7A3FE4"/>
            </a:solidFill>
            <a:tailEnd type="triangle" w="med" len="med"/>
          </a:ln>
          <a:effectLst/>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10511585" y="3794760"/>
            <a:ext cx="0" cy="320040"/>
          </a:xfrm>
          <a:prstGeom prst="line">
            <a:avLst/>
          </a:prstGeom>
          <a:ln w="20320">
            <a:solidFill>
              <a:srgbClr val="5AA82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784848" y="4160520"/>
            <a:ext cx="2226362" cy="640080"/>
          </a:xfrm>
          <a:prstGeom prst="roundRect">
            <a:avLst>
              <a:gd name="adj" fmla="val 10000"/>
            </a:avLst>
          </a:prstGeom>
          <a:solidFill>
            <a:srgbClr val="FFFFFF"/>
          </a:solidFill>
          <a:ln w="17780">
            <a:solidFill>
              <a:srgbClr val="7A3FE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0" y="4197096"/>
            <a:ext cx="2080058" cy="566928"/>
          </a:xfrm>
          <a:prstGeom prst="rect">
            <a:avLst/>
          </a:prstGeom>
          <a:noFill/>
        </p:spPr>
        <p:txBody>
          <a:bodyPr wrap="square" anchor="ctr" lIns="0" rIns="0" tIns="0" bIns="0">
            <a:noAutofit/>
          </a:bodyPr>
          <a:lstStyle/>
          <a:p>
            <a:pPr algn="ctr">
              <a:lnSpc>
                <a:spcPct val="100000"/>
              </a:lnSpc>
              <a:spcBef>
                <a:spcPts val="0"/>
              </a:spcBef>
              <a:spcAft>
                <a:spcPts val="0"/>
              </a:spcAft>
            </a:pPr>
            <a:r>
              <a:rPr sz="1100" b="1">
                <a:solidFill>
                  <a:srgbClr val="1B2733"/>
                </a:solidFill>
                <a:latin typeface="Arial"/>
              </a:rPr>
              <a:t>Monitoring</a:t>
            </a:r>
          </a:p>
        </p:txBody>
      </p:sp>
      <p:sp>
        <p:nvSpPr>
          <p:cNvPr id="20" name="Rounded Rectangle 19"/>
          <p:cNvSpPr/>
          <p:nvPr/>
        </p:nvSpPr>
        <p:spPr>
          <a:xfrm>
            <a:off x="9398404" y="4160520"/>
            <a:ext cx="2226362" cy="640080"/>
          </a:xfrm>
          <a:prstGeom prst="roundRect">
            <a:avLst>
              <a:gd name="adj" fmla="val 10000"/>
            </a:avLst>
          </a:prstGeom>
          <a:solidFill>
            <a:srgbClr val="FFFFFF"/>
          </a:solidFill>
          <a:ln w="17780">
            <a:solidFill>
              <a:srgbClr val="5AA8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71556" y="4197096"/>
            <a:ext cx="2080058" cy="566928"/>
          </a:xfrm>
          <a:prstGeom prst="rect">
            <a:avLst/>
          </a:prstGeom>
          <a:noFill/>
        </p:spPr>
        <p:txBody>
          <a:bodyPr wrap="square" anchor="ctr" lIns="0" rIns="0" tIns="0" bIns="0">
            <a:noAutofit/>
          </a:bodyPr>
          <a:lstStyle/>
          <a:p>
            <a:pPr algn="ctr">
              <a:lnSpc>
                <a:spcPct val="100000"/>
              </a:lnSpc>
              <a:spcBef>
                <a:spcPts val="0"/>
              </a:spcBef>
              <a:spcAft>
                <a:spcPts val="0"/>
              </a:spcAft>
            </a:pPr>
            <a:r>
              <a:rPr sz="1100" b="1">
                <a:solidFill>
                  <a:srgbClr val="1B2733"/>
                </a:solidFill>
                <a:latin typeface="Arial"/>
              </a:rPr>
              <a:t>Logging</a:t>
            </a:r>
          </a:p>
        </p:txBody>
      </p:sp>
      <p:sp>
        <p:nvSpPr>
          <p:cNvPr id="22" name="TextBox 21"/>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Executive Overview</a:t>
            </a:r>
          </a:p>
        </p:txBody>
      </p:sp>
      <p:sp>
        <p:nvSpPr>
          <p:cNvPr id="23" name="TextBox 22"/>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08  /  15</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MEASURED RESULTS</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What we actually measured</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Table 6"/>
          <p:cNvGraphicFramePr>
            <a:graphicFrameLocks noGrp="1"/>
          </p:cNvGraphicFramePr>
          <p:nvPr/>
        </p:nvGraphicFramePr>
        <p:xfrm>
          <a:off x="566928" y="1783080"/>
          <a:ext cx="11057838" cy="1865376"/>
        </p:xfrm>
        <a:graphic>
          <a:graphicData uri="http://schemas.openxmlformats.org/drawingml/2006/table">
            <a:tbl>
              <a:tblPr firstRow="0" bandRow="0">
                <a:tableStyleId>{2D5ABB26-0587-4C30-8999-92F81FD0307C}</a:tableStyleId>
              </a:tblPr>
              <a:tblGrid>
                <a:gridCol w="4644292"/>
                <a:gridCol w="3206773"/>
                <a:gridCol w="3206773"/>
              </a:tblGrid>
              <a:tr h="438912">
                <a:tc>
                  <a:txBody>
                    <a:bodyPr wrap="square"/>
                    <a:lstStyle/>
                    <a:p>
                      <a:pPr algn="l">
                        <a:lnSpc>
                          <a:spcPct val="100000"/>
                        </a:lnSpc>
                      </a:pPr>
                      <a:r>
                        <a:rPr sz="1100" b="1">
                          <a:solidFill>
                            <a:srgbClr val="FFFFFF"/>
                          </a:solidFill>
                          <a:latin typeface="Arial"/>
                        </a:rPr>
                        <a:t>Metric — measured on a production-grade AI model</a:t>
                      </a:r>
                    </a:p>
                  </a:txBody>
                  <a:tcPr anchor="ctr" marL="91440" marR="73152" marT="18288" marB="18288">
                    <a:solidFill>
                      <a:srgbClr val="1B2733"/>
                    </a:solidFill>
                  </a:tcPr>
                </a:tc>
                <a:tc>
                  <a:txBody>
                    <a:bodyPr wrap="square"/>
                    <a:lstStyle/>
                    <a:p>
                      <a:pPr algn="l">
                        <a:lnSpc>
                          <a:spcPct val="100000"/>
                        </a:lnSpc>
                      </a:pPr>
                      <a:r>
                        <a:rPr sz="1100" b="1">
                          <a:solidFill>
                            <a:srgbClr val="FFFFFF"/>
                          </a:solidFill>
                          <a:latin typeface="Arial"/>
                        </a:rPr>
                        <a:t>Ballerina + Proxy</a:t>
                      </a:r>
                    </a:p>
                  </a:txBody>
                  <a:tcPr anchor="ctr" marL="91440" marR="73152" marT="18288" marB="18288">
                    <a:solidFill>
                      <a:srgbClr val="1B2733"/>
                    </a:solidFill>
                  </a:tcPr>
                </a:tc>
                <a:tc>
                  <a:txBody>
                    <a:bodyPr wrap="square"/>
                    <a:lstStyle/>
                    <a:p>
                      <a:pPr algn="l">
                        <a:lnSpc>
                          <a:spcPct val="100000"/>
                        </a:lnSpc>
                      </a:pPr>
                      <a:r>
                        <a:rPr sz="1100" b="1">
                          <a:solidFill>
                            <a:srgbClr val="FFFFFF"/>
                          </a:solidFill>
                          <a:latin typeface="Arial"/>
                        </a:rPr>
                        <a:t>LangChain + A2A</a:t>
                      </a:r>
                    </a:p>
                  </a:txBody>
                  <a:tcPr anchor="ctr" marL="91440" marR="73152" marT="18288" marB="18288">
                    <a:solidFill>
                      <a:srgbClr val="1B2733"/>
                    </a:solidFill>
                  </a:tcPr>
                </a:tc>
              </a:tr>
              <a:tr h="475488">
                <a:tc>
                  <a:txBody>
                    <a:bodyPr wrap="square"/>
                    <a:lstStyle/>
                    <a:p>
                      <a:pPr algn="l">
                        <a:lnSpc>
                          <a:spcPct val="100000"/>
                        </a:lnSpc>
                      </a:pPr>
                      <a:r>
                        <a:rPr sz="1150" b="1">
                          <a:solidFill>
                            <a:srgbClr val="1B2733"/>
                          </a:solidFill>
                          <a:latin typeface="Arial"/>
                        </a:rPr>
                        <a:t>Correct diagnosis rate</a:t>
                      </a:r>
                    </a:p>
                  </a:txBody>
                  <a:tcPr anchor="ctr" marL="91440" marR="73152" marT="18288" marB="18288">
                    <a:solidFill>
                      <a:srgbClr val="F6F8FA"/>
                    </a:solidFill>
                  </a:tcPr>
                </a:tc>
                <a:tc>
                  <a:txBody>
                    <a:bodyPr wrap="square"/>
                    <a:lstStyle/>
                    <a:p>
                      <a:pPr algn="l">
                        <a:lnSpc>
                          <a:spcPct val="100000"/>
                        </a:lnSpc>
                      </a:pPr>
                      <a:r>
                        <a:rPr sz="1150" b="1">
                          <a:solidFill>
                            <a:srgbClr val="2E9E5B"/>
                          </a:solidFill>
                          <a:latin typeface="Arial"/>
                        </a:rPr>
                        <a:t>100%  (18 / 18 test runs)</a:t>
                      </a:r>
                    </a:p>
                  </a:txBody>
                  <a:tcPr anchor="ctr" marL="91440" marR="73152" marT="18288" marB="18288">
                    <a:solidFill>
                      <a:srgbClr val="F6F8FA"/>
                    </a:solidFill>
                  </a:tcPr>
                </a:tc>
                <a:tc>
                  <a:txBody>
                    <a:bodyPr wrap="square"/>
                    <a:lstStyle/>
                    <a:p>
                      <a:pPr algn="l">
                        <a:lnSpc>
                          <a:spcPct val="100000"/>
                        </a:lnSpc>
                      </a:pPr>
                      <a:r>
                        <a:rPr sz="1150" b="1">
                          <a:solidFill>
                            <a:srgbClr val="2E9E5B"/>
                          </a:solidFill>
                          <a:latin typeface="Arial"/>
                        </a:rPr>
                        <a:t>100%  (18 / 18 test runs)</a:t>
                      </a:r>
                    </a:p>
                  </a:txBody>
                  <a:tcPr anchor="ctr" marL="91440" marR="73152" marT="18288" marB="18288">
                    <a:solidFill>
                      <a:srgbClr val="F6F8FA"/>
                    </a:solidFill>
                  </a:tcPr>
                </a:tc>
              </a:tr>
              <a:tr h="475488">
                <a:tc>
                  <a:txBody>
                    <a:bodyPr wrap="square"/>
                    <a:lstStyle/>
                    <a:p>
                      <a:pPr algn="l">
                        <a:lnSpc>
                          <a:spcPct val="100000"/>
                        </a:lnSpc>
                      </a:pPr>
                      <a:r>
                        <a:rPr sz="1150" b="1">
                          <a:solidFill>
                            <a:srgbClr val="1B2733"/>
                          </a:solidFill>
                          <a:latin typeface="Arial"/>
                        </a:rPr>
                        <a:t>Median time to a proposed fix</a:t>
                      </a:r>
                    </a:p>
                  </a:txBody>
                  <a:tcPr anchor="ctr" marL="91440" marR="73152" marT="18288" marB="18288">
                    <a:solidFill>
                      <a:srgbClr val="FFFFFF"/>
                    </a:solidFill>
                  </a:tcPr>
                </a:tc>
                <a:tc>
                  <a:txBody>
                    <a:bodyPr wrap="square"/>
                    <a:lstStyle/>
                    <a:p>
                      <a:pPr algn="l">
                        <a:lnSpc>
                          <a:spcPct val="100000"/>
                        </a:lnSpc>
                      </a:pPr>
                      <a:r>
                        <a:rPr sz="1150" b="1">
                          <a:solidFill>
                            <a:srgbClr val="2E9E5B"/>
                          </a:solidFill>
                          <a:latin typeface="Arial"/>
                        </a:rPr>
                        <a:t>~14 seconds</a:t>
                      </a:r>
                    </a:p>
                  </a:txBody>
                  <a:tcPr anchor="ctr" marL="91440" marR="73152" marT="18288" marB="18288">
                    <a:solidFill>
                      <a:srgbClr val="FFFFFF"/>
                    </a:solidFill>
                  </a:tcPr>
                </a:tc>
                <a:tc>
                  <a:txBody>
                    <a:bodyPr wrap="square"/>
                    <a:lstStyle/>
                    <a:p>
                      <a:pPr algn="l">
                        <a:lnSpc>
                          <a:spcPct val="100000"/>
                        </a:lnSpc>
                      </a:pPr>
                      <a:r>
                        <a:rPr sz="1150" b="0">
                          <a:solidFill>
                            <a:srgbClr val="1B2733"/>
                          </a:solidFill>
                          <a:latin typeface="Arial"/>
                        </a:rPr>
                        <a:t>~36 seconds</a:t>
                      </a:r>
                    </a:p>
                  </a:txBody>
                  <a:tcPr anchor="ctr" marL="91440" marR="73152" marT="18288" marB="18288">
                    <a:solidFill>
                      <a:srgbClr val="FFFFFF"/>
                    </a:solidFill>
                  </a:tcPr>
                </a:tc>
              </a:tr>
              <a:tr h="475488">
                <a:tc>
                  <a:txBody>
                    <a:bodyPr wrap="square"/>
                    <a:lstStyle/>
                    <a:p>
                      <a:pPr algn="l">
                        <a:lnSpc>
                          <a:spcPct val="100000"/>
                        </a:lnSpc>
                      </a:pPr>
                      <a:r>
                        <a:rPr sz="1150" b="1">
                          <a:solidFill>
                            <a:srgbClr val="1B2733"/>
                          </a:solidFill>
                          <a:latin typeface="Arial"/>
                        </a:rPr>
                        <a:t>Test runs evaluated</a:t>
                      </a:r>
                    </a:p>
                  </a:txBody>
                  <a:tcPr anchor="ctr" marL="91440" marR="73152" marT="18288" marB="18288">
                    <a:solidFill>
                      <a:srgbClr val="F6F8FA"/>
                    </a:solidFill>
                  </a:tcPr>
                </a:tc>
                <a:tc>
                  <a:txBody>
                    <a:bodyPr wrap="square"/>
                    <a:lstStyle/>
                    <a:p>
                      <a:pPr algn="l">
                        <a:lnSpc>
                          <a:spcPct val="100000"/>
                        </a:lnSpc>
                      </a:pPr>
                      <a:r>
                        <a:rPr sz="1150" b="0">
                          <a:solidFill>
                            <a:srgbClr val="1B2733"/>
                          </a:solidFill>
                          <a:latin typeface="Arial"/>
                        </a:rPr>
                        <a:t>18  (3 independent batches of 6)</a:t>
                      </a:r>
                    </a:p>
                  </a:txBody>
                  <a:tcPr anchor="ctr" marL="91440" marR="73152" marT="18288" marB="18288">
                    <a:solidFill>
                      <a:srgbClr val="F6F8FA"/>
                    </a:solidFill>
                  </a:tcPr>
                </a:tc>
                <a:tc>
                  <a:txBody>
                    <a:bodyPr wrap="square"/>
                    <a:lstStyle/>
                    <a:p>
                      <a:pPr algn="l">
                        <a:lnSpc>
                          <a:spcPct val="100000"/>
                        </a:lnSpc>
                      </a:pPr>
                      <a:r>
                        <a:rPr sz="1150" b="0">
                          <a:solidFill>
                            <a:srgbClr val="1B2733"/>
                          </a:solidFill>
                          <a:latin typeface="Arial"/>
                        </a:rPr>
                        <a:t>18  (3 independent batches of 6)</a:t>
                      </a:r>
                    </a:p>
                  </a:txBody>
                  <a:tcPr anchor="ctr" marL="91440" marR="73152" marT="18288" marB="18288">
                    <a:solidFill>
                      <a:srgbClr val="F6F8FA"/>
                    </a:solidFill>
                  </a:tcPr>
                </a:tc>
              </a:tr>
            </a:tbl>
          </a:graphicData>
        </a:graphic>
      </p:graphicFrame>
      <p:sp>
        <p:nvSpPr>
          <p:cNvPr id="8" name="Rounded Rectangle 7"/>
          <p:cNvSpPr/>
          <p:nvPr/>
        </p:nvSpPr>
        <p:spPr>
          <a:xfrm>
            <a:off x="566928" y="3977639"/>
            <a:ext cx="11057839" cy="960120"/>
          </a:xfrm>
          <a:prstGeom prst="roundRect">
            <a:avLst>
              <a:gd name="adj" fmla="val 4500"/>
            </a:avLst>
          </a:prstGeom>
          <a:solidFill>
            <a:srgbClr val="FF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3977639"/>
            <a:ext cx="91440" cy="96012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 y="4105655"/>
            <a:ext cx="10673791" cy="704088"/>
          </a:xfrm>
          <a:prstGeom prst="rect">
            <a:avLst/>
          </a:prstGeom>
          <a:noFill/>
        </p:spPr>
        <p:txBody>
          <a:bodyPr wrap="square" anchor="ctr" lIns="0" rIns="0" tIns="0" bIns="0">
            <a:noAutofit/>
          </a:bodyPr>
          <a:lstStyle/>
          <a:p>
            <a:pPr algn="l">
              <a:lnSpc>
                <a:spcPct val="100000"/>
              </a:lnSpc>
              <a:spcBef>
                <a:spcPts val="0"/>
              </a:spcBef>
              <a:spcAft>
                <a:spcPts val="300"/>
              </a:spcAft>
            </a:pPr>
            <a:r>
              <a:rPr sz="1200" b="1">
                <a:solidFill>
                  <a:srgbClr val="FF7300"/>
                </a:solidFill>
                <a:latin typeface="Arial"/>
              </a:rPr>
              <a:t>◆  Why this matters</a:t>
            </a:r>
          </a:p>
          <a:p>
            <a:pPr algn="l">
              <a:lnSpc>
                <a:spcPct val="112000"/>
              </a:lnSpc>
              <a:spcBef>
                <a:spcPts val="0"/>
              </a:spcBef>
              <a:spcAft>
                <a:spcPts val="0"/>
              </a:spcAft>
            </a:pPr>
            <a:r>
              <a:rPr sz="1050" b="0">
                <a:solidFill>
                  <a:srgbClr val="3E4C59"/>
                </a:solidFill>
                <a:latin typeface="Arial"/>
              </a:rPr>
              <a:t>Both are reliable enough to trust in a live environment. Ballerina resolves faster in this test because it makes fewer hops between agents for the same investigation.</a:t>
            </a:r>
          </a:p>
        </p:txBody>
      </p:sp>
      <p:sp>
        <p:nvSpPr>
          <p:cNvPr id="11" name="Rounded Rectangle 10"/>
          <p:cNvSpPr/>
          <p:nvPr/>
        </p:nvSpPr>
        <p:spPr>
          <a:xfrm>
            <a:off x="566928" y="5074920"/>
            <a:ext cx="11057839" cy="1005840"/>
          </a:xfrm>
          <a:prstGeom prst="roundRect">
            <a:avLst>
              <a:gd name="adj" fmla="val 4500"/>
            </a:avLst>
          </a:prstGeom>
          <a:solidFill>
            <a:srgbClr val="ECE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5074920"/>
            <a:ext cx="91440" cy="1005840"/>
          </a:xfrm>
          <a:prstGeom prst="rect">
            <a:avLst/>
          </a:prstGeom>
          <a:solidFill>
            <a:srgbClr val="6A4C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5202936"/>
            <a:ext cx="10673791" cy="749808"/>
          </a:xfrm>
          <a:prstGeom prst="rect">
            <a:avLst/>
          </a:prstGeom>
          <a:noFill/>
        </p:spPr>
        <p:txBody>
          <a:bodyPr wrap="square" anchor="ctr" lIns="0" rIns="0" tIns="0" bIns="0">
            <a:noAutofit/>
          </a:bodyPr>
          <a:lstStyle/>
          <a:p>
            <a:pPr algn="l">
              <a:lnSpc>
                <a:spcPct val="100000"/>
              </a:lnSpc>
              <a:spcBef>
                <a:spcPts val="0"/>
              </a:spcBef>
              <a:spcAft>
                <a:spcPts val="300"/>
              </a:spcAft>
            </a:pPr>
            <a:r>
              <a:rPr sz="1200" b="1">
                <a:solidFill>
                  <a:srgbClr val="6A4CE0"/>
                </a:solidFill>
                <a:latin typeface="Arial"/>
              </a:rPr>
              <a:t>◆  A critical cost finding</a:t>
            </a:r>
          </a:p>
          <a:p>
            <a:pPr algn="l">
              <a:lnSpc>
                <a:spcPct val="112000"/>
              </a:lnSpc>
              <a:spcBef>
                <a:spcPts val="0"/>
              </a:spcBef>
              <a:spcAft>
                <a:spcPts val="0"/>
              </a:spcAft>
            </a:pPr>
            <a:r>
              <a:rPr sz="1050" b="0">
                <a:solidFill>
                  <a:srgbClr val="3E4C59"/>
                </a:solidFill>
                <a:latin typeface="Arial"/>
              </a:rPr>
              <a:t>A free, locally-hosted AI model is possible for either approach, but was only 28–61% reliable in the same test. Reliability came from using a production-grade model, not from which architecture we chose — worth weighing directly against licensing cost.</a:t>
            </a:r>
          </a:p>
        </p:txBody>
      </p:sp>
      <p:sp>
        <p:nvSpPr>
          <p:cNvPr id="14" name="TextBox 13"/>
          <p:cNvSpPr txBox="1"/>
          <p:nvPr/>
        </p:nvSpPr>
        <p:spPr>
          <a:xfrm>
            <a:off x="566928" y="6172200"/>
            <a:ext cx="11057839" cy="274320"/>
          </a:xfrm>
          <a:prstGeom prst="rect">
            <a:avLst/>
          </a:prstGeom>
          <a:noFill/>
        </p:spPr>
        <p:txBody>
          <a:bodyPr wrap="square" anchor="t" lIns="0" rIns="0" tIns="0" bIns="0">
            <a:noAutofit/>
          </a:bodyPr>
          <a:lstStyle/>
          <a:p>
            <a:pPr algn="l">
              <a:lnSpc>
                <a:spcPct val="110000"/>
              </a:lnSpc>
              <a:spcBef>
                <a:spcPts val="0"/>
              </a:spcBef>
              <a:spcAft>
                <a:spcPts val="600"/>
              </a:spcAft>
            </a:pPr>
            <a:r>
              <a:rPr sz="850" b="0">
                <a:solidFill>
                  <a:srgbClr val="6B7885"/>
                </a:solidFill>
                <a:latin typeface="Arial"/>
              </a:rPr>
              <a:t>Method: identical simulated incident injected into a test service; timed end-to-end from alert to a proposed fix; 3 independent test batches of 6 runs per approach.</a:t>
            </a:r>
          </a:p>
        </p:txBody>
      </p:sp>
      <p:sp>
        <p:nvSpPr>
          <p:cNvPr id="15" name="TextBox 14"/>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Executive Overview</a:t>
            </a:r>
          </a:p>
        </p:txBody>
      </p:sp>
      <p:sp>
        <p:nvSpPr>
          <p:cNvPr id="16" name="TextBox 15"/>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09  /  15</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TRUST &amp; GOVERNANCE</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Nothing changes without a human</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920240"/>
            <a:ext cx="3472586" cy="329184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566928" y="1920240"/>
            <a:ext cx="3472586" cy="777240"/>
          </a:xfrm>
          <a:prstGeom prst="roundRect">
            <a:avLst>
              <a:gd name="adj" fmla="val 5000"/>
            </a:avLst>
          </a:prstGeom>
          <a:solidFill>
            <a:srgbClr val="FF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423160"/>
            <a:ext cx="3472586" cy="274320"/>
          </a:xfrm>
          <a:prstGeom prst="rect">
            <a:avLst/>
          </a:prstGeom>
          <a:solidFill>
            <a:srgbClr val="FF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103120"/>
            <a:ext cx="3015386" cy="457200"/>
          </a:xfrm>
          <a:prstGeom prst="rect">
            <a:avLst/>
          </a:prstGeom>
          <a:noFill/>
        </p:spPr>
        <p:txBody>
          <a:bodyPr wrap="square" anchor="ctr" lIns="0" rIns="0" tIns="0" bIns="0">
            <a:noAutofit/>
          </a:bodyPr>
          <a:lstStyle/>
          <a:p>
            <a:pPr algn="l">
              <a:lnSpc>
                <a:spcPct val="100000"/>
              </a:lnSpc>
              <a:spcBef>
                <a:spcPts val="0"/>
              </a:spcBef>
              <a:spcAft>
                <a:spcPts val="600"/>
              </a:spcAft>
            </a:pPr>
            <a:r>
              <a:rPr sz="2200" b="1">
                <a:solidFill>
                  <a:srgbClr val="FF7300"/>
                </a:solidFill>
                <a:latin typeface="Arial"/>
              </a:rPr>
              <a:t>1</a:t>
            </a:r>
          </a:p>
        </p:txBody>
      </p:sp>
      <p:sp>
        <p:nvSpPr>
          <p:cNvPr id="11" name="TextBox 10"/>
          <p:cNvSpPr txBox="1"/>
          <p:nvPr/>
        </p:nvSpPr>
        <p:spPr>
          <a:xfrm>
            <a:off x="795528" y="2880360"/>
            <a:ext cx="3015386" cy="2194560"/>
          </a:xfrm>
          <a:prstGeom prst="rect">
            <a:avLst/>
          </a:prstGeom>
          <a:noFill/>
        </p:spPr>
        <p:txBody>
          <a:bodyPr wrap="square" anchor="t" lIns="0" rIns="0" tIns="0" bIns="0">
            <a:noAutofit/>
          </a:bodyPr>
          <a:lstStyle/>
          <a:p>
            <a:pPr algn="l">
              <a:lnSpc>
                <a:spcPct val="105000"/>
              </a:lnSpc>
              <a:spcBef>
                <a:spcPts val="0"/>
              </a:spcBef>
              <a:spcAft>
                <a:spcPts val="800"/>
              </a:spcAft>
            </a:pPr>
            <a:r>
              <a:rPr sz="1500" b="1">
                <a:solidFill>
                  <a:srgbClr val="1B2733"/>
                </a:solidFill>
                <a:latin typeface="Arial"/>
              </a:rPr>
              <a:t>Propose, never act alone</a:t>
            </a:r>
          </a:p>
          <a:p>
            <a:pPr algn="l">
              <a:lnSpc>
                <a:spcPct val="125000"/>
              </a:lnSpc>
              <a:spcBef>
                <a:spcPts val="0"/>
              </a:spcBef>
              <a:spcAft>
                <a:spcPts val="600"/>
              </a:spcAft>
            </a:pPr>
            <a:r>
              <a:rPr sz="1150" b="0">
                <a:solidFill>
                  <a:srgbClr val="3E4C59"/>
                </a:solidFill>
                <a:latin typeface="Arial"/>
              </a:rPr>
              <a:t>The agent names a fix and stops. It cannot execute a change without an explicit, recorded human approval.</a:t>
            </a:r>
          </a:p>
        </p:txBody>
      </p:sp>
      <p:sp>
        <p:nvSpPr>
          <p:cNvPr id="12" name="Rounded Rectangle 11"/>
          <p:cNvSpPr/>
          <p:nvPr/>
        </p:nvSpPr>
        <p:spPr>
          <a:xfrm>
            <a:off x="4359554" y="1920240"/>
            <a:ext cx="3472586" cy="329184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59554" y="1920240"/>
            <a:ext cx="3472586" cy="777240"/>
          </a:xfrm>
          <a:prstGeom prst="roundRect">
            <a:avLst>
              <a:gd name="adj" fmla="val 5000"/>
            </a:avLst>
          </a:prstGeom>
          <a:solidFill>
            <a:srgbClr val="E0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59554" y="2423160"/>
            <a:ext cx="3472586" cy="274320"/>
          </a:xfrm>
          <a:prstGeom prst="rect">
            <a:avLst/>
          </a:prstGeom>
          <a:solidFill>
            <a:srgbClr val="E0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588154" y="2103120"/>
            <a:ext cx="3015386" cy="457200"/>
          </a:xfrm>
          <a:prstGeom prst="rect">
            <a:avLst/>
          </a:prstGeom>
          <a:noFill/>
        </p:spPr>
        <p:txBody>
          <a:bodyPr wrap="square" anchor="ctr" lIns="0" rIns="0" tIns="0" bIns="0">
            <a:noAutofit/>
          </a:bodyPr>
          <a:lstStyle/>
          <a:p>
            <a:pPr algn="l">
              <a:lnSpc>
                <a:spcPct val="100000"/>
              </a:lnSpc>
              <a:spcBef>
                <a:spcPts val="0"/>
              </a:spcBef>
              <a:spcAft>
                <a:spcPts val="600"/>
              </a:spcAft>
            </a:pPr>
            <a:r>
              <a:rPr sz="2200" b="1">
                <a:solidFill>
                  <a:srgbClr val="0E8FA8"/>
                </a:solidFill>
                <a:latin typeface="Arial"/>
              </a:rPr>
              <a:t>2</a:t>
            </a:r>
          </a:p>
        </p:txBody>
      </p:sp>
      <p:sp>
        <p:nvSpPr>
          <p:cNvPr id="16" name="TextBox 15"/>
          <p:cNvSpPr txBox="1"/>
          <p:nvPr/>
        </p:nvSpPr>
        <p:spPr>
          <a:xfrm>
            <a:off x="4588154" y="2880360"/>
            <a:ext cx="3015386" cy="2194560"/>
          </a:xfrm>
          <a:prstGeom prst="rect">
            <a:avLst/>
          </a:prstGeom>
          <a:noFill/>
        </p:spPr>
        <p:txBody>
          <a:bodyPr wrap="square" anchor="t" lIns="0" rIns="0" tIns="0" bIns="0">
            <a:noAutofit/>
          </a:bodyPr>
          <a:lstStyle/>
          <a:p>
            <a:pPr algn="l">
              <a:lnSpc>
                <a:spcPct val="105000"/>
              </a:lnSpc>
              <a:spcBef>
                <a:spcPts val="0"/>
              </a:spcBef>
              <a:spcAft>
                <a:spcPts val="800"/>
              </a:spcAft>
            </a:pPr>
            <a:r>
              <a:rPr sz="1500" b="1">
                <a:solidFill>
                  <a:srgbClr val="1B2733"/>
                </a:solidFill>
                <a:latin typeface="Arial"/>
              </a:rPr>
              <a:t>A bounded set of actions</a:t>
            </a:r>
          </a:p>
          <a:p>
            <a:pPr algn="l">
              <a:lnSpc>
                <a:spcPct val="125000"/>
              </a:lnSpc>
              <a:spcBef>
                <a:spcPts val="0"/>
              </a:spcBef>
              <a:spcAft>
                <a:spcPts val="600"/>
              </a:spcAft>
            </a:pPr>
            <a:r>
              <a:rPr sz="1150" b="0">
                <a:solidFill>
                  <a:srgbClr val="3E4C59"/>
                </a:solidFill>
                <a:latin typeface="Arial"/>
              </a:rPr>
              <a:t>The agent can only ever propose from a fixed, pre-approved list of fixes — never an arbitrary command.</a:t>
            </a:r>
          </a:p>
        </p:txBody>
      </p:sp>
      <p:sp>
        <p:nvSpPr>
          <p:cNvPr id="17" name="Rounded Rectangle 16"/>
          <p:cNvSpPr/>
          <p:nvPr/>
        </p:nvSpPr>
        <p:spPr>
          <a:xfrm>
            <a:off x="8152180" y="1920240"/>
            <a:ext cx="3472586" cy="329184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152180" y="1920240"/>
            <a:ext cx="3472586" cy="777240"/>
          </a:xfrm>
          <a:prstGeom prst="roundRect">
            <a:avLst>
              <a:gd name="adj" fmla="val 5000"/>
            </a:avLst>
          </a:prstGeom>
          <a:solidFill>
            <a:srgbClr val="ECE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152180" y="2423160"/>
            <a:ext cx="3472586" cy="274320"/>
          </a:xfrm>
          <a:prstGeom prst="rect">
            <a:avLst/>
          </a:prstGeom>
          <a:solidFill>
            <a:srgbClr val="ECE8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380780" y="2103120"/>
            <a:ext cx="3015386" cy="457200"/>
          </a:xfrm>
          <a:prstGeom prst="rect">
            <a:avLst/>
          </a:prstGeom>
          <a:noFill/>
        </p:spPr>
        <p:txBody>
          <a:bodyPr wrap="square" anchor="ctr" lIns="0" rIns="0" tIns="0" bIns="0">
            <a:noAutofit/>
          </a:bodyPr>
          <a:lstStyle/>
          <a:p>
            <a:pPr algn="l">
              <a:lnSpc>
                <a:spcPct val="100000"/>
              </a:lnSpc>
              <a:spcBef>
                <a:spcPts val="0"/>
              </a:spcBef>
              <a:spcAft>
                <a:spcPts val="600"/>
              </a:spcAft>
            </a:pPr>
            <a:r>
              <a:rPr sz="2200" b="1">
                <a:solidFill>
                  <a:srgbClr val="6A4CE0"/>
                </a:solidFill>
                <a:latin typeface="Arial"/>
              </a:rPr>
              <a:t>3</a:t>
            </a:r>
          </a:p>
        </p:txBody>
      </p:sp>
      <p:sp>
        <p:nvSpPr>
          <p:cNvPr id="21" name="TextBox 20"/>
          <p:cNvSpPr txBox="1"/>
          <p:nvPr/>
        </p:nvSpPr>
        <p:spPr>
          <a:xfrm>
            <a:off x="8380780" y="2880360"/>
            <a:ext cx="3015386" cy="2194560"/>
          </a:xfrm>
          <a:prstGeom prst="rect">
            <a:avLst/>
          </a:prstGeom>
          <a:noFill/>
        </p:spPr>
        <p:txBody>
          <a:bodyPr wrap="square" anchor="t" lIns="0" rIns="0" tIns="0" bIns="0">
            <a:noAutofit/>
          </a:bodyPr>
          <a:lstStyle/>
          <a:p>
            <a:pPr algn="l">
              <a:lnSpc>
                <a:spcPct val="105000"/>
              </a:lnSpc>
              <a:spcBef>
                <a:spcPts val="0"/>
              </a:spcBef>
              <a:spcAft>
                <a:spcPts val="800"/>
              </a:spcAft>
            </a:pPr>
            <a:r>
              <a:rPr sz="1500" b="1">
                <a:solidFill>
                  <a:srgbClr val="1B2733"/>
                </a:solidFill>
                <a:latin typeface="Arial"/>
              </a:rPr>
              <a:t>Every action is logged</a:t>
            </a:r>
          </a:p>
          <a:p>
            <a:pPr algn="l">
              <a:lnSpc>
                <a:spcPct val="125000"/>
              </a:lnSpc>
              <a:spcBef>
                <a:spcPts val="0"/>
              </a:spcBef>
              <a:spcAft>
                <a:spcPts val="600"/>
              </a:spcAft>
            </a:pPr>
            <a:r>
              <a:rPr sz="1150" b="0">
                <a:solidFill>
                  <a:srgbClr val="3E4C59"/>
                </a:solidFill>
                <a:latin typeface="Arial"/>
              </a:rPr>
              <a:t>Every proposal, approval, and executed action is recorded in an audit trail.</a:t>
            </a:r>
          </a:p>
        </p:txBody>
      </p:sp>
      <p:sp>
        <p:nvSpPr>
          <p:cNvPr id="22" name="TextBox 21"/>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Executive Overview</a:t>
            </a:r>
          </a:p>
        </p:txBody>
      </p:sp>
      <p:sp>
        <p:nvSpPr>
          <p:cNvPr id="23" name="TextBox 22"/>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10  /  15</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FLEXIBILITY</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No AI vendor lock-in</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874519"/>
            <a:ext cx="6035040" cy="3108960"/>
          </a:xfrm>
          <a:prstGeom prst="rect">
            <a:avLst/>
          </a:prstGeom>
          <a:noFill/>
        </p:spPr>
        <p:txBody>
          <a:bodyPr wrap="square" anchor="t" lIns="0" rIns="0" tIns="0" bIns="0">
            <a:noAutofit/>
          </a:bodyPr>
          <a:lstStyle/>
          <a:p>
            <a:pPr algn="l" marL="256032" indent="-256032">
              <a:lnSpc>
                <a:spcPct val="106000"/>
              </a:lnSpc>
              <a:spcBef>
                <a:spcPts val="0"/>
              </a:spcBef>
              <a:spcAft>
                <a:spcPts val="1300"/>
              </a:spcAft>
              <a:buClr>
                <a:srgbClr val="FF7300"/>
              </a:buClr>
              <a:buFont typeface="Arial"/>
              <a:buChar char="▪"/>
            </a:pPr>
            <a:r>
              <a:rPr sz="1350" b="1">
                <a:solidFill>
                  <a:srgbClr val="1B2733"/>
                </a:solidFill>
                <a:latin typeface="Arial"/>
              </a:rPr>
              <a:t>The AI model is a setting, not a commitment.  </a:t>
            </a:r>
            <a:r>
              <a:rPr sz="1350" b="0">
                <a:solidFill>
                  <a:srgbClr val="1B2733"/>
                </a:solidFill>
                <a:latin typeface="Arial"/>
              </a:rPr>
              <a:t>Switch between AI providers, or run entirely on your own infrastructure, without changing the system.</a:t>
            </a:r>
          </a:p>
          <a:p>
            <a:pPr algn="l" marL="256032" indent="-256032">
              <a:lnSpc>
                <a:spcPct val="106000"/>
              </a:lnSpc>
              <a:spcBef>
                <a:spcPts val="0"/>
              </a:spcBef>
              <a:spcAft>
                <a:spcPts val="1300"/>
              </a:spcAft>
              <a:buClr>
                <a:srgbClr val="FF7300"/>
              </a:buClr>
              <a:buFont typeface="Arial"/>
              <a:buChar char="▪"/>
            </a:pPr>
            <a:r>
              <a:rPr sz="1350" b="1">
                <a:solidFill>
                  <a:srgbClr val="1B2733"/>
                </a:solidFill>
                <a:latin typeface="Arial"/>
              </a:rPr>
              <a:t>Works fully offline if required.  </a:t>
            </a:r>
            <a:r>
              <a:rPr sz="1350" b="0">
                <a:solidFill>
                  <a:srgbClr val="1B2733"/>
                </a:solidFill>
                <a:latin typeface="Arial"/>
              </a:rPr>
              <a:t>A locally-hosted, no-cost model option exists for environments that can't use an outside AI vendor.</a:t>
            </a:r>
          </a:p>
          <a:p>
            <a:pPr algn="l" marL="256032" indent="-256032">
              <a:lnSpc>
                <a:spcPct val="106000"/>
              </a:lnSpc>
              <a:spcBef>
                <a:spcPts val="0"/>
              </a:spcBef>
              <a:spcAft>
                <a:spcPts val="1300"/>
              </a:spcAft>
              <a:buClr>
                <a:srgbClr val="FF7300"/>
              </a:buClr>
              <a:buFont typeface="Arial"/>
              <a:buChar char="▪"/>
            </a:pPr>
            <a:r>
              <a:rPr sz="1350" b="1">
                <a:solidFill>
                  <a:srgbClr val="1B2733"/>
                </a:solidFill>
                <a:latin typeface="Arial"/>
              </a:rPr>
              <a:t>Same investigation, any provider.  </a:t>
            </a:r>
            <a:r>
              <a:rPr sz="1350" b="0">
                <a:solidFill>
                  <a:srgbClr val="1B2733"/>
                </a:solidFill>
                <a:latin typeface="Arial"/>
              </a:rPr>
              <a:t>We've proven the same investigation completes successfully across multiple AI providers with no code changes.</a:t>
            </a:r>
          </a:p>
        </p:txBody>
      </p:sp>
      <p:sp>
        <p:nvSpPr>
          <p:cNvPr id="8" name="Rounded Rectangle 7"/>
          <p:cNvSpPr/>
          <p:nvPr/>
        </p:nvSpPr>
        <p:spPr>
          <a:xfrm>
            <a:off x="7059168" y="1920240"/>
            <a:ext cx="4565599" cy="914400"/>
          </a:xfrm>
          <a:prstGeom prst="roundRect">
            <a:avLst>
              <a:gd name="adj" fmla="val 10000"/>
            </a:avLst>
          </a:prstGeom>
          <a:solidFill>
            <a:srgbClr val="E0F1F5"/>
          </a:solidFill>
          <a:ln w="17780">
            <a:solidFill>
              <a:srgbClr val="0E8F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132320" y="1956816"/>
            <a:ext cx="4419295" cy="841248"/>
          </a:xfrm>
          <a:prstGeom prst="rect">
            <a:avLst/>
          </a:prstGeom>
          <a:noFill/>
        </p:spPr>
        <p:txBody>
          <a:bodyPr wrap="square" anchor="ctr" lIns="0" rIns="0" tIns="0" bIns="0">
            <a:noAutofit/>
          </a:bodyPr>
          <a:lstStyle/>
          <a:p>
            <a:pPr algn="ctr">
              <a:lnSpc>
                <a:spcPct val="100000"/>
              </a:lnSpc>
              <a:spcBef>
                <a:spcPts val="0"/>
              </a:spcBef>
              <a:spcAft>
                <a:spcPts val="200"/>
              </a:spcAft>
            </a:pPr>
            <a:r>
              <a:rPr sz="1350" b="1">
                <a:solidFill>
                  <a:srgbClr val="1B2733"/>
                </a:solidFill>
                <a:latin typeface="Arial"/>
              </a:rPr>
              <a:t>Local model</a:t>
            </a:r>
          </a:p>
          <a:p>
            <a:pPr algn="ctr">
              <a:lnSpc>
                <a:spcPct val="102000"/>
              </a:lnSpc>
              <a:spcBef>
                <a:spcPts val="0"/>
              </a:spcBef>
              <a:spcAft>
                <a:spcPts val="0"/>
              </a:spcAft>
            </a:pPr>
            <a:r>
              <a:rPr sz="1000" b="0">
                <a:solidFill>
                  <a:srgbClr val="6B7885"/>
                </a:solidFill>
                <a:latin typeface="Arial"/>
              </a:rPr>
              <a:t>no cost, offline</a:t>
            </a:r>
          </a:p>
        </p:txBody>
      </p:sp>
      <p:sp>
        <p:nvSpPr>
          <p:cNvPr id="10" name="Rounded Rectangle 9"/>
          <p:cNvSpPr/>
          <p:nvPr/>
        </p:nvSpPr>
        <p:spPr>
          <a:xfrm>
            <a:off x="7059168" y="2999232"/>
            <a:ext cx="4565599" cy="914400"/>
          </a:xfrm>
          <a:prstGeom prst="roundRect">
            <a:avLst>
              <a:gd name="adj" fmla="val 10000"/>
            </a:avLst>
          </a:prstGeom>
          <a:solidFill>
            <a:srgbClr val="FFEBDA"/>
          </a:solidFill>
          <a:ln w="17780">
            <a:solidFill>
              <a:srgbClr val="FF7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132320" y="3035808"/>
            <a:ext cx="4419295" cy="841248"/>
          </a:xfrm>
          <a:prstGeom prst="rect">
            <a:avLst/>
          </a:prstGeom>
          <a:noFill/>
        </p:spPr>
        <p:txBody>
          <a:bodyPr wrap="square" anchor="ctr" lIns="0" rIns="0" tIns="0" bIns="0">
            <a:noAutofit/>
          </a:bodyPr>
          <a:lstStyle/>
          <a:p>
            <a:pPr algn="ctr">
              <a:lnSpc>
                <a:spcPct val="100000"/>
              </a:lnSpc>
              <a:spcBef>
                <a:spcPts val="0"/>
              </a:spcBef>
              <a:spcAft>
                <a:spcPts val="200"/>
              </a:spcAft>
            </a:pPr>
            <a:r>
              <a:rPr sz="1350" b="1">
                <a:solidFill>
                  <a:srgbClr val="1B2733"/>
                </a:solidFill>
                <a:latin typeface="Arial"/>
              </a:rPr>
              <a:t>Cloud providers</a:t>
            </a:r>
          </a:p>
          <a:p>
            <a:pPr algn="ctr">
              <a:lnSpc>
                <a:spcPct val="102000"/>
              </a:lnSpc>
              <a:spcBef>
                <a:spcPts val="0"/>
              </a:spcBef>
              <a:spcAft>
                <a:spcPts val="0"/>
              </a:spcAft>
            </a:pPr>
            <a:r>
              <a:rPr sz="1000" b="0">
                <a:solidFill>
                  <a:srgbClr val="6B7885"/>
                </a:solidFill>
                <a:latin typeface="Arial"/>
              </a:rPr>
              <a:t>your choice of vendor</a:t>
            </a:r>
          </a:p>
        </p:txBody>
      </p:sp>
      <p:sp>
        <p:nvSpPr>
          <p:cNvPr id="12" name="Rounded Rectangle 11"/>
          <p:cNvSpPr/>
          <p:nvPr/>
        </p:nvSpPr>
        <p:spPr>
          <a:xfrm>
            <a:off x="7059168" y="4078224"/>
            <a:ext cx="4565599" cy="914400"/>
          </a:xfrm>
          <a:prstGeom prst="roundRect">
            <a:avLst>
              <a:gd name="adj" fmla="val 10000"/>
            </a:avLst>
          </a:prstGeom>
          <a:solidFill>
            <a:srgbClr val="ECE8FC"/>
          </a:solidFill>
          <a:ln w="17780">
            <a:solidFill>
              <a:srgbClr val="6A4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132320" y="4114800"/>
            <a:ext cx="4419295" cy="841248"/>
          </a:xfrm>
          <a:prstGeom prst="rect">
            <a:avLst/>
          </a:prstGeom>
          <a:noFill/>
        </p:spPr>
        <p:txBody>
          <a:bodyPr wrap="square" anchor="ctr" lIns="0" rIns="0" tIns="0" bIns="0">
            <a:noAutofit/>
          </a:bodyPr>
          <a:lstStyle/>
          <a:p>
            <a:pPr algn="ctr">
              <a:lnSpc>
                <a:spcPct val="100000"/>
              </a:lnSpc>
              <a:spcBef>
                <a:spcPts val="0"/>
              </a:spcBef>
              <a:spcAft>
                <a:spcPts val="200"/>
              </a:spcAft>
            </a:pPr>
            <a:r>
              <a:rPr sz="1350" b="1">
                <a:solidFill>
                  <a:srgbClr val="1B2733"/>
                </a:solidFill>
                <a:latin typeface="Arial"/>
              </a:rPr>
              <a:t>WSO2 gateway</a:t>
            </a:r>
          </a:p>
          <a:p>
            <a:pPr algn="ctr">
              <a:lnSpc>
                <a:spcPct val="102000"/>
              </a:lnSpc>
              <a:spcBef>
                <a:spcPts val="0"/>
              </a:spcBef>
              <a:spcAft>
                <a:spcPts val="0"/>
              </a:spcAft>
            </a:pPr>
            <a:r>
              <a:rPr sz="1000" b="0">
                <a:solidFill>
                  <a:srgbClr val="6B7885"/>
                </a:solidFill>
                <a:latin typeface="Arial"/>
              </a:rPr>
              <a:t>governed, audited access</a:t>
            </a:r>
          </a:p>
        </p:txBody>
      </p:sp>
      <p:sp>
        <p:nvSpPr>
          <p:cNvPr id="14" name="TextBox 13"/>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Executive Overview</a:t>
            </a:r>
          </a:p>
        </p:txBody>
      </p:sp>
      <p:sp>
        <p:nvSpPr>
          <p:cNvPr id="15" name="TextBox 14"/>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11  /  15</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PROOF, NOT PROMISES</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A real 5-minute demonstration</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2011679"/>
            <a:ext cx="2558719" cy="219456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2011679"/>
            <a:ext cx="2558719" cy="82296"/>
          </a:xfrm>
          <a:prstGeom prst="rect">
            <a:avLst/>
          </a:prstGeom>
          <a:solidFill>
            <a:srgbClr val="CE4A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212848"/>
            <a:ext cx="2229535" cy="1828800"/>
          </a:xfrm>
          <a:prstGeom prst="rect">
            <a:avLst/>
          </a:prstGeom>
          <a:noFill/>
        </p:spPr>
        <p:txBody>
          <a:bodyPr wrap="square" anchor="t" lIns="0" rIns="0" tIns="0" bIns="0">
            <a:noAutofit/>
          </a:bodyPr>
          <a:lstStyle/>
          <a:p>
            <a:pPr algn="l">
              <a:lnSpc>
                <a:spcPct val="100000"/>
              </a:lnSpc>
              <a:spcBef>
                <a:spcPts val="0"/>
              </a:spcBef>
              <a:spcAft>
                <a:spcPts val="400"/>
              </a:spcAft>
            </a:pPr>
            <a:r>
              <a:rPr sz="2000" b="1">
                <a:solidFill>
                  <a:srgbClr val="CE4A45"/>
                </a:solidFill>
                <a:latin typeface="Arial"/>
              </a:rPr>
              <a:t>1</a:t>
            </a:r>
          </a:p>
          <a:p>
            <a:pPr algn="l">
              <a:lnSpc>
                <a:spcPct val="105000"/>
              </a:lnSpc>
              <a:spcBef>
                <a:spcPts val="0"/>
              </a:spcBef>
              <a:spcAft>
                <a:spcPts val="600"/>
              </a:spcAft>
            </a:pPr>
            <a:r>
              <a:rPr sz="1300" b="1">
                <a:solidFill>
                  <a:srgbClr val="1B2733"/>
                </a:solidFill>
                <a:latin typeface="Arial"/>
              </a:rPr>
              <a:t>Inject</a:t>
            </a:r>
          </a:p>
          <a:p>
            <a:pPr algn="l">
              <a:lnSpc>
                <a:spcPct val="120000"/>
              </a:lnSpc>
              <a:spcBef>
                <a:spcPts val="0"/>
              </a:spcBef>
              <a:spcAft>
                <a:spcPts val="600"/>
              </a:spcAft>
            </a:pPr>
            <a:r>
              <a:rPr sz="1050" b="0">
                <a:solidFill>
                  <a:srgbClr val="3E4C59"/>
                </a:solidFill>
                <a:latin typeface="Arial"/>
              </a:rPr>
              <a:t>A real fault is introduced into a test service.</a:t>
            </a:r>
          </a:p>
        </p:txBody>
      </p:sp>
      <p:sp>
        <p:nvSpPr>
          <p:cNvPr id="10" name="Rounded Rectangle 9"/>
          <p:cNvSpPr/>
          <p:nvPr/>
        </p:nvSpPr>
        <p:spPr>
          <a:xfrm>
            <a:off x="3399967" y="2011679"/>
            <a:ext cx="2558719" cy="219456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399967" y="2011679"/>
            <a:ext cx="2558719" cy="82296"/>
          </a:xfrm>
          <a:prstGeom prst="rect">
            <a:avLst/>
          </a:prstGeom>
          <a:solidFill>
            <a:srgbClr val="0E8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64559" y="2212848"/>
            <a:ext cx="2229535" cy="1828800"/>
          </a:xfrm>
          <a:prstGeom prst="rect">
            <a:avLst/>
          </a:prstGeom>
          <a:noFill/>
        </p:spPr>
        <p:txBody>
          <a:bodyPr wrap="square" anchor="t" lIns="0" rIns="0" tIns="0" bIns="0">
            <a:noAutofit/>
          </a:bodyPr>
          <a:lstStyle/>
          <a:p>
            <a:pPr algn="l">
              <a:lnSpc>
                <a:spcPct val="100000"/>
              </a:lnSpc>
              <a:spcBef>
                <a:spcPts val="0"/>
              </a:spcBef>
              <a:spcAft>
                <a:spcPts val="400"/>
              </a:spcAft>
            </a:pPr>
            <a:r>
              <a:rPr sz="2000" b="1">
                <a:solidFill>
                  <a:srgbClr val="0E8FA8"/>
                </a:solidFill>
                <a:latin typeface="Arial"/>
              </a:rPr>
              <a:t>2</a:t>
            </a:r>
          </a:p>
          <a:p>
            <a:pPr algn="l">
              <a:lnSpc>
                <a:spcPct val="105000"/>
              </a:lnSpc>
              <a:spcBef>
                <a:spcPts val="0"/>
              </a:spcBef>
              <a:spcAft>
                <a:spcPts val="600"/>
              </a:spcAft>
            </a:pPr>
            <a:r>
              <a:rPr sz="1300" b="1">
                <a:solidFill>
                  <a:srgbClr val="1B2733"/>
                </a:solidFill>
                <a:latin typeface="Arial"/>
              </a:rPr>
              <a:t>Detect &amp; investigate</a:t>
            </a:r>
          </a:p>
          <a:p>
            <a:pPr algn="l">
              <a:lnSpc>
                <a:spcPct val="120000"/>
              </a:lnSpc>
              <a:spcBef>
                <a:spcPts val="0"/>
              </a:spcBef>
              <a:spcAft>
                <a:spcPts val="600"/>
              </a:spcAft>
            </a:pPr>
            <a:r>
              <a:rPr sz="1050" b="0">
                <a:solidFill>
                  <a:srgbClr val="3E4C59"/>
                </a:solidFill>
                <a:latin typeface="Arial"/>
              </a:rPr>
              <a:t>The agent notices and automatically investigates across both platforms.</a:t>
            </a:r>
          </a:p>
        </p:txBody>
      </p:sp>
      <p:sp>
        <p:nvSpPr>
          <p:cNvPr id="13" name="Rounded Rectangle 12"/>
          <p:cNvSpPr/>
          <p:nvPr/>
        </p:nvSpPr>
        <p:spPr>
          <a:xfrm>
            <a:off x="6233007" y="2011679"/>
            <a:ext cx="2558719" cy="219456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33007" y="2011679"/>
            <a:ext cx="2558719" cy="82296"/>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97599" y="2212848"/>
            <a:ext cx="2229535" cy="1828800"/>
          </a:xfrm>
          <a:prstGeom prst="rect">
            <a:avLst/>
          </a:prstGeom>
          <a:noFill/>
        </p:spPr>
        <p:txBody>
          <a:bodyPr wrap="square" anchor="t" lIns="0" rIns="0" tIns="0" bIns="0">
            <a:noAutofit/>
          </a:bodyPr>
          <a:lstStyle/>
          <a:p>
            <a:pPr algn="l">
              <a:lnSpc>
                <a:spcPct val="100000"/>
              </a:lnSpc>
              <a:spcBef>
                <a:spcPts val="0"/>
              </a:spcBef>
              <a:spcAft>
                <a:spcPts val="400"/>
              </a:spcAft>
            </a:pPr>
            <a:r>
              <a:rPr sz="2000" b="1">
                <a:solidFill>
                  <a:srgbClr val="FF7300"/>
                </a:solidFill>
                <a:latin typeface="Arial"/>
              </a:rPr>
              <a:t>3</a:t>
            </a:r>
          </a:p>
          <a:p>
            <a:pPr algn="l">
              <a:lnSpc>
                <a:spcPct val="105000"/>
              </a:lnSpc>
              <a:spcBef>
                <a:spcPts val="0"/>
              </a:spcBef>
              <a:spcAft>
                <a:spcPts val="600"/>
              </a:spcAft>
            </a:pPr>
            <a:r>
              <a:rPr sz="1300" b="1">
                <a:solidFill>
                  <a:srgbClr val="1B2733"/>
                </a:solidFill>
                <a:latin typeface="Arial"/>
              </a:rPr>
              <a:t>Propose &amp; approve</a:t>
            </a:r>
          </a:p>
          <a:p>
            <a:pPr algn="l">
              <a:lnSpc>
                <a:spcPct val="120000"/>
              </a:lnSpc>
              <a:spcBef>
                <a:spcPts val="0"/>
              </a:spcBef>
              <a:spcAft>
                <a:spcPts val="600"/>
              </a:spcAft>
            </a:pPr>
            <a:r>
              <a:rPr sz="1050" b="0">
                <a:solidFill>
                  <a:srgbClr val="3E4C59"/>
                </a:solidFill>
                <a:latin typeface="Arial"/>
              </a:rPr>
              <a:t>It proposes a specific fix; an operator approves it.</a:t>
            </a:r>
          </a:p>
        </p:txBody>
      </p:sp>
      <p:sp>
        <p:nvSpPr>
          <p:cNvPr id="16" name="Rounded Rectangle 15"/>
          <p:cNvSpPr/>
          <p:nvPr/>
        </p:nvSpPr>
        <p:spPr>
          <a:xfrm>
            <a:off x="9066047" y="2011679"/>
            <a:ext cx="2558719" cy="219456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9066047" y="2011679"/>
            <a:ext cx="2558719" cy="82296"/>
          </a:xfrm>
          <a:prstGeom prst="rect">
            <a:avLst/>
          </a:prstGeom>
          <a:solidFill>
            <a:srgbClr val="2E9E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30639" y="2212848"/>
            <a:ext cx="2229535" cy="1828800"/>
          </a:xfrm>
          <a:prstGeom prst="rect">
            <a:avLst/>
          </a:prstGeom>
          <a:noFill/>
        </p:spPr>
        <p:txBody>
          <a:bodyPr wrap="square" anchor="t" lIns="0" rIns="0" tIns="0" bIns="0">
            <a:noAutofit/>
          </a:bodyPr>
          <a:lstStyle/>
          <a:p>
            <a:pPr algn="l">
              <a:lnSpc>
                <a:spcPct val="100000"/>
              </a:lnSpc>
              <a:spcBef>
                <a:spcPts val="0"/>
              </a:spcBef>
              <a:spcAft>
                <a:spcPts val="400"/>
              </a:spcAft>
            </a:pPr>
            <a:r>
              <a:rPr sz="2000" b="1">
                <a:solidFill>
                  <a:srgbClr val="2E9E5B"/>
                </a:solidFill>
                <a:latin typeface="Arial"/>
              </a:rPr>
              <a:t>4</a:t>
            </a:r>
          </a:p>
          <a:p>
            <a:pPr algn="l">
              <a:lnSpc>
                <a:spcPct val="105000"/>
              </a:lnSpc>
              <a:spcBef>
                <a:spcPts val="0"/>
              </a:spcBef>
              <a:spcAft>
                <a:spcPts val="600"/>
              </a:spcAft>
            </a:pPr>
            <a:r>
              <a:rPr sz="1300" b="1">
                <a:solidFill>
                  <a:srgbClr val="1B2733"/>
                </a:solidFill>
                <a:latin typeface="Arial"/>
              </a:rPr>
              <a:t>Recover</a:t>
            </a:r>
          </a:p>
          <a:p>
            <a:pPr algn="l">
              <a:lnSpc>
                <a:spcPct val="120000"/>
              </a:lnSpc>
              <a:spcBef>
                <a:spcPts val="0"/>
              </a:spcBef>
              <a:spcAft>
                <a:spcPts val="600"/>
              </a:spcAft>
            </a:pPr>
            <a:r>
              <a:rPr sz="1050" b="0">
                <a:solidFill>
                  <a:srgbClr val="3E4C59"/>
                </a:solidFill>
                <a:latin typeface="Arial"/>
              </a:rPr>
              <a:t>The fix runs and the system returns to healthy — automatically documented.</a:t>
            </a:r>
          </a:p>
        </p:txBody>
      </p:sp>
      <p:sp>
        <p:nvSpPr>
          <p:cNvPr id="19" name="Rounded Rectangle 18"/>
          <p:cNvSpPr/>
          <p:nvPr/>
        </p:nvSpPr>
        <p:spPr>
          <a:xfrm>
            <a:off x="566928" y="4480560"/>
            <a:ext cx="11057839" cy="868680"/>
          </a:xfrm>
          <a:prstGeom prst="roundRect">
            <a:avLst>
              <a:gd name="adj" fmla="val 4500"/>
            </a:avLst>
          </a:prstGeom>
          <a:solidFill>
            <a:srgbClr val="FFEB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4480560"/>
            <a:ext cx="91440" cy="86868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4608576"/>
            <a:ext cx="10673791" cy="612647"/>
          </a:xfrm>
          <a:prstGeom prst="rect">
            <a:avLst/>
          </a:prstGeom>
          <a:noFill/>
        </p:spPr>
        <p:txBody>
          <a:bodyPr wrap="square" anchor="ctr" lIns="0" rIns="0" tIns="0" bIns="0">
            <a:noAutofit/>
          </a:bodyPr>
          <a:lstStyle/>
          <a:p>
            <a:pPr algn="l">
              <a:lnSpc>
                <a:spcPct val="100000"/>
              </a:lnSpc>
              <a:spcBef>
                <a:spcPts val="0"/>
              </a:spcBef>
              <a:spcAft>
                <a:spcPts val="300"/>
              </a:spcAft>
            </a:pPr>
            <a:r>
              <a:rPr sz="1200" b="1">
                <a:solidFill>
                  <a:srgbClr val="FF7300"/>
                </a:solidFill>
                <a:latin typeface="Arial"/>
              </a:rPr>
              <a:t>◆  Runs on a laptop, no live accounts required</a:t>
            </a:r>
          </a:p>
          <a:p>
            <a:pPr algn="l">
              <a:lnSpc>
                <a:spcPct val="112000"/>
              </a:lnSpc>
              <a:spcBef>
                <a:spcPts val="0"/>
              </a:spcBef>
              <a:spcAft>
                <a:spcPts val="0"/>
              </a:spcAft>
            </a:pPr>
            <a:r>
              <a:rPr sz="1050" b="0">
                <a:solidFill>
                  <a:srgbClr val="3E4C59"/>
                </a:solidFill>
                <a:latin typeface="Arial"/>
              </a:rPr>
              <a:t>This can be demonstrated live, end to end, in under five minutes — including for a client, on the spot.</a:t>
            </a:r>
          </a:p>
        </p:txBody>
      </p:sp>
      <p:sp>
        <p:nvSpPr>
          <p:cNvPr id="22" name="TextBox 21"/>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Executive Overview</a:t>
            </a:r>
          </a:p>
        </p:txBody>
      </p:sp>
      <p:sp>
        <p:nvSpPr>
          <p:cNvPr id="23" name="TextBox 22"/>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12  /  15</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WHERE THINGS STAND</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Our read, and what would decide it</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1828800"/>
            <a:ext cx="11057839" cy="914400"/>
          </a:xfrm>
          <a:prstGeom prst="roundRect">
            <a:avLst>
              <a:gd name="adj" fmla="val 4500"/>
            </a:avLst>
          </a:prstGeom>
          <a:solidFill>
            <a:srgbClr val="FFEBDA"/>
          </a:solidFill>
          <a:ln w="12700">
            <a:solidFill>
              <a:srgbClr val="FF73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828800"/>
            <a:ext cx="10509199" cy="914400"/>
          </a:xfrm>
          <a:prstGeom prst="rect">
            <a:avLst/>
          </a:prstGeom>
          <a:noFill/>
        </p:spPr>
        <p:txBody>
          <a:bodyPr wrap="square" anchor="ctr" lIns="0" rIns="0" tIns="0" bIns="0">
            <a:noAutofit/>
          </a:bodyPr>
          <a:lstStyle/>
          <a:p>
            <a:pPr algn="ctr">
              <a:lnSpc>
                <a:spcPct val="115000"/>
              </a:lnSpc>
              <a:spcBef>
                <a:spcPts val="0"/>
              </a:spcBef>
              <a:spcAft>
                <a:spcPts val="600"/>
              </a:spcAft>
            </a:pPr>
            <a:r>
              <a:rPr sz="1350" b="1">
                <a:solidFill>
                  <a:srgbClr val="C85A00"/>
                </a:solidFill>
                <a:latin typeface="Arial"/>
              </a:rPr>
              <a:t>Both approaches are production-viable on a real AI model. Ballerina measured faster; LangChain offers a code-enforced approval gate and a larger talent pool.</a:t>
            </a:r>
          </a:p>
        </p:txBody>
      </p:sp>
      <p:sp>
        <p:nvSpPr>
          <p:cNvPr id="9" name="Rounded Rectangle 8"/>
          <p:cNvSpPr/>
          <p:nvPr/>
        </p:nvSpPr>
        <p:spPr>
          <a:xfrm>
            <a:off x="566928" y="2971800"/>
            <a:ext cx="5346039" cy="2651760"/>
          </a:xfrm>
          <a:prstGeom prst="roundRect">
            <a:avLst>
              <a:gd name="adj" fmla="val 4500"/>
            </a:avLst>
          </a:prstGeom>
          <a:solidFill>
            <a:srgbClr val="E0F1F5"/>
          </a:solidFill>
          <a:ln w="12700">
            <a:solidFill>
              <a:srgbClr val="0E8F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68096" y="3191256"/>
            <a:ext cx="82296" cy="237744"/>
          </a:xfrm>
          <a:prstGeom prst="rect">
            <a:avLst/>
          </a:prstGeom>
          <a:solidFill>
            <a:srgbClr val="0A6E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9264" y="3154680"/>
            <a:ext cx="4742535" cy="310896"/>
          </a:xfrm>
          <a:prstGeom prst="rect">
            <a:avLst/>
          </a:prstGeom>
          <a:noFill/>
        </p:spPr>
        <p:txBody>
          <a:bodyPr wrap="square" anchor="ctr" lIns="0" rIns="0" tIns="0" bIns="0">
            <a:noAutofit/>
          </a:bodyPr>
          <a:lstStyle/>
          <a:p>
            <a:pPr algn="l">
              <a:lnSpc>
                <a:spcPct val="100000"/>
              </a:lnSpc>
              <a:spcBef>
                <a:spcPts val="0"/>
              </a:spcBef>
              <a:spcAft>
                <a:spcPts val="600"/>
              </a:spcAft>
            </a:pPr>
            <a:r>
              <a:rPr sz="1350" b="1">
                <a:solidFill>
                  <a:srgbClr val="1B2733"/>
                </a:solidFill>
                <a:latin typeface="Arial"/>
              </a:rPr>
              <a:t>Favors Ballerina + Proxy</a:t>
            </a:r>
          </a:p>
        </p:txBody>
      </p:sp>
      <p:sp>
        <p:nvSpPr>
          <p:cNvPr id="12" name="TextBox 11"/>
          <p:cNvSpPr txBox="1"/>
          <p:nvPr/>
        </p:nvSpPr>
        <p:spPr>
          <a:xfrm>
            <a:off x="841247" y="3593592"/>
            <a:ext cx="4797399" cy="1828800"/>
          </a:xfrm>
          <a:prstGeom prst="rect">
            <a:avLst/>
          </a:prstGeom>
          <a:noFill/>
        </p:spPr>
        <p:txBody>
          <a:bodyPr wrap="square" anchor="t" lIns="0" rIns="0" tIns="0" bIns="0">
            <a:noAutofit/>
          </a:bodyPr>
          <a:lstStyle/>
          <a:p>
            <a:pPr algn="l" marL="256032" indent="-256032">
              <a:lnSpc>
                <a:spcPct val="106000"/>
              </a:lnSpc>
              <a:spcBef>
                <a:spcPts val="0"/>
              </a:spcBef>
              <a:spcAft>
                <a:spcPts val="1000"/>
              </a:spcAft>
              <a:buClr>
                <a:srgbClr val="0E8FA8"/>
              </a:buClr>
              <a:buFont typeface="Arial"/>
              <a:buChar char="▪"/>
            </a:pPr>
            <a:r>
              <a:rPr sz="1200" b="0">
                <a:solidFill>
                  <a:srgbClr val="1B2733"/>
                </a:solidFill>
                <a:latin typeface="Arial"/>
              </a:rPr>
              <a:t>Standardizing on our own WSO2 platform.</a:t>
            </a:r>
          </a:p>
          <a:p>
            <a:pPr algn="l" marL="256032" indent="-256032">
              <a:lnSpc>
                <a:spcPct val="106000"/>
              </a:lnSpc>
              <a:spcBef>
                <a:spcPts val="0"/>
              </a:spcBef>
              <a:spcAft>
                <a:spcPts val="1000"/>
              </a:spcAft>
              <a:buClr>
                <a:srgbClr val="0E8FA8"/>
              </a:buClr>
              <a:buFont typeface="Arial"/>
              <a:buChar char="▪"/>
            </a:pPr>
            <a:r>
              <a:rPr sz="1200" b="0">
                <a:solidFill>
                  <a:srgbClr val="1B2733"/>
                </a:solidFill>
                <a:latin typeface="Arial"/>
              </a:rPr>
              <a:t>Fewest components to run and secure.</a:t>
            </a:r>
          </a:p>
          <a:p>
            <a:pPr algn="l" marL="256032" indent="-256032">
              <a:lnSpc>
                <a:spcPct val="106000"/>
              </a:lnSpc>
              <a:spcBef>
                <a:spcPts val="0"/>
              </a:spcBef>
              <a:spcAft>
                <a:spcPts val="1000"/>
              </a:spcAft>
              <a:buClr>
                <a:srgbClr val="0E8FA8"/>
              </a:buClr>
              <a:buFont typeface="Arial"/>
              <a:buChar char="▪"/>
            </a:pPr>
            <a:r>
              <a:rPr sz="1200" b="0">
                <a:solidFill>
                  <a:srgbClr val="1B2733"/>
                </a:solidFill>
                <a:latin typeface="Arial"/>
              </a:rPr>
              <a:t>Faster measured response time.</a:t>
            </a:r>
          </a:p>
        </p:txBody>
      </p:sp>
      <p:sp>
        <p:nvSpPr>
          <p:cNvPr id="13" name="Rounded Rectangle 12"/>
          <p:cNvSpPr/>
          <p:nvPr/>
        </p:nvSpPr>
        <p:spPr>
          <a:xfrm>
            <a:off x="6278727" y="2971800"/>
            <a:ext cx="5346039" cy="2651760"/>
          </a:xfrm>
          <a:prstGeom prst="roundRect">
            <a:avLst>
              <a:gd name="adj" fmla="val 4500"/>
            </a:avLst>
          </a:prstGeom>
          <a:solidFill>
            <a:srgbClr val="ECE8FC"/>
          </a:solidFill>
          <a:ln w="12700">
            <a:solidFill>
              <a:srgbClr val="6A4C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479895" y="3191256"/>
            <a:ext cx="82296" cy="237744"/>
          </a:xfrm>
          <a:prstGeom prst="rect">
            <a:avLst/>
          </a:prstGeom>
          <a:solidFill>
            <a:srgbClr val="5138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681063" y="3154680"/>
            <a:ext cx="4742535" cy="310896"/>
          </a:xfrm>
          <a:prstGeom prst="rect">
            <a:avLst/>
          </a:prstGeom>
          <a:noFill/>
        </p:spPr>
        <p:txBody>
          <a:bodyPr wrap="square" anchor="ctr" lIns="0" rIns="0" tIns="0" bIns="0">
            <a:noAutofit/>
          </a:bodyPr>
          <a:lstStyle/>
          <a:p>
            <a:pPr algn="l">
              <a:lnSpc>
                <a:spcPct val="100000"/>
              </a:lnSpc>
              <a:spcBef>
                <a:spcPts val="0"/>
              </a:spcBef>
              <a:spcAft>
                <a:spcPts val="600"/>
              </a:spcAft>
            </a:pPr>
            <a:r>
              <a:rPr sz="1350" b="1">
                <a:solidFill>
                  <a:srgbClr val="1B2733"/>
                </a:solidFill>
                <a:latin typeface="Arial"/>
              </a:rPr>
              <a:t>Favors LangChain + A2A</a:t>
            </a:r>
          </a:p>
        </p:txBody>
      </p:sp>
      <p:sp>
        <p:nvSpPr>
          <p:cNvPr id="16" name="TextBox 15"/>
          <p:cNvSpPr txBox="1"/>
          <p:nvPr/>
        </p:nvSpPr>
        <p:spPr>
          <a:xfrm>
            <a:off x="6553047" y="3593592"/>
            <a:ext cx="4797399" cy="1828800"/>
          </a:xfrm>
          <a:prstGeom prst="rect">
            <a:avLst/>
          </a:prstGeom>
          <a:noFill/>
        </p:spPr>
        <p:txBody>
          <a:bodyPr wrap="square" anchor="t" lIns="0" rIns="0" tIns="0" bIns="0">
            <a:noAutofit/>
          </a:bodyPr>
          <a:lstStyle/>
          <a:p>
            <a:pPr algn="l" marL="256032" indent="-256032">
              <a:lnSpc>
                <a:spcPct val="106000"/>
              </a:lnSpc>
              <a:spcBef>
                <a:spcPts val="0"/>
              </a:spcBef>
              <a:spcAft>
                <a:spcPts val="1000"/>
              </a:spcAft>
              <a:buClr>
                <a:srgbClr val="6A4CE0"/>
              </a:buClr>
              <a:buFont typeface="Arial"/>
              <a:buChar char="▪"/>
            </a:pPr>
            <a:r>
              <a:rPr sz="1200" b="0">
                <a:solidFill>
                  <a:srgbClr val="1B2733"/>
                </a:solidFill>
                <a:latin typeface="Arial"/>
              </a:rPr>
              <a:t>Teams already build in Python.</a:t>
            </a:r>
          </a:p>
          <a:p>
            <a:pPr algn="l" marL="256032" indent="-256032">
              <a:lnSpc>
                <a:spcPct val="106000"/>
              </a:lnSpc>
              <a:spcBef>
                <a:spcPts val="0"/>
              </a:spcBef>
              <a:spcAft>
                <a:spcPts val="1000"/>
              </a:spcAft>
              <a:buClr>
                <a:srgbClr val="6A4CE0"/>
              </a:buClr>
              <a:buFont typeface="Arial"/>
              <a:buChar char="▪"/>
            </a:pPr>
            <a:r>
              <a:rPr sz="1200" b="0">
                <a:solidFill>
                  <a:srgbClr val="1B2733"/>
                </a:solidFill>
                <a:latin typeface="Arial"/>
              </a:rPr>
              <a:t>Approval gate enforced in code, by design.</a:t>
            </a:r>
          </a:p>
          <a:p>
            <a:pPr algn="l" marL="256032" indent="-256032">
              <a:lnSpc>
                <a:spcPct val="106000"/>
              </a:lnSpc>
              <a:spcBef>
                <a:spcPts val="0"/>
              </a:spcBef>
              <a:spcAft>
                <a:spcPts val="1000"/>
              </a:spcAft>
              <a:buClr>
                <a:srgbClr val="6A4CE0"/>
              </a:buClr>
              <a:buFont typeface="Arial"/>
              <a:buChar char="▪"/>
            </a:pPr>
            <a:r>
              <a:rPr sz="1200" b="0">
                <a:solidFill>
                  <a:srgbClr val="1B2733"/>
                </a:solidFill>
                <a:latin typeface="Arial"/>
              </a:rPr>
              <a:t>Broadest hiring and support pool.</a:t>
            </a:r>
          </a:p>
        </p:txBody>
      </p:sp>
      <p:sp>
        <p:nvSpPr>
          <p:cNvPr id="17" name="TextBox 16"/>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Executive Overview</a:t>
            </a:r>
          </a:p>
        </p:txBody>
      </p:sp>
      <p:sp>
        <p:nvSpPr>
          <p:cNvPr id="18" name="TextBox 17"/>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13  /  15</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566928" y="512064"/>
            <a:ext cx="310896" cy="9144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402336"/>
            <a:ext cx="10637215" cy="274320"/>
          </a:xfrm>
          <a:prstGeom prst="rect">
            <a:avLst/>
          </a:prstGeom>
          <a:noFill/>
        </p:spPr>
        <p:txBody>
          <a:bodyPr wrap="square" anchor="ctr" lIns="0" rIns="0" tIns="0" bIns="0">
            <a:noAutofit/>
          </a:bodyPr>
          <a:lstStyle/>
          <a:p>
            <a:pPr algn="l">
              <a:lnSpc>
                <a:spcPct val="100000"/>
              </a:lnSpc>
              <a:spcBef>
                <a:spcPts val="0"/>
              </a:spcBef>
              <a:spcAft>
                <a:spcPts val="600"/>
              </a:spcAft>
            </a:pPr>
            <a:r>
              <a:rPr sz="1100" b="1">
                <a:solidFill>
                  <a:srgbClr val="FF7300"/>
                </a:solidFill>
                <a:latin typeface="Arial"/>
              </a:rPr>
              <a:t>NEXT STEPS</a:t>
            </a:r>
          </a:p>
        </p:txBody>
      </p:sp>
      <p:sp>
        <p:nvSpPr>
          <p:cNvPr id="5" name="TextBox 4"/>
          <p:cNvSpPr txBox="1"/>
          <p:nvPr/>
        </p:nvSpPr>
        <p:spPr>
          <a:xfrm>
            <a:off x="566928" y="749808"/>
            <a:ext cx="11057839" cy="786384"/>
          </a:xfrm>
          <a:prstGeom prst="rect">
            <a:avLst/>
          </a:prstGeom>
          <a:noFill/>
        </p:spPr>
        <p:txBody>
          <a:bodyPr wrap="square" anchor="t" lIns="0" rIns="0" tIns="0" bIns="0">
            <a:noAutofit/>
          </a:bodyPr>
          <a:lstStyle/>
          <a:p>
            <a:pPr algn="l">
              <a:lnSpc>
                <a:spcPct val="100000"/>
              </a:lnSpc>
              <a:spcBef>
                <a:spcPts val="0"/>
              </a:spcBef>
              <a:spcAft>
                <a:spcPts val="600"/>
              </a:spcAft>
            </a:pPr>
            <a:r>
              <a:rPr sz="2700" b="1">
                <a:solidFill>
                  <a:srgbClr val="1B2733"/>
                </a:solidFill>
                <a:latin typeface="Arial"/>
              </a:rPr>
              <a:t>Path to a production pilot</a:t>
            </a:r>
          </a:p>
        </p:txBody>
      </p:sp>
      <p:sp>
        <p:nvSpPr>
          <p:cNvPr id="6" name="Rectangle 5"/>
          <p:cNvSpPr/>
          <p:nvPr/>
        </p:nvSpPr>
        <p:spPr>
          <a:xfrm>
            <a:off x="566928" y="1517904"/>
            <a:ext cx="11057839" cy="12801"/>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66928" y="2011679"/>
            <a:ext cx="11057839" cy="82296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194560"/>
            <a:ext cx="457200" cy="457200"/>
          </a:xfrm>
          <a:prstGeom prst="ellipse">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194560"/>
            <a:ext cx="457200" cy="457200"/>
          </a:xfrm>
          <a:prstGeom prst="rect">
            <a:avLst/>
          </a:prstGeom>
          <a:noFill/>
        </p:spPr>
        <p:txBody>
          <a:bodyPr wrap="square" anchor="ctr" lIns="0" rIns="0" tIns="0" bIns="0">
            <a:noAutofit/>
          </a:bodyPr>
          <a:lstStyle/>
          <a:p>
            <a:pPr algn="ctr">
              <a:lnSpc>
                <a:spcPct val="100000"/>
              </a:lnSpc>
              <a:spcBef>
                <a:spcPts val="0"/>
              </a:spcBef>
              <a:spcAft>
                <a:spcPts val="600"/>
              </a:spcAft>
            </a:pPr>
            <a:r>
              <a:rPr sz="1700" b="1">
                <a:solidFill>
                  <a:srgbClr val="FFFFFF"/>
                </a:solidFill>
                <a:latin typeface="Arial"/>
              </a:rPr>
              <a:t>1</a:t>
            </a:r>
          </a:p>
        </p:txBody>
      </p:sp>
      <p:sp>
        <p:nvSpPr>
          <p:cNvPr id="10" name="TextBox 9"/>
          <p:cNvSpPr txBox="1"/>
          <p:nvPr/>
        </p:nvSpPr>
        <p:spPr>
          <a:xfrm>
            <a:off x="1344168" y="2011679"/>
            <a:ext cx="10051999" cy="822960"/>
          </a:xfrm>
          <a:prstGeom prst="rect">
            <a:avLst/>
          </a:prstGeom>
          <a:noFill/>
        </p:spPr>
        <p:txBody>
          <a:bodyPr wrap="square" anchor="ctr" lIns="0" rIns="0" tIns="0" bIns="0">
            <a:noAutofit/>
          </a:bodyPr>
          <a:lstStyle/>
          <a:p>
            <a:pPr algn="l">
              <a:lnSpc>
                <a:spcPct val="115000"/>
              </a:lnSpc>
              <a:spcBef>
                <a:spcPts val="0"/>
              </a:spcBef>
              <a:spcAft>
                <a:spcPts val="600"/>
              </a:spcAft>
            </a:pPr>
            <a:r>
              <a:rPr sz="1350" b="0">
                <a:solidFill>
                  <a:srgbClr val="1B2733"/>
                </a:solidFill>
                <a:latin typeface="Arial"/>
              </a:rPr>
              <a:t>Choose a direction — or run a short pilot of both against a real, low-risk service.</a:t>
            </a:r>
          </a:p>
        </p:txBody>
      </p:sp>
      <p:sp>
        <p:nvSpPr>
          <p:cNvPr id="11" name="Rounded Rectangle 10"/>
          <p:cNvSpPr/>
          <p:nvPr/>
        </p:nvSpPr>
        <p:spPr>
          <a:xfrm>
            <a:off x="566928" y="2999232"/>
            <a:ext cx="11057839" cy="82296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al 11"/>
          <p:cNvSpPr/>
          <p:nvPr/>
        </p:nvSpPr>
        <p:spPr>
          <a:xfrm>
            <a:off x="731520" y="3182112"/>
            <a:ext cx="457200" cy="457200"/>
          </a:xfrm>
          <a:prstGeom prst="ellipse">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3182112"/>
            <a:ext cx="457200" cy="457200"/>
          </a:xfrm>
          <a:prstGeom prst="rect">
            <a:avLst/>
          </a:prstGeom>
          <a:noFill/>
        </p:spPr>
        <p:txBody>
          <a:bodyPr wrap="square" anchor="ctr" lIns="0" rIns="0" tIns="0" bIns="0">
            <a:noAutofit/>
          </a:bodyPr>
          <a:lstStyle/>
          <a:p>
            <a:pPr algn="ctr">
              <a:lnSpc>
                <a:spcPct val="100000"/>
              </a:lnSpc>
              <a:spcBef>
                <a:spcPts val="0"/>
              </a:spcBef>
              <a:spcAft>
                <a:spcPts val="600"/>
              </a:spcAft>
            </a:pPr>
            <a:r>
              <a:rPr sz="1700" b="1">
                <a:solidFill>
                  <a:srgbClr val="FFFFFF"/>
                </a:solidFill>
                <a:latin typeface="Arial"/>
              </a:rPr>
              <a:t>2</a:t>
            </a:r>
          </a:p>
        </p:txBody>
      </p:sp>
      <p:sp>
        <p:nvSpPr>
          <p:cNvPr id="14" name="TextBox 13"/>
          <p:cNvSpPr txBox="1"/>
          <p:nvPr/>
        </p:nvSpPr>
        <p:spPr>
          <a:xfrm>
            <a:off x="1344168" y="2999232"/>
            <a:ext cx="10051999" cy="822960"/>
          </a:xfrm>
          <a:prstGeom prst="rect">
            <a:avLst/>
          </a:prstGeom>
          <a:noFill/>
        </p:spPr>
        <p:txBody>
          <a:bodyPr wrap="square" anchor="ctr" lIns="0" rIns="0" tIns="0" bIns="0">
            <a:noAutofit/>
          </a:bodyPr>
          <a:lstStyle/>
          <a:p>
            <a:pPr algn="l">
              <a:lnSpc>
                <a:spcPct val="115000"/>
              </a:lnSpc>
              <a:spcBef>
                <a:spcPts val="0"/>
              </a:spcBef>
              <a:spcAft>
                <a:spcPts val="600"/>
              </a:spcAft>
            </a:pPr>
            <a:r>
              <a:rPr sz="1350" b="0">
                <a:solidFill>
                  <a:srgbClr val="1B2733"/>
                </a:solidFill>
                <a:latin typeface="Arial"/>
              </a:rPr>
              <a:t>Connect it to your live logging and monitoring platforms (no code changes required).</a:t>
            </a:r>
          </a:p>
        </p:txBody>
      </p:sp>
      <p:sp>
        <p:nvSpPr>
          <p:cNvPr id="15" name="Rounded Rectangle 14"/>
          <p:cNvSpPr/>
          <p:nvPr/>
        </p:nvSpPr>
        <p:spPr>
          <a:xfrm>
            <a:off x="566928" y="3986783"/>
            <a:ext cx="11057839" cy="82296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731520" y="4169663"/>
            <a:ext cx="457200" cy="457200"/>
          </a:xfrm>
          <a:prstGeom prst="ellipse">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31520" y="4169663"/>
            <a:ext cx="457200" cy="457200"/>
          </a:xfrm>
          <a:prstGeom prst="rect">
            <a:avLst/>
          </a:prstGeom>
          <a:noFill/>
        </p:spPr>
        <p:txBody>
          <a:bodyPr wrap="square" anchor="ctr" lIns="0" rIns="0" tIns="0" bIns="0">
            <a:noAutofit/>
          </a:bodyPr>
          <a:lstStyle/>
          <a:p>
            <a:pPr algn="ctr">
              <a:lnSpc>
                <a:spcPct val="100000"/>
              </a:lnSpc>
              <a:spcBef>
                <a:spcPts val="0"/>
              </a:spcBef>
              <a:spcAft>
                <a:spcPts val="600"/>
              </a:spcAft>
            </a:pPr>
            <a:r>
              <a:rPr sz="1700" b="1">
                <a:solidFill>
                  <a:srgbClr val="FFFFFF"/>
                </a:solidFill>
                <a:latin typeface="Arial"/>
              </a:rPr>
              <a:t>3</a:t>
            </a:r>
          </a:p>
        </p:txBody>
      </p:sp>
      <p:sp>
        <p:nvSpPr>
          <p:cNvPr id="18" name="TextBox 17"/>
          <p:cNvSpPr txBox="1"/>
          <p:nvPr/>
        </p:nvSpPr>
        <p:spPr>
          <a:xfrm>
            <a:off x="1344168" y="3986783"/>
            <a:ext cx="10051999" cy="822960"/>
          </a:xfrm>
          <a:prstGeom prst="rect">
            <a:avLst/>
          </a:prstGeom>
          <a:noFill/>
        </p:spPr>
        <p:txBody>
          <a:bodyPr wrap="square" anchor="ctr" lIns="0" rIns="0" tIns="0" bIns="0">
            <a:noAutofit/>
          </a:bodyPr>
          <a:lstStyle/>
          <a:p>
            <a:pPr algn="l">
              <a:lnSpc>
                <a:spcPct val="115000"/>
              </a:lnSpc>
              <a:spcBef>
                <a:spcPts val="0"/>
              </a:spcBef>
              <a:spcAft>
                <a:spcPts val="600"/>
              </a:spcAft>
            </a:pPr>
            <a:r>
              <a:rPr sz="1350" b="0">
                <a:solidFill>
                  <a:srgbClr val="1B2733"/>
                </a:solidFill>
                <a:latin typeface="Arial"/>
              </a:rPr>
              <a:t>Finalize the approval workflow and audit requirements with your compliance team.</a:t>
            </a:r>
          </a:p>
        </p:txBody>
      </p:sp>
      <p:sp>
        <p:nvSpPr>
          <p:cNvPr id="19" name="Rounded Rectangle 18"/>
          <p:cNvSpPr/>
          <p:nvPr/>
        </p:nvSpPr>
        <p:spPr>
          <a:xfrm>
            <a:off x="566928" y="4974336"/>
            <a:ext cx="11057839" cy="822960"/>
          </a:xfrm>
          <a:prstGeom prst="roundRect">
            <a:avLst>
              <a:gd name="adj" fmla="val 4500"/>
            </a:avLst>
          </a:prstGeom>
          <a:solidFill>
            <a:srgbClr val="FFFFFF"/>
          </a:solidFill>
          <a:ln w="1270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731520" y="5157216"/>
            <a:ext cx="457200" cy="457200"/>
          </a:xfrm>
          <a:prstGeom prst="ellipse">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5157216"/>
            <a:ext cx="457200" cy="457200"/>
          </a:xfrm>
          <a:prstGeom prst="rect">
            <a:avLst/>
          </a:prstGeom>
          <a:noFill/>
        </p:spPr>
        <p:txBody>
          <a:bodyPr wrap="square" anchor="ctr" lIns="0" rIns="0" tIns="0" bIns="0">
            <a:noAutofit/>
          </a:bodyPr>
          <a:lstStyle/>
          <a:p>
            <a:pPr algn="ctr">
              <a:lnSpc>
                <a:spcPct val="100000"/>
              </a:lnSpc>
              <a:spcBef>
                <a:spcPts val="0"/>
              </a:spcBef>
              <a:spcAft>
                <a:spcPts val="600"/>
              </a:spcAft>
            </a:pPr>
            <a:r>
              <a:rPr sz="1700" b="1">
                <a:solidFill>
                  <a:srgbClr val="FFFFFF"/>
                </a:solidFill>
                <a:latin typeface="Arial"/>
              </a:rPr>
              <a:t>4</a:t>
            </a:r>
          </a:p>
        </p:txBody>
      </p:sp>
      <p:sp>
        <p:nvSpPr>
          <p:cNvPr id="22" name="TextBox 21"/>
          <p:cNvSpPr txBox="1"/>
          <p:nvPr/>
        </p:nvSpPr>
        <p:spPr>
          <a:xfrm>
            <a:off x="1344168" y="4974336"/>
            <a:ext cx="10051999" cy="822960"/>
          </a:xfrm>
          <a:prstGeom prst="rect">
            <a:avLst/>
          </a:prstGeom>
          <a:noFill/>
        </p:spPr>
        <p:txBody>
          <a:bodyPr wrap="square" anchor="ctr" lIns="0" rIns="0" tIns="0" bIns="0">
            <a:noAutofit/>
          </a:bodyPr>
          <a:lstStyle/>
          <a:p>
            <a:pPr algn="l">
              <a:lnSpc>
                <a:spcPct val="115000"/>
              </a:lnSpc>
              <a:spcBef>
                <a:spcPts val="0"/>
              </a:spcBef>
              <a:spcAft>
                <a:spcPts val="600"/>
              </a:spcAft>
            </a:pPr>
            <a:r>
              <a:rPr sz="1350" b="0">
                <a:solidFill>
                  <a:srgbClr val="1B2733"/>
                </a:solidFill>
                <a:latin typeface="Arial"/>
              </a:rPr>
              <a:t>Run a live, supervised pilot on a non-critical service before wider rollout.</a:t>
            </a:r>
          </a:p>
        </p:txBody>
      </p:sp>
      <p:sp>
        <p:nvSpPr>
          <p:cNvPr id="23" name="TextBox 22"/>
          <p:cNvSpPr txBox="1"/>
          <p:nvPr/>
        </p:nvSpPr>
        <p:spPr>
          <a:xfrm>
            <a:off x="566928" y="6510528"/>
            <a:ext cx="9777679" cy="256032"/>
          </a:xfrm>
          <a:prstGeom prst="rect">
            <a:avLst/>
          </a:prstGeom>
          <a:noFill/>
        </p:spPr>
        <p:txBody>
          <a:bodyPr wrap="square" anchor="ctr" lIns="0" rIns="0" tIns="0" bIns="0">
            <a:noAutofit/>
          </a:bodyPr>
          <a:lstStyle/>
          <a:p>
            <a:pPr algn="l">
              <a:lnSpc>
                <a:spcPct val="100000"/>
              </a:lnSpc>
              <a:spcBef>
                <a:spcPts val="0"/>
              </a:spcBef>
              <a:spcAft>
                <a:spcPts val="600"/>
              </a:spcAft>
            </a:pPr>
            <a:r>
              <a:rPr sz="800" b="0">
                <a:solidFill>
                  <a:srgbClr val="9AA5B1"/>
                </a:solidFill>
                <a:latin typeface="Arial"/>
              </a:rPr>
              <a:t>DevOps OverSight Agent  ·  Executive Overview</a:t>
            </a:r>
          </a:p>
        </p:txBody>
      </p:sp>
      <p:sp>
        <p:nvSpPr>
          <p:cNvPr id="24" name="TextBox 23"/>
          <p:cNvSpPr txBox="1"/>
          <p:nvPr/>
        </p:nvSpPr>
        <p:spPr>
          <a:xfrm>
            <a:off x="10344607" y="6510528"/>
            <a:ext cx="1280160" cy="256032"/>
          </a:xfrm>
          <a:prstGeom prst="rect">
            <a:avLst/>
          </a:prstGeom>
          <a:noFill/>
        </p:spPr>
        <p:txBody>
          <a:bodyPr wrap="square" anchor="ctr" lIns="0" rIns="0" tIns="0" bIns="0">
            <a:noAutofit/>
          </a:bodyPr>
          <a:lstStyle/>
          <a:p>
            <a:pPr algn="r">
              <a:lnSpc>
                <a:spcPct val="100000"/>
              </a:lnSpc>
              <a:spcBef>
                <a:spcPts val="0"/>
              </a:spcBef>
              <a:spcAft>
                <a:spcPts val="600"/>
              </a:spcAft>
            </a:pPr>
            <a:r>
              <a:rPr sz="800" b="0">
                <a:solidFill>
                  <a:srgbClr val="9AA5B1"/>
                </a:solidFill>
                <a:latin typeface="Arial"/>
              </a:rPr>
              <a:t>14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5222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46304"/>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66928" y="502920"/>
            <a:ext cx="2194560" cy="457200"/>
          </a:xfrm>
          <a:prstGeom prst="rect">
            <a:avLst/>
          </a:prstGeom>
          <a:noFill/>
        </p:spPr>
        <p:txBody>
          <a:bodyPr wrap="square" anchor="ctr" lIns="0" rIns="0" tIns="0" bIns="0">
            <a:noAutofit/>
          </a:bodyPr>
          <a:lstStyle/>
          <a:p>
            <a:pPr algn="l">
              <a:lnSpc>
                <a:spcPct val="100000"/>
              </a:lnSpc>
              <a:spcBef>
                <a:spcPts val="0"/>
              </a:spcBef>
              <a:spcAft>
                <a:spcPts val="600"/>
              </a:spcAft>
            </a:pPr>
            <a:r>
              <a:rPr sz="2200" b="1">
                <a:solidFill>
                  <a:srgbClr val="FFFFFF"/>
                </a:solidFill>
                <a:latin typeface="Arial"/>
              </a:rPr>
              <a:t>wso</a:t>
            </a:r>
            <a:r>
              <a:rPr sz="2200" b="1">
                <a:solidFill>
                  <a:srgbClr val="FF7300"/>
                </a:solidFill>
                <a:latin typeface="Arial"/>
              </a:rPr>
              <a:t>2</a:t>
            </a:r>
          </a:p>
        </p:txBody>
      </p:sp>
      <p:sp>
        <p:nvSpPr>
          <p:cNvPr id="5" name="TextBox 4"/>
          <p:cNvSpPr txBox="1"/>
          <p:nvPr/>
        </p:nvSpPr>
        <p:spPr>
          <a:xfrm>
            <a:off x="566928" y="2651760"/>
            <a:ext cx="11057839" cy="1280160"/>
          </a:xfrm>
          <a:prstGeom prst="rect">
            <a:avLst/>
          </a:prstGeom>
          <a:noFill/>
        </p:spPr>
        <p:txBody>
          <a:bodyPr wrap="square" anchor="t" lIns="0" rIns="0" tIns="0" bIns="0">
            <a:noAutofit/>
          </a:bodyPr>
          <a:lstStyle/>
          <a:p>
            <a:pPr algn="l">
              <a:lnSpc>
                <a:spcPct val="100000"/>
              </a:lnSpc>
              <a:spcBef>
                <a:spcPts val="0"/>
              </a:spcBef>
              <a:spcAft>
                <a:spcPts val="800"/>
              </a:spcAft>
            </a:pPr>
            <a:r>
              <a:rPr sz="4400" b="1">
                <a:solidFill>
                  <a:srgbClr val="FFFFFF"/>
                </a:solidFill>
                <a:latin typeface="Arial"/>
              </a:rPr>
              <a:t>Thank you.</a:t>
            </a:r>
          </a:p>
          <a:p>
            <a:pPr algn="l">
              <a:lnSpc>
                <a:spcPct val="120000"/>
              </a:lnSpc>
              <a:spcBef>
                <a:spcPts val="0"/>
              </a:spcBef>
              <a:spcAft>
                <a:spcPts val="600"/>
              </a:spcAft>
            </a:pPr>
            <a:r>
              <a:rPr sz="1600" b="0">
                <a:solidFill>
                  <a:srgbClr val="AEBECD"/>
                </a:solidFill>
                <a:latin typeface="Arial"/>
              </a:rPr>
              <a:t>Happy to go deeper on any part of this — architecture, results, or rollout planning.</a:t>
            </a:r>
          </a:p>
        </p:txBody>
      </p:sp>
      <p:sp>
        <p:nvSpPr>
          <p:cNvPr id="6" name="Rectangle 5"/>
          <p:cNvSpPr/>
          <p:nvPr/>
        </p:nvSpPr>
        <p:spPr>
          <a:xfrm>
            <a:off x="566928" y="4663440"/>
            <a:ext cx="2743200" cy="45720"/>
          </a:xfrm>
          <a:prstGeom prst="rect">
            <a:avLst/>
          </a:prstGeom>
          <a:solidFill>
            <a:srgbClr val="FF73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4892040"/>
            <a:ext cx="11057839" cy="457200"/>
          </a:xfrm>
          <a:prstGeom prst="rect">
            <a:avLst/>
          </a:prstGeom>
          <a:noFill/>
        </p:spPr>
        <p:txBody>
          <a:bodyPr wrap="square" anchor="ctr" lIns="0" rIns="0" tIns="0" bIns="0">
            <a:noAutofit/>
          </a:bodyPr>
          <a:lstStyle/>
          <a:p>
            <a:pPr algn="l">
              <a:lnSpc>
                <a:spcPct val="100000"/>
              </a:lnSpc>
              <a:spcBef>
                <a:spcPts val="0"/>
              </a:spcBef>
              <a:spcAft>
                <a:spcPts val="600"/>
              </a:spcAft>
            </a:pPr>
            <a:r>
              <a:rPr sz="1300" b="1">
                <a:solidFill>
                  <a:srgbClr val="FFFFFF"/>
                </a:solidFill>
                <a:latin typeface="Arial"/>
              </a:rPr>
              <a:t>Scott Bechtel</a:t>
            </a:r>
            <a:r>
              <a:rPr sz="1300" b="0">
                <a:solidFill>
                  <a:srgbClr val="AEBECD"/>
                </a:solidFill>
                <a:latin typeface="Arial"/>
              </a:rPr>
              <a:t>   ·   WSO2 Forward Deployed Engineering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