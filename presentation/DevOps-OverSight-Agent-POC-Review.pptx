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roadmap. We start with the business problem so everyone shares the 'why', then the Level-0 architecture that is common to both approaches. Then we go deep on each of the two solutions we built, and finish with an honest side-by-side and the road to a production deployment. I've left the recommendation slide open on purpose — we'll decide that together after the scorecard.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this is it. The problem is the manual correlation tax during major incidents. Our answer is an AI agent that does the cross-tool detective work in under 90 seconds and then stops and asks a human before it changes anything. We deliberately built it twice — once in Ballerina behind an MCP Proxy, once in Python with LangChain and the A2A protocol — because the interesting question for the client isn't 'does it work' (it does), it's 'which architecture fits us'. The whole cycle runs on a laptop with no vendor credentials, which makes it demo-able anywhere.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scene. Most mature shops — and Fidelity is exactly this profile — have invested in best-of-breed observability: Splunk for logs, Datadog for metrics and APM. Individually they're great. The gap is between them. There's no shared query layer, so the correlation work is done by a human, live, during the incident. The person is the integration point. That's fine on a quiet Tuesday and terrible during a P1 at 2am. And in financial services you can't just bolt on auto-remediation to fix it — anything that touches production has to be governed and approved.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actual workflow we're compressing. Five steps, all manual, all serial, all dependent on the engineer's memory of the system. The industry number we cite is 20–40 minutes of pure correlation before you even have a hypothesis. The key insight: every one of these steps is a well-defined retrieval-and-reasoning task. That's precisely what a tool-using LLM is good at. We're not replacing the engineer's judgment — we're automating the tedious detective work that precedes it, and showing our work so they can trust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business forces, and they map directly to three design decisions you'll see repeated all night. One: the silo tax means we federate Splunk and Datadog into a single investigation. Two: the approval gap — financial services can't do full auto-remediation, so we enforce propose-before-act at the system level. Three: lock-in risk — procurement and resilience both hate single-vendor AI dependencies, so the model is pluggable and can run entirely on-prem with no vendor account at all. Keep these three in mind; every architectural choice ties back to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stakeholder classes, but the one that drives the design is the on-call SRE. They need a plain-language answer — what broke, what's affected, what to do — with links back so they can verify the AI's reasoning rather than take it on faith. Everyone else adds constraints: platform engineering wants config-not-code flexibility and wants to watch the watcher; security wants the hard approval gate and a bounded action list; sales wants the offline five-minute demo; service owners supply the ownership metadata that makes routing work. The design satisfies all five, but the SRE experience is the north star.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acceptance criteria we held ourselves to, straight from the business requirements. Diagnosis in under 90 seconds on a cloud model, the full inject-to-recover loop in five minutes, evidence pulled from both platforms on every single investigation, and — importantly — the whole thing runs with zero vendor credentials so it's demo-able on any laptop. The two hard rules at the bottom are non-negotiable: the agent never acts without approval, and the model is swappable. We met all of these; that's what makes it a credible POC rather than a scripted demo.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system is two tiers. The bottom tier is the thing being watched: a realistic seven-service retail mesh with a load generator, plus the infra it depends on, all emitting telemetry through a single OpenTelemetry collector that fans out to Datadog and Splunk as SaaS. The top tier is the thing doing the watching: the incident-response agent, its pluggable LLM, and — optionally — WSO2 Agent Manager providing governance and an AI gateway. The agent reaches the observability data as MCP tool calls, shown by the dashed orange arrow. Everything below the agent is identical across both of our solutions; the interesting differences are all in how that MCP tool surface is wired, which is the next few sections.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workload — a believable retail mesh, not a toy. load-gen drives traffic. order-service is the front door: a POST /orders fans out synchronously to customer, inventory, payment, and invoice, and fires one asynchronous NATS message to notification. We need a real mesh because the interesting problems — blast radius, 'which downstream actually caused this' — only exist when services call each other. Every service has a token-gated chaos endpoint so we can inject latency or errors on demand. payment-service is our headline failure point: in the demo it starts throwing 502s, and the agent has to figure out why and what else is affected.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new pipeline — we feed off the telemetry that's already flowing. Everything, including the agent itself, emits OTLP to a single collector, and the collector fans out by signal type. This is the important detail: traces go to BOTH platforms deliberately, because that dual-shipping is what lets the agent pivot from a Datadog trace to the matching Splunk logs using a shared trace ID. Logs go only to Splunk — it's the log-of-record — and metrics go only to Datadog, which owns the monitors that fire the alert. We turn off Datadog logs to avoid paying twice. Jaeger is there for us during development and gets removed for the customer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is the load-bearing abstraction. The agent doesn't know or care whether it's talking to a real Splunk or a mock — it just calls tools. That gives us the config-not-code swap between mock and live, which is what lets us stage a rollout safely. The other half is just as important: the vendor MCPs only know their own data. They don't know your service catalog, your dependency graph, who owns what, or what runbooks are safe to run. So we add those as local topology, correlation, and runbook tools on the same MCP surface. Where those local tools LIVE is exactly where our two solutions differ — hold that thought.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technical concept in the whole deck. The reason cross-platform correlation is even possible is that every service stamps the same trace ID into its structured logs, so a Datadog trace can be matched to its Splunk log lines. correlate_trace is the tool that takes a trace ID and builds the ready-to-run Splunk query and the Datadog deep-link. Now the gotcha, and please remember this one for the client: Datadog shows a 64-bit trace ID while OpenTelemetry and Splunk use 128-bit. If you naively search Splunk with the 64-bit number Datadog gave you, you get zero results and the agent falsely concludes there are no logs. The correlation layer has to normalize between the two widths. Our mocks use one fixed demo ID, which hides the problem — so this is the first thing to harden against real traffic.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agent's actual loop and the guardrail. It investigates, synthesizes a root cause with blast radius and evidence links, and then proposes a specific named runbook — not vague advice like 'consider restarting something,' but 'run disable-chaos on payment-service.' Then it stops. Nothing touches production until a human approves. And critically, the agent can only propose from a fixed allowlist of vetted runbooks — there is no general command-execution tool it could be talked into using. That combination — specific proposal, hard approval gate, bounded action set — is what makes this acceptable in a regulated environment. The two solutions implement the gate differently, and that difference matters a lot; we'll get to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triage protocol, the same ten steps both agents follow. Notice the shape: it mirrors exactly what a good SRE does manually — monitors, metrics, a trace, correlate to logs, blast radius, deploy history — but compressed to seconds. Step nine is the gate, highlighted: propose and wait. Only after approval does step ten run the fix and write the postmortem. And a nice property for the governance folks: the agent's own reasoning is emitted as one OpenTelemetry trace, so every tool call and model call is visible in the same Datadog you use to watch your services. The watcher is watched.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WSO2 Agent Manager — AMP — is the governance plane. Three jobs: it hosts and manages the agent as a workload, it can front all the model traffic as an AI gateway for rate-limiting and audit, and it gives you self-observability of the agent itself. Now, I want to be precise and not oversell, because this room will call it out: AMP shows up differently in the two solutions. In the Ballerina approach it's the actual agent runtime. In the LangChain approach the agents are just Python processes and AMP is only an optional model gateway. So think of AMP as the enterprise governance layer you'd wrap around either solution in production — it's not required to make the POC run.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answers the lock-in worry. The LLM provider is a single environment variable. Four backends: a local Ollama model for a completely offline, zero-cost run — that's the default for the demo; Anthropic's Claude for the best tool-calling quality; OpenAI as an alternative; and routing through WSO2's AMP gateway when you want governed, audited model access. Same investigation, same code, different provider. That's not a slide-ware claim — the acceptance criteria required us to demonstrate the same run on at least two providers with nothing changed but this flag. For a procurement conversation, this is the answer: you are never married to one AI vendor.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slide. Everything up to now is common ground. The two solutions answer one design question differently: where do the local topology and correlation tools live, and how do you stop the agent's context from exploding when the real vendor MCPs expose fifty-plus tools each? Solution one keeps a single agent and puts a proxy in front that federates the backends and reveals their tools lazily from a server-side registry. Solution two breaks the work into specialist agents that each hold only their own small toolset, and coordinates them over the A2A protocol. Same goal, two philosophies. Let's go deep on each.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one in a sentence: one agent, one MCP endpoint, and a smart proxy behind it. The agent connects only to the MCP Proxy on port 8290 — it has no idea Splunk and Datadog exist as separate things. The proxy does the federating: it fans out to both vendor backends and adds the local tools that know your topology and runbooks. The headline argument for this shape is on the right: correlation is a single-context reasoning task, so you keep it in one agent's head and federate the tools underneath, rather than splitting the reasoning across multiple agents. And it's full-stack Ballerina — the agent, the proxy, the mocks, and the mesh are all one language, one toolchain.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picture. On the left, the Ballerina agent. In the center, the star of the show — the MCP Proxy on 8290. It does three things: federation and routing to the backends, lazy tool discovery, and it hosts the local topology, correlation, and runbook tools. On the right, the two backends — mock Splunk and mock Datadog — which in production you swap for the real vendor MCPs by changing one environment variable ON THE PROXY. The agent never changes. The single most important invariant: the Splunk and Datadog URLs live on the proxy, never on the agent. That's what makes mock-to-live a config flip with zero agent code change.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reasons the proxy earns its place. First and most practical: context economics. The real Splunk and Datadog MCPs expose fifty-plus tools each — dump all hundred-plus into the agent's prompt and you've wrecked the context window before it does any work. The proxy keeps them server-side. Second, the mock-to-live swap is isolated to the proxy, so you can stage a rollout. Third, it's the one place for policy — routing, auth, result hygiene — instead of scattering that logic. Fourth, because it's Ballerina and not just a dumb pass-through, it can also act: it runs the runbooks and owns the service catalog that neither vendor MCP knows about.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proxy keeps the agent lean. When the agent asks 'what tools do you have,' the proxy answers with just twelve: a discover_tools gateway plus eleven topology tools. The fifty-plus vendor tools stay hidden in a server-side registry. When the agent needs Datadog metrics, it calls discover_tools with a query, the proxy scores the registry and returns the top five matching tool definitions, and the agent folds those schemas into its active toolset and calls them. So the context only ever holds the handful of tools currently relevant. One honest note for the engineers: today that scorer is keyword-based, which is plenty accurate at twenty-odd tools. When you point it at the real MCPs with hundreds of tools, you'd swap in a proper vector-embedding semantic router. That's a known, planned upgrade.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Routing is deliberately boring, which is a compliment. Every tool name is namespaced with a double-underscore prefix. The router splits on that prefix: splunk-underscore-underscore goes to the Splunk backend with the prefix stripped, datadog to Datadog, and everything else — topology and discover_tools — is handled locally inside the proxy. No service mesh, no dynamic discovery magic. The strip at the bottom shows the full inventory the agent can eventually reach: eleven topology tools that we own, plus four Splunk and eight Datadog tools it discovers on demand. Simple routing, powerful surface.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it concrete — this is a real trace of the agent working the payment incident. It discovers the Datadog metric tools, pulls metrics and sees the error-rate spike on payment-service. It checks dependencies and learns order-service is downstream and affected — that's the blast radius. It grabs a failing trace, correlates it to build the Splunk query, runs that query, and sees the actual log evidence: mock-bank timeouts. It checks recent deploys, finds none, and rules out a bad release. Having gathered evidence from both platforms, it lists runbooks, proposes disable-chaos — and stops at the gate. Notice how it interleaves discover_tools with real tool calls; that's the lazy-loading pattern doing its job mid-investigation.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briefly. It's Ballerina Swan Lake, one pinned version across everything. MCP rides plain JSON-RPC over streamable HTTP — no SDK, no stdio, because stdio doesn't work in Kubernetes. The tool-use loop is hand-rolled with a turn cap of thirty, which we bumped up to absorb the discover_tools round-trips. Telemetry uses the Ballerina Jaeger and Prometheus exporters. On the right, the runbooks — and this is the safety story. There are exactly four, it's a fixed typed allowlist, and only disable-chaos actually acts today; the rest are stubs. There is no general command tool. Every run is audited. For a bank, 'the agent physically cannot do anything not on this list' is the sentence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ledger for solution one. Strengths: the context stays small and stable regardless of vendor tool sprawl; correlation happens in a single reasoning context; mock-to-live is a config flip; there's one place for policy; remediation is bounded; and there's a clean path to wrap it with A2A at organizational boundaries later. The limits are all things we consciously deferred, not surprises: the router is keyword-based for now, there's no result-hygiene layer yet, no endpoint auth because it runs on a trusted network, the catalog is a static file rather than a CMDB, most runbooks are stubs, and you have to make sure any gateway in front doesn't buffer the streaming responses. None of these are architectural dead-ends — they're the production to-do list.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two takes the opposite tack. Instead of one agent behind a proxy, you have three agents: an orchestrator and two specialists, a Datadog agent and a Splunk agent, talking over the A2A protocol. The low-context trick here is decomposition — each specialist only ever holds its own eight or four tools, so the big vendor manifests never reach the orchestrator. There's no proxy and no discover_tools; the proxy's job is split between the A2A boundary and in-process tools on the orchestrator. Crucially — and this is the subtle bit — A2A is used only at the platform-team boundary, to delegate to 'the Datadog team' and 'the Splunk team.' The actual correlation still happens in the orchestrator's single context. Same principle as solution one, achieved a different way. And it's the Python-LangChain stack most teams already have muscle memory for.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topology. The orchestrator on the far left holds the eleven topology and correlation tools in-process — same tools as solution one, just living inside the orchestrator instead of a proxy. It delegates to two specialist agents: the Datadog agent and the Splunk agent, each a full A2A server on its own port. Each specialist has its own MCP client to its own mock backend. So the flow is: orchestrator calls ask_datadog_agent over A2A, the Datadog agent runs its own little reasoning loop hitting the Datadog MCP, and returns evidence as text. Notice the port numbers are all 1-prefixed — that's deliberate, so this whole stack runs side by side with the Ballerina stack for a live A-B comparison on one machine.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A2A is Google's agent-to-agent protocol, and here's how it actually works in our system. Each specialist publishes an agent card at a well-known URL — think of it as a service descriptor announcing 'I'm the Datadog agent, here's my skill.' The orchestrator resolves that card and sends a JSON-RPC message; the specialist runs its own reasoning loop against its MCP backend and streams back an answer. It's one-way delegation and a simple request/response — we verified there's no long-running task lifecycle needed. The subtle risk, and I want the engineers to hear this: evidence crosses the A2A boundary as prose. So the specialists are prompted to return trace IDs verbatim, exact metric values, timestamps. If a specialist gives a vague summary, the orchestrator can't correlate. That output contract is the quiet bottleneck of this architecture. And a practical gotcha — the A2A SDK went protobuf-based at 1.1, so ignore the older blog tutorials.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direct counterpart to the lazy-loading slide from solution one. Same problem — vendor MCPs have too many tools — different answer. Instead of hiding tools in a proxy registry, you give each platform its own agent that holds only its tools. The orchestrator's context only ever contains two delegate tools plus the eleven topology tools. The Datadog agent quietly holds its eight, the Splunk agent its four, and the orchestrator never sees either manifest. The trade, on the right: you get cleaner separation and code every Python team already knows, but you pay for it with an extra network hop per delegation and — this is real — you now have three models that each have to emit tool calls reliably instead of one, which multiplies the non-determinism you have to manage.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solution two has a genuine edge worth calling out. In solution one the approval gate is a prompt instruction — the agent is TOLD to list runbooks and wait. Here it's enforced by the runtime. LangGraph's human-in-the-loop middleware physically interrupts the execution graph the instant the model tries to run a runbook. The graph pauses, the state is checkpointed against a session ID, and the investigate call returns the proposal. Nothing resumes until a human posts 'approve,' which fires a resume command — and only then does the runbook execute. And it's fail-safe: anything that isn't a clear approval counts as rejection. For a compliance officer, 'the model cannot execute without a recorded approval, enforced in code' is a stronger sentence than 'we told the model to ask first.'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investigation, solution-two mechanics. The orchestrator delegates to the Datadog agent over A2A and gets back monitor state, metrics, and a sample trace ID. Then — in-process — it correlates that trace, normalizing the width and building the Splunk query. It hands that query to the Splunk agent over A2A and gets the 502 logs and 'no deploys' back. It checks dependencies and deploys in-process, concludes chaos, and tries to run the runbook — which trips the graph interrupt. The proposal comes back with a session ID, a human approves via chat, the graph resumes, and disable-chaos runs. The color coding shows the rhythm: it alternates between A2A delegation for evidence and in-process tools for correlation and topology, with the fusion always happening in the orchestrator.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Python 3.12 in a single uv workspace, LangChain 1.x on LangGraph, the official A2A and MCP SDKs, and the human-in-the-loop middleware plus an in-memory checkpointer for the gate. The thing I want to highlight on the right is the Timeout Chain, because it's a lovely example of the operational complexity multi-agent buys you. You now have four nested timeouts across process boundaries — the web server, the A2A client, the sub-agent's LLM call, and the MCP call — and they MUST be ordered largest-outermost, or a timeout fires at the wrong layer and you get confusing hangs. There's a startup assertion that refuses to boot if they're misordered. That's a discipline you simply don't need with a single in-process agent.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ledger for solution two. Strengths: it's the ecosystem most teams already know, the approval gate is enforced in code, low-context is structural rather than a clever trick, the protocol separation is clean, and it keeps the same model flexibility and self-observability as solution one. The limits skew operational: you've tripled the model non-determinism because three agents must each behave; the prose output contract between agents is a real correlation risk; every delegation is a network hop; the timeout chain needs maintaining; state is in-memory so a restart mid-approval loses the pending action; and you have to pin the A2A SDK carefully. Notice the pattern versus solution one — solution one's risks are mostly 'we deferred this feature,' solution two's are mostly 'distributed systems are harder to operate.'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 out. The headline is on the black bar: both solutions keep correlation in one reasoning context. That's the shared conviction — you do NOT want to split the Splunk-versus-Datadog join across separate agents, because then each has to lossily summarize into text before anyone can correlate, and you've put a compression step at exactly the wrong place. Given that, the only real difference is how each keeps the toolset small. Solution one federates the tools behind a proxy and reveals them lazily. Solution two decomposes into specialist agents that each hold few tools, and uses A2A only at the platform-team boundary — never inside the correlation itself. If a specialist's prose is thin, solution two's fusion suffers; solution one never has that problem because the evidence never leaves the agent as prose. That's the crux of the trade.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honest side-by-side — and per our plan, I'm NOT going to hand you a verdict on this slide; the next one is where we decide together. Read it by theme. Solution one wins on fewer moving parts, single-model determinism, and being the native fit for WSO2's own agent platform. Solution two wins on the code-level approval gate, ecosystem familiarity — it's Python and LangChain, which everybody has — and it handles tool sprawl structurally. The amber cells aren't dealbreakers, they're the cost of each approach: solution one's proxy needs a smarter router at scale and Ballerina is a niche skill; solution two is a distributed system with the operational weight that implies. Which set of trade-offs fits the client depends on their team, their governance posture, and how much they value WSO2-native versus mainstream tooling.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filled in with real measurement — 18 runs per stack, three datasets of six — and I want to be transparent that the data corrected me on BOTH of my architecture-first predictions. I'd said Ballerina would be faster and more reliable. On the creds-free local model, qwen2.5:14b, the opposite held. Faster: LangChain, ~62-second median time-to-proposal versus ~78 for Ballerina. The reason is the interesting part — Ballerina makes about half as many LLM calls (nine versus nineteen), but each is roughly three times heavier because the single agent carries one large, growing context (the ten-step protocol plus every lazy-loaded tool schema), while LangChain's decomposed agents each keep a small context, so their calls are cheap even though there are more of them. More reliable: also LangChain, and clearly — 61 percent correct-proposal rate versus 28 percent, with Ballerina producing ZERO valid runs in one entire dataset. That flips my 'single agent = more reliable' intuition: decomposing into short, focused sub-tasks keeps a weak model on-track far better than driving one long single-agent protocol with discover_tools overhead, where the 14B tends to declare victory early after correlating a trace. The honest headline for the room: on the local model LangChain won both axes — but both are still sub-production reliability, so for a real demo use a cloud model, where both should climb toward the high 90s and the gap may change. The qualitative scorecard trade-offs are unchanged, so the final verdict still weighs the client's team and governance context — now on top of measured runtime, not my inference.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demo you'll actually run, and it's the same five beats for both solutions. At zero, you inject chaos into payment-service — 502s and added latency. Within about forty-five seconds the signals diverge: Datadog's monitor fires and Splunk fills with errors. You trigger the agent; it runs the whole cross-platform investigation and correlates by trace ID in a couple of minutes. Around three-thirty it proposes disable-chaos and waits; the operator approves. By four-fifteen the runbook has run, the mesh has recovered, and the agent posts a postmortem. The whole thing runs offline with no vendor accounts, the fault is injected through a token-gated endpoint, and it resets to a clean baseline so you can run it again for the next audience. That repeatability is what makes it a sales asset, not a one-take magic trick.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architects will scrutinize, and the message is: the POC is a faithful vertical slice, not a throwaway. Every row is a known step from here to production, and none of them change the core design. Identity moves from 'trusted local network' to OIDC plus per-tool RBAC at the gateway. Secrets move to a vault. The audit log becomes durable and tamper-evident and feeds your SIEM. The approval gate becomes hard code-level interception in both solutions — solution two already does this. The catalog moves from a file to your CMDB. The mock MCP servers get swapped for the real Splunk and Datadog MCPs — and that's the config-not-code swap we designed for. Trace-ID normalization gets exercised for real. And it scales onto Kubernetes. The point: nothing here requires re-architecting. It's a hardening checklist.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field guide of the traps, so nobody rediscovers them the hard way. The big one, again, is trace-ID width — normalize between 64 and 128-bit or correlation silently returns nothing. NATS is the async blind spot: HTTP propagates trace context automatically, message queues don't, so you inject the traceparent into the envelope yourself. Turn on Postgres query tracing or database latency is invisible. Don't put a buffering proxy in front of streaming runbook progress. Ollama's tool-calling is non-deterministic, so keep the turn budget generous and use a cloud model when you're live in front of a client. And remember all the state — audit log, pending approvals — is in-memory in the POC, so a restart forgets everything. These six are the difference between 'works in the demo' and 'works on real traffic.'</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We proved the capability is real, not slideware: cross-platform diagnosis and approved remediation, five minutes, offline, on a laptop. We built it two credible ways, each with honest trade-offs you can now weigh. The durable design bets held up under both: MCP as the contract boundary, correlation in one context, propose-before-act, and model portability. And there's a clean, checklist-style path to production for either. Next steps: first, we finish the recommendation together using the client's actual context — that's the one input we deliberately left open. Then pick one architecture for a hardening spike, wire in the real Splunk and Datadog MCPs and prove out trace-ID normalization, and get it running live on the client's own laptop. That last one is what turns a POC into a project.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reference card for whoever runs the stacks. The key thing to notice is the port numbering: the LangChain stack deliberately 1-prefixes every port that the Ballerina stack uses — 8092 becomes 18092, 8400 becomes 18400, and so on. That's not an accident; it means you can bring up both stacks on the same laptop at the same time and do a genuine side-by-side A/B of the two architectures against the same workload. The shared demo trace ID, the AMP console login, and the chaos token are all here too. Keep this slide handy during setup.</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it out. Thank the team explicitly — this was built collaboratively and the design arguments got sharper because people pushed on them. Invite pushback genuinely: if someone sees a flaw in the scorecard or a better way to frame the recommendation, that's exactly the conversation we want before we take a version to the client.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66560"/>
            <a:ext cx="12191695"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502920"/>
            <a:ext cx="2194560" cy="457200"/>
          </a:xfrm>
          <a:prstGeom prst="rect">
            <a:avLst/>
          </a:prstGeom>
          <a:noFill/>
        </p:spPr>
        <p:txBody>
          <a:bodyPr wrap="square" anchor="ctr" lIns="0" rIns="0" tIns="0" bIns="0">
            <a:noAutofit/>
          </a:bodyPr>
          <a:lstStyle/>
          <a:p>
            <a:pPr algn="l">
              <a:lnSpc>
                <a:spcPct val="100000"/>
              </a:lnSpc>
              <a:spcBef>
                <a:spcPts val="0"/>
              </a:spcBef>
              <a:spcAft>
                <a:spcPts val="600"/>
              </a:spcAft>
            </a:pPr>
            <a:r>
              <a:rPr sz="2200" b="1">
                <a:solidFill>
                  <a:srgbClr val="FFFFFF"/>
                </a:solidFill>
                <a:latin typeface="Arial"/>
              </a:rPr>
              <a:t>wso</a:t>
            </a:r>
            <a:r>
              <a:rPr sz="2200" b="1">
                <a:solidFill>
                  <a:srgbClr val="FF7300"/>
                </a:solidFill>
                <a:latin typeface="Arial"/>
              </a:rPr>
              <a:t>2</a:t>
            </a:r>
          </a:p>
        </p:txBody>
      </p:sp>
      <p:sp>
        <p:nvSpPr>
          <p:cNvPr id="6" name="TextBox 5"/>
          <p:cNvSpPr txBox="1"/>
          <p:nvPr/>
        </p:nvSpPr>
        <p:spPr>
          <a:xfrm>
            <a:off x="1618488" y="502920"/>
            <a:ext cx="5486400" cy="457200"/>
          </a:xfrm>
          <a:prstGeom prst="rect">
            <a:avLst/>
          </a:prstGeom>
          <a:noFill/>
        </p:spPr>
        <p:txBody>
          <a:bodyPr wrap="square" anchor="ctr" lIns="0" rIns="0" tIns="0" bIns="0">
            <a:noAutofit/>
          </a:bodyPr>
          <a:lstStyle/>
          <a:p>
            <a:pPr algn="l">
              <a:lnSpc>
                <a:spcPct val="100000"/>
              </a:lnSpc>
              <a:spcBef>
                <a:spcPts val="0"/>
              </a:spcBef>
              <a:spcAft>
                <a:spcPts val="600"/>
              </a:spcAft>
            </a:pPr>
            <a:r>
              <a:rPr sz="1250" b="0">
                <a:solidFill>
                  <a:srgbClr val="AEBECD"/>
                </a:solidFill>
                <a:latin typeface="Arial"/>
              </a:rPr>
              <a:t>|   Forward Deployed Engineering</a:t>
            </a:r>
          </a:p>
        </p:txBody>
      </p:sp>
      <p:sp>
        <p:nvSpPr>
          <p:cNvPr id="7" name="TextBox 6"/>
          <p:cNvSpPr txBox="1"/>
          <p:nvPr/>
        </p:nvSpPr>
        <p:spPr>
          <a:xfrm>
            <a:off x="566928" y="2148840"/>
            <a:ext cx="10515600" cy="365760"/>
          </a:xfrm>
          <a:prstGeom prst="rect">
            <a:avLst/>
          </a:prstGeom>
          <a:noFill/>
        </p:spPr>
        <p:txBody>
          <a:bodyPr wrap="square" anchor="t" lIns="0" rIns="0" tIns="0" bIns="0">
            <a:noAutofit/>
          </a:bodyPr>
          <a:lstStyle/>
          <a:p>
            <a:pPr algn="l">
              <a:lnSpc>
                <a:spcPct val="100000"/>
              </a:lnSpc>
              <a:spcBef>
                <a:spcPts val="0"/>
              </a:spcBef>
              <a:spcAft>
                <a:spcPts val="600"/>
              </a:spcAft>
            </a:pPr>
            <a:r>
              <a:rPr sz="1400" b="1">
                <a:solidFill>
                  <a:srgbClr val="FF7300"/>
                </a:solidFill>
                <a:latin typeface="Arial"/>
              </a:rPr>
              <a:t>POC ARCHITECTURE REVIEW</a:t>
            </a:r>
          </a:p>
        </p:txBody>
      </p:sp>
      <p:sp>
        <p:nvSpPr>
          <p:cNvPr id="8" name="TextBox 7"/>
          <p:cNvSpPr txBox="1"/>
          <p:nvPr/>
        </p:nvSpPr>
        <p:spPr>
          <a:xfrm>
            <a:off x="566928" y="2542032"/>
            <a:ext cx="10881360" cy="1828800"/>
          </a:xfrm>
          <a:prstGeom prst="rect">
            <a:avLst/>
          </a:prstGeom>
          <a:noFill/>
        </p:spPr>
        <p:txBody>
          <a:bodyPr wrap="square" anchor="t" lIns="0" rIns="0" tIns="0" bIns="0">
            <a:noAutofit/>
          </a:bodyPr>
          <a:lstStyle/>
          <a:p>
            <a:pPr algn="l">
              <a:lnSpc>
                <a:spcPct val="100000"/>
              </a:lnSpc>
              <a:spcBef>
                <a:spcPts val="0"/>
              </a:spcBef>
              <a:spcAft>
                <a:spcPts val="400"/>
              </a:spcAft>
            </a:pPr>
            <a:r>
              <a:rPr sz="4600" b="1">
                <a:solidFill>
                  <a:srgbClr val="FFFFFF"/>
                </a:solidFill>
                <a:latin typeface="Arial"/>
              </a:rPr>
              <a:t>The DevOps OverSight Agent</a:t>
            </a:r>
          </a:p>
        </p:txBody>
      </p:sp>
      <p:sp>
        <p:nvSpPr>
          <p:cNvPr id="9" name="TextBox 8"/>
          <p:cNvSpPr txBox="1"/>
          <p:nvPr/>
        </p:nvSpPr>
        <p:spPr>
          <a:xfrm>
            <a:off x="566928" y="3977639"/>
            <a:ext cx="10424160" cy="1097280"/>
          </a:xfrm>
          <a:prstGeom prst="rect">
            <a:avLst/>
          </a:prstGeom>
          <a:noFill/>
        </p:spPr>
        <p:txBody>
          <a:bodyPr wrap="square" anchor="t" lIns="0" rIns="0" tIns="0" bIns="0">
            <a:noAutofit/>
          </a:bodyPr>
          <a:lstStyle/>
          <a:p>
            <a:pPr algn="l">
              <a:lnSpc>
                <a:spcPct val="120000"/>
              </a:lnSpc>
              <a:spcBef>
                <a:spcPts val="0"/>
              </a:spcBef>
              <a:spcAft>
                <a:spcPts val="200"/>
              </a:spcAft>
            </a:pPr>
            <a:r>
              <a:rPr sz="1700" b="0">
                <a:solidFill>
                  <a:srgbClr val="AEBECD"/>
                </a:solidFill>
                <a:latin typeface="Arial"/>
              </a:rPr>
              <a:t>AI-assisted incident response that correlates </a:t>
            </a:r>
            <a:r>
              <a:rPr sz="1700" b="1">
                <a:solidFill>
                  <a:srgbClr val="FFFFFF"/>
                </a:solidFill>
                <a:latin typeface="Arial"/>
              </a:rPr>
              <a:t>Splunk</a:t>
            </a:r>
            <a:r>
              <a:rPr sz="1700" b="0">
                <a:solidFill>
                  <a:srgbClr val="AEBECD"/>
                </a:solidFill>
                <a:latin typeface="Arial"/>
              </a:rPr>
              <a:t> and </a:t>
            </a:r>
            <a:r>
              <a:rPr sz="1700" b="1">
                <a:solidFill>
                  <a:srgbClr val="FFFFFF"/>
                </a:solidFill>
                <a:latin typeface="Arial"/>
              </a:rPr>
              <a:t>Datadog</a:t>
            </a:r>
            <a:r>
              <a:rPr sz="1700" b="0">
                <a:solidFill>
                  <a:srgbClr val="AEBECD"/>
                </a:solidFill>
                <a:latin typeface="Arial"/>
              </a:rPr>
              <a:t> over MCP</a:t>
            </a:r>
          </a:p>
          <a:p>
            <a:pPr algn="l">
              <a:lnSpc>
                <a:spcPct val="120000"/>
              </a:lnSpc>
              <a:spcBef>
                <a:spcPts val="0"/>
              </a:spcBef>
              <a:spcAft>
                <a:spcPts val="600"/>
              </a:spcAft>
            </a:pPr>
            <a:r>
              <a:rPr sz="1700" b="0">
                <a:solidFill>
                  <a:srgbClr val="AEBECD"/>
                </a:solidFill>
                <a:latin typeface="Arial"/>
              </a:rPr>
              <a:t>to diagnose and remediate incidents in a microservice mesh — two reference architectures.</a:t>
            </a:r>
          </a:p>
        </p:txBody>
      </p:sp>
      <p:sp>
        <p:nvSpPr>
          <p:cNvPr id="10" name="Rounded Rectangle 9"/>
          <p:cNvSpPr/>
          <p:nvPr/>
        </p:nvSpPr>
        <p:spPr>
          <a:xfrm>
            <a:off x="566928" y="5257800"/>
            <a:ext cx="3703320" cy="384048"/>
          </a:xfrm>
          <a:prstGeom prst="roundRect">
            <a:avLst>
              <a:gd name="adj" fmla="val 50000"/>
            </a:avLst>
          </a:prstGeom>
          <a:solidFill>
            <a:srgbClr val="103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5257800"/>
            <a:ext cx="3703320" cy="384048"/>
          </a:xfrm>
          <a:prstGeom prst="rect">
            <a:avLst/>
          </a:prstGeom>
          <a:noFill/>
        </p:spPr>
        <p:txBody>
          <a:bodyPr wrap="square" anchor="ctr" lIns="0" rIns="0" tIns="0" bIns="0">
            <a:noAutofit/>
          </a:bodyPr>
          <a:lstStyle/>
          <a:p>
            <a:pPr algn="ctr">
              <a:lnSpc>
                <a:spcPct val="100000"/>
              </a:lnSpc>
              <a:spcBef>
                <a:spcPts val="0"/>
              </a:spcBef>
              <a:spcAft>
                <a:spcPts val="600"/>
              </a:spcAft>
            </a:pPr>
            <a:r>
              <a:rPr sz="1150" b="1">
                <a:solidFill>
                  <a:srgbClr val="0E8FA8"/>
                </a:solidFill>
                <a:latin typeface="Arial"/>
              </a:rPr>
              <a:t>Solution 1  ·  Ballerina + MCP Proxy</a:t>
            </a:r>
          </a:p>
        </p:txBody>
      </p:sp>
      <p:sp>
        <p:nvSpPr>
          <p:cNvPr id="12" name="Rounded Rectangle 11"/>
          <p:cNvSpPr/>
          <p:nvPr/>
        </p:nvSpPr>
        <p:spPr>
          <a:xfrm>
            <a:off x="4544568" y="5257800"/>
            <a:ext cx="3429000" cy="384048"/>
          </a:xfrm>
          <a:prstGeom prst="roundRect">
            <a:avLst>
              <a:gd name="adj" fmla="val 50000"/>
            </a:avLst>
          </a:prstGeom>
          <a:solidFill>
            <a:srgbClr val="241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5257800"/>
            <a:ext cx="3429000" cy="384048"/>
          </a:xfrm>
          <a:prstGeom prst="rect">
            <a:avLst/>
          </a:prstGeom>
          <a:noFill/>
        </p:spPr>
        <p:txBody>
          <a:bodyPr wrap="square" anchor="ctr" lIns="0" rIns="0" tIns="0" bIns="0">
            <a:noAutofit/>
          </a:bodyPr>
          <a:lstStyle/>
          <a:p>
            <a:pPr algn="ctr">
              <a:lnSpc>
                <a:spcPct val="100000"/>
              </a:lnSpc>
              <a:spcBef>
                <a:spcPts val="0"/>
              </a:spcBef>
              <a:spcAft>
                <a:spcPts val="600"/>
              </a:spcAft>
            </a:pPr>
            <a:r>
              <a:rPr sz="1150" b="1">
                <a:solidFill>
                  <a:srgbClr val="B7A9F5"/>
                </a:solidFill>
                <a:latin typeface="Arial"/>
              </a:rPr>
              <a:t>Solution 2  ·  LangChain + A2A</a:t>
            </a:r>
          </a:p>
        </p:txBody>
      </p:sp>
      <p:sp>
        <p:nvSpPr>
          <p:cNvPr id="14" name="Rectangle 13"/>
          <p:cNvSpPr/>
          <p:nvPr/>
        </p:nvSpPr>
        <p:spPr>
          <a:xfrm>
            <a:off x="566928" y="6089904"/>
            <a:ext cx="11057839" cy="12801"/>
          </a:xfrm>
          <a:prstGeom prst="rect">
            <a:avLst/>
          </a:prstGeom>
          <a:solidFill>
            <a:srgbClr val="2037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236208"/>
            <a:ext cx="11057839" cy="365760"/>
          </a:xfrm>
          <a:prstGeom prst="rect">
            <a:avLst/>
          </a:prstGeom>
          <a:noFill/>
        </p:spPr>
        <p:txBody>
          <a:bodyPr wrap="square" anchor="ctr" lIns="0" rIns="0" tIns="0" bIns="0">
            <a:noAutofit/>
          </a:bodyPr>
          <a:lstStyle/>
          <a:p>
            <a:pPr algn="l">
              <a:lnSpc>
                <a:spcPct val="100000"/>
              </a:lnSpc>
              <a:spcBef>
                <a:spcPts val="0"/>
              </a:spcBef>
              <a:spcAft>
                <a:spcPts val="600"/>
              </a:spcAft>
            </a:pPr>
            <a:r>
              <a:rPr sz="1200" b="1">
                <a:solidFill>
                  <a:srgbClr val="FFFFFF"/>
                </a:solidFill>
                <a:latin typeface="Arial"/>
              </a:rPr>
              <a:t>Scott Bechtel</a:t>
            </a:r>
            <a:r>
              <a:rPr sz="1200" b="0">
                <a:solidFill>
                  <a:srgbClr val="AEBECD"/>
                </a:solidFill>
                <a:latin typeface="Arial"/>
              </a:rPr>
              <a:t>   ·   Internal review: FDE team + leadership</a:t>
            </a:r>
            <a:r>
              <a:rPr sz="1200" b="0">
                <a:solidFill>
                  <a:srgbClr val="AEBECD"/>
                </a:solidFill>
                <a:latin typeface="Arial"/>
              </a:rPr>
              <a:t>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WHAT WE'LL COVER</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Agenda</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783080"/>
            <a:ext cx="822960" cy="566928"/>
          </a:xfrm>
          <a:prstGeom prst="roundRect">
            <a:avLst>
              <a:gd name="adj" fmla="val 14000"/>
            </a:avLst>
          </a:prstGeom>
          <a:solidFill>
            <a:srgbClr val="F7F9FB"/>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83080"/>
            <a:ext cx="822960" cy="566928"/>
          </a:xfrm>
          <a:prstGeom prst="rect">
            <a:avLst/>
          </a:prstGeom>
          <a:noFill/>
        </p:spPr>
        <p:txBody>
          <a:bodyPr wrap="square" anchor="ctr" lIns="0" rIns="0" tIns="0" bIns="0">
            <a:noAutofit/>
          </a:bodyPr>
          <a:lstStyle/>
          <a:p>
            <a:pPr algn="ctr">
              <a:lnSpc>
                <a:spcPct val="100000"/>
              </a:lnSpc>
              <a:spcBef>
                <a:spcPts val="0"/>
              </a:spcBef>
              <a:spcAft>
                <a:spcPts val="600"/>
              </a:spcAft>
            </a:pPr>
            <a:r>
              <a:rPr sz="2200" b="1">
                <a:solidFill>
                  <a:srgbClr val="FF7300"/>
                </a:solidFill>
                <a:latin typeface="Arial"/>
              </a:rPr>
              <a:t>01</a:t>
            </a:r>
          </a:p>
        </p:txBody>
      </p:sp>
      <p:sp>
        <p:nvSpPr>
          <p:cNvPr id="9" name="TextBox 8"/>
          <p:cNvSpPr txBox="1"/>
          <p:nvPr/>
        </p:nvSpPr>
        <p:spPr>
          <a:xfrm>
            <a:off x="1618488" y="1755648"/>
            <a:ext cx="10006279" cy="640080"/>
          </a:xfrm>
          <a:prstGeom prst="rect">
            <a:avLst/>
          </a:prstGeom>
          <a:noFill/>
        </p:spPr>
        <p:txBody>
          <a:bodyPr wrap="square" anchor="ctr" lIns="0" rIns="0" tIns="0" bIns="0">
            <a:noAutofit/>
          </a:bodyPr>
          <a:lstStyle/>
          <a:p>
            <a:pPr algn="l">
              <a:lnSpc>
                <a:spcPct val="100000"/>
              </a:lnSpc>
              <a:spcBef>
                <a:spcPts val="0"/>
              </a:spcBef>
              <a:spcAft>
                <a:spcPts val="200"/>
              </a:spcAft>
            </a:pPr>
            <a:r>
              <a:rPr sz="1550" b="1">
                <a:solidFill>
                  <a:srgbClr val="1B2733"/>
                </a:solidFill>
                <a:latin typeface="Arial"/>
              </a:rPr>
              <a:t>The problem</a:t>
            </a:r>
          </a:p>
          <a:p>
            <a:pPr algn="l">
              <a:lnSpc>
                <a:spcPct val="105000"/>
              </a:lnSpc>
              <a:spcBef>
                <a:spcPts val="0"/>
              </a:spcBef>
              <a:spcAft>
                <a:spcPts val="600"/>
              </a:spcAft>
            </a:pPr>
            <a:r>
              <a:rPr sz="1100" b="0">
                <a:solidFill>
                  <a:srgbClr val="6B7885"/>
                </a:solidFill>
                <a:latin typeface="Arial"/>
              </a:rPr>
              <a:t>Why cross-platform incident diagnosis is slow, risky, and manual today.</a:t>
            </a:r>
          </a:p>
        </p:txBody>
      </p:sp>
      <p:sp>
        <p:nvSpPr>
          <p:cNvPr id="10" name="Rounded Rectangle 9"/>
          <p:cNvSpPr/>
          <p:nvPr/>
        </p:nvSpPr>
        <p:spPr>
          <a:xfrm>
            <a:off x="566928" y="2606040"/>
            <a:ext cx="822960" cy="566928"/>
          </a:xfrm>
          <a:prstGeom prst="roundRect">
            <a:avLst>
              <a:gd name="adj" fmla="val 14000"/>
            </a:avLst>
          </a:prstGeom>
          <a:solidFill>
            <a:srgbClr val="F7F9FB"/>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606040"/>
            <a:ext cx="822960" cy="566928"/>
          </a:xfrm>
          <a:prstGeom prst="rect">
            <a:avLst/>
          </a:prstGeom>
          <a:noFill/>
        </p:spPr>
        <p:txBody>
          <a:bodyPr wrap="square" anchor="ctr" lIns="0" rIns="0" tIns="0" bIns="0">
            <a:noAutofit/>
          </a:bodyPr>
          <a:lstStyle/>
          <a:p>
            <a:pPr algn="ctr">
              <a:lnSpc>
                <a:spcPct val="100000"/>
              </a:lnSpc>
              <a:spcBef>
                <a:spcPts val="0"/>
              </a:spcBef>
              <a:spcAft>
                <a:spcPts val="600"/>
              </a:spcAft>
            </a:pPr>
            <a:r>
              <a:rPr sz="2200" b="1">
                <a:solidFill>
                  <a:srgbClr val="FF7300"/>
                </a:solidFill>
                <a:latin typeface="Arial"/>
              </a:rPr>
              <a:t>02</a:t>
            </a:r>
          </a:p>
        </p:txBody>
      </p:sp>
      <p:sp>
        <p:nvSpPr>
          <p:cNvPr id="12" name="TextBox 11"/>
          <p:cNvSpPr txBox="1"/>
          <p:nvPr/>
        </p:nvSpPr>
        <p:spPr>
          <a:xfrm>
            <a:off x="1618488" y="2578608"/>
            <a:ext cx="10006279" cy="640080"/>
          </a:xfrm>
          <a:prstGeom prst="rect">
            <a:avLst/>
          </a:prstGeom>
          <a:noFill/>
        </p:spPr>
        <p:txBody>
          <a:bodyPr wrap="square" anchor="ctr" lIns="0" rIns="0" tIns="0" bIns="0">
            <a:noAutofit/>
          </a:bodyPr>
          <a:lstStyle/>
          <a:p>
            <a:pPr algn="l">
              <a:lnSpc>
                <a:spcPct val="100000"/>
              </a:lnSpc>
              <a:spcBef>
                <a:spcPts val="0"/>
              </a:spcBef>
              <a:spcAft>
                <a:spcPts val="200"/>
              </a:spcAft>
            </a:pPr>
            <a:r>
              <a:rPr sz="1550" b="1">
                <a:solidFill>
                  <a:srgbClr val="1B2733"/>
                </a:solidFill>
                <a:latin typeface="Arial"/>
              </a:rPr>
              <a:t>Level 0 architecture</a:t>
            </a:r>
          </a:p>
          <a:p>
            <a:pPr algn="l">
              <a:lnSpc>
                <a:spcPct val="105000"/>
              </a:lnSpc>
              <a:spcBef>
                <a:spcPts val="0"/>
              </a:spcBef>
              <a:spcAft>
                <a:spcPts val="600"/>
              </a:spcAft>
            </a:pPr>
            <a:r>
              <a:rPr sz="1100" b="0">
                <a:solidFill>
                  <a:srgbClr val="6B7885"/>
                </a:solidFill>
                <a:latin typeface="Arial"/>
              </a:rPr>
              <a:t>The concepts both solutions share: the mesh, telemetry fan-out, MCP, correlation, the human-approval gate.</a:t>
            </a:r>
          </a:p>
        </p:txBody>
      </p:sp>
      <p:sp>
        <p:nvSpPr>
          <p:cNvPr id="13" name="Rounded Rectangle 12"/>
          <p:cNvSpPr/>
          <p:nvPr/>
        </p:nvSpPr>
        <p:spPr>
          <a:xfrm>
            <a:off x="566928" y="3429000"/>
            <a:ext cx="822960" cy="566928"/>
          </a:xfrm>
          <a:prstGeom prst="roundRect">
            <a:avLst>
              <a:gd name="adj" fmla="val 14000"/>
            </a:avLst>
          </a:prstGeom>
          <a:solidFill>
            <a:srgbClr val="F7F9FB"/>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29000"/>
            <a:ext cx="822960" cy="566928"/>
          </a:xfrm>
          <a:prstGeom prst="rect">
            <a:avLst/>
          </a:prstGeom>
          <a:noFill/>
        </p:spPr>
        <p:txBody>
          <a:bodyPr wrap="square" anchor="ctr" lIns="0" rIns="0" tIns="0" bIns="0">
            <a:noAutofit/>
          </a:bodyPr>
          <a:lstStyle/>
          <a:p>
            <a:pPr algn="ctr">
              <a:lnSpc>
                <a:spcPct val="100000"/>
              </a:lnSpc>
              <a:spcBef>
                <a:spcPts val="0"/>
              </a:spcBef>
              <a:spcAft>
                <a:spcPts val="600"/>
              </a:spcAft>
            </a:pPr>
            <a:r>
              <a:rPr sz="2200" b="1">
                <a:solidFill>
                  <a:srgbClr val="0E8FA8"/>
                </a:solidFill>
                <a:latin typeface="Arial"/>
              </a:rPr>
              <a:t>03</a:t>
            </a:r>
          </a:p>
        </p:txBody>
      </p:sp>
      <p:sp>
        <p:nvSpPr>
          <p:cNvPr id="15" name="TextBox 14"/>
          <p:cNvSpPr txBox="1"/>
          <p:nvPr/>
        </p:nvSpPr>
        <p:spPr>
          <a:xfrm>
            <a:off x="1618488" y="3401568"/>
            <a:ext cx="10006279" cy="640080"/>
          </a:xfrm>
          <a:prstGeom prst="rect">
            <a:avLst/>
          </a:prstGeom>
          <a:noFill/>
        </p:spPr>
        <p:txBody>
          <a:bodyPr wrap="square" anchor="ctr" lIns="0" rIns="0" tIns="0" bIns="0">
            <a:noAutofit/>
          </a:bodyPr>
          <a:lstStyle/>
          <a:p>
            <a:pPr algn="l">
              <a:lnSpc>
                <a:spcPct val="100000"/>
              </a:lnSpc>
              <a:spcBef>
                <a:spcPts val="0"/>
              </a:spcBef>
              <a:spcAft>
                <a:spcPts val="200"/>
              </a:spcAft>
            </a:pPr>
            <a:r>
              <a:rPr sz="1550" b="1">
                <a:solidFill>
                  <a:srgbClr val="1B2733"/>
                </a:solidFill>
                <a:latin typeface="Arial"/>
              </a:rPr>
              <a:t>Solution 1 — Ballerina + MCP Proxy</a:t>
            </a:r>
          </a:p>
          <a:p>
            <a:pPr algn="l">
              <a:lnSpc>
                <a:spcPct val="105000"/>
              </a:lnSpc>
              <a:spcBef>
                <a:spcPts val="0"/>
              </a:spcBef>
              <a:spcAft>
                <a:spcPts val="600"/>
              </a:spcAft>
            </a:pPr>
            <a:r>
              <a:rPr sz="1100" b="0">
                <a:solidFill>
                  <a:srgbClr val="6B7885"/>
                </a:solidFill>
                <a:latin typeface="Arial"/>
              </a:rPr>
              <a:t>One agent, one MCP endpoint that federates Splunk &amp; Datadog behind lazy-loaded tools.</a:t>
            </a:r>
          </a:p>
        </p:txBody>
      </p:sp>
      <p:sp>
        <p:nvSpPr>
          <p:cNvPr id="16" name="Rounded Rectangle 15"/>
          <p:cNvSpPr/>
          <p:nvPr/>
        </p:nvSpPr>
        <p:spPr>
          <a:xfrm>
            <a:off x="566928" y="4251960"/>
            <a:ext cx="822960" cy="566928"/>
          </a:xfrm>
          <a:prstGeom prst="roundRect">
            <a:avLst>
              <a:gd name="adj" fmla="val 14000"/>
            </a:avLst>
          </a:prstGeom>
          <a:solidFill>
            <a:srgbClr val="F7F9FB"/>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251960"/>
            <a:ext cx="822960" cy="566928"/>
          </a:xfrm>
          <a:prstGeom prst="rect">
            <a:avLst/>
          </a:prstGeom>
          <a:noFill/>
        </p:spPr>
        <p:txBody>
          <a:bodyPr wrap="square" anchor="ctr" lIns="0" rIns="0" tIns="0" bIns="0">
            <a:noAutofit/>
          </a:bodyPr>
          <a:lstStyle/>
          <a:p>
            <a:pPr algn="ctr">
              <a:lnSpc>
                <a:spcPct val="100000"/>
              </a:lnSpc>
              <a:spcBef>
                <a:spcPts val="0"/>
              </a:spcBef>
              <a:spcAft>
                <a:spcPts val="600"/>
              </a:spcAft>
            </a:pPr>
            <a:r>
              <a:rPr sz="2200" b="1">
                <a:solidFill>
                  <a:srgbClr val="6A4CE0"/>
                </a:solidFill>
                <a:latin typeface="Arial"/>
              </a:rPr>
              <a:t>04</a:t>
            </a:r>
          </a:p>
        </p:txBody>
      </p:sp>
      <p:sp>
        <p:nvSpPr>
          <p:cNvPr id="18" name="TextBox 17"/>
          <p:cNvSpPr txBox="1"/>
          <p:nvPr/>
        </p:nvSpPr>
        <p:spPr>
          <a:xfrm>
            <a:off x="1618488" y="4224528"/>
            <a:ext cx="10006279" cy="640080"/>
          </a:xfrm>
          <a:prstGeom prst="rect">
            <a:avLst/>
          </a:prstGeom>
          <a:noFill/>
        </p:spPr>
        <p:txBody>
          <a:bodyPr wrap="square" anchor="ctr" lIns="0" rIns="0" tIns="0" bIns="0">
            <a:noAutofit/>
          </a:bodyPr>
          <a:lstStyle/>
          <a:p>
            <a:pPr algn="l">
              <a:lnSpc>
                <a:spcPct val="100000"/>
              </a:lnSpc>
              <a:spcBef>
                <a:spcPts val="0"/>
              </a:spcBef>
              <a:spcAft>
                <a:spcPts val="200"/>
              </a:spcAft>
            </a:pPr>
            <a:r>
              <a:rPr sz="1550" b="1">
                <a:solidFill>
                  <a:srgbClr val="1B2733"/>
                </a:solidFill>
                <a:latin typeface="Arial"/>
              </a:rPr>
              <a:t>Solution 2 — LangChain + A2A</a:t>
            </a:r>
          </a:p>
          <a:p>
            <a:pPr algn="l">
              <a:lnSpc>
                <a:spcPct val="105000"/>
              </a:lnSpc>
              <a:spcBef>
                <a:spcPts val="0"/>
              </a:spcBef>
              <a:spcAft>
                <a:spcPts val="600"/>
              </a:spcAft>
            </a:pPr>
            <a:r>
              <a:rPr sz="1100" b="0">
                <a:solidFill>
                  <a:srgbClr val="6B7885"/>
                </a:solidFill>
                <a:latin typeface="Arial"/>
              </a:rPr>
              <a:t>An orchestrator that delegates to Datadog &amp; Splunk specialist agents over the A2A protocol.</a:t>
            </a:r>
          </a:p>
        </p:txBody>
      </p:sp>
      <p:sp>
        <p:nvSpPr>
          <p:cNvPr id="19" name="Rounded Rectangle 18"/>
          <p:cNvSpPr/>
          <p:nvPr/>
        </p:nvSpPr>
        <p:spPr>
          <a:xfrm>
            <a:off x="566928" y="5074920"/>
            <a:ext cx="822960" cy="566928"/>
          </a:xfrm>
          <a:prstGeom prst="roundRect">
            <a:avLst>
              <a:gd name="adj" fmla="val 14000"/>
            </a:avLst>
          </a:prstGeom>
          <a:solidFill>
            <a:srgbClr val="F7F9FB"/>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5074920"/>
            <a:ext cx="822960" cy="566928"/>
          </a:xfrm>
          <a:prstGeom prst="rect">
            <a:avLst/>
          </a:prstGeom>
          <a:noFill/>
        </p:spPr>
        <p:txBody>
          <a:bodyPr wrap="square" anchor="ctr" lIns="0" rIns="0" tIns="0" bIns="0">
            <a:noAutofit/>
          </a:bodyPr>
          <a:lstStyle/>
          <a:p>
            <a:pPr algn="ctr">
              <a:lnSpc>
                <a:spcPct val="100000"/>
              </a:lnSpc>
              <a:spcBef>
                <a:spcPts val="0"/>
              </a:spcBef>
              <a:spcAft>
                <a:spcPts val="600"/>
              </a:spcAft>
            </a:pPr>
            <a:r>
              <a:rPr sz="2200" b="1">
                <a:solidFill>
                  <a:srgbClr val="FF7300"/>
                </a:solidFill>
                <a:latin typeface="Arial"/>
              </a:rPr>
              <a:t>05</a:t>
            </a:r>
          </a:p>
        </p:txBody>
      </p:sp>
      <p:sp>
        <p:nvSpPr>
          <p:cNvPr id="21" name="TextBox 20"/>
          <p:cNvSpPr txBox="1"/>
          <p:nvPr/>
        </p:nvSpPr>
        <p:spPr>
          <a:xfrm>
            <a:off x="1618488" y="5047488"/>
            <a:ext cx="10006279" cy="640080"/>
          </a:xfrm>
          <a:prstGeom prst="rect">
            <a:avLst/>
          </a:prstGeom>
          <a:noFill/>
        </p:spPr>
        <p:txBody>
          <a:bodyPr wrap="square" anchor="ctr" lIns="0" rIns="0" tIns="0" bIns="0">
            <a:noAutofit/>
          </a:bodyPr>
          <a:lstStyle/>
          <a:p>
            <a:pPr algn="l">
              <a:lnSpc>
                <a:spcPct val="100000"/>
              </a:lnSpc>
              <a:spcBef>
                <a:spcPts val="0"/>
              </a:spcBef>
              <a:spcAft>
                <a:spcPts val="200"/>
              </a:spcAft>
            </a:pPr>
            <a:r>
              <a:rPr sz="1550" b="1">
                <a:solidFill>
                  <a:srgbClr val="1B2733"/>
                </a:solidFill>
                <a:latin typeface="Arial"/>
              </a:rPr>
              <a:t>Comparison &amp; path to enterprise</a:t>
            </a:r>
          </a:p>
          <a:p>
            <a:pPr algn="l">
              <a:lnSpc>
                <a:spcPct val="105000"/>
              </a:lnSpc>
              <a:spcBef>
                <a:spcPts val="0"/>
              </a:spcBef>
              <a:spcAft>
                <a:spcPts val="600"/>
              </a:spcAft>
            </a:pPr>
            <a:r>
              <a:rPr sz="1100" b="0">
                <a:solidFill>
                  <a:srgbClr val="6B7885"/>
                </a:solidFill>
                <a:latin typeface="Arial"/>
              </a:rPr>
              <a:t>An honest scorecard, the 5-minute demo, and what production hardening looks like.</a:t>
            </a:r>
          </a:p>
        </p:txBody>
      </p:sp>
      <p:sp>
        <p:nvSpPr>
          <p:cNvPr id="22" name="TextBox 21"/>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3" name="TextBox 22"/>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02  /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THE ONE-SLIDE VERSION</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Executive summary</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6126480" cy="3291840"/>
          </a:xfrm>
          <a:prstGeom prst="rect">
            <a:avLst/>
          </a:prstGeom>
          <a:noFill/>
        </p:spPr>
        <p:txBody>
          <a:bodyPr wrap="square" anchor="t" lIns="0" rIns="0" tIns="0" bIns="0">
            <a:noAutofit/>
          </a:bodyPr>
          <a:lstStyle/>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The pain:  </a:t>
            </a:r>
            <a:r>
              <a:rPr sz="1300" b="0">
                <a:solidFill>
                  <a:srgbClr val="1B2733"/>
                </a:solidFill>
                <a:latin typeface="Arial"/>
              </a:rPr>
              <a:t>in a P1, engineers burn the first 20–40 minutes hand-correlating Splunk logs against Datadog metrics — under pressure, by hand.</a:t>
            </a:r>
          </a:p>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What we built:  </a:t>
            </a:r>
            <a:r>
              <a:rPr sz="1300" b="0">
                <a:solidFill>
                  <a:srgbClr val="1B2733"/>
                </a:solidFill>
                <a:latin typeface="Arial"/>
              </a:rPr>
              <a:t>an AI agent that runs that cross-platform investigation automatically, then proposes a specific fix and waits for a human to approve it.</a:t>
            </a:r>
          </a:p>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Two architectures:  </a:t>
            </a:r>
            <a:r>
              <a:rPr sz="1300" b="0">
                <a:solidFill>
                  <a:srgbClr val="1B2733"/>
                </a:solidFill>
                <a:latin typeface="Arial"/>
              </a:rPr>
              <a:t>same POC, same 5-minute demo, built two ways to show the trade-off — a Ballerina MCP Proxy and a LangChain A2A multi-agent system.</a:t>
            </a:r>
          </a:p>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The durable bets:  </a:t>
            </a:r>
            <a:r>
              <a:rPr sz="1300" b="0">
                <a:solidFill>
                  <a:srgbClr val="1B2733"/>
                </a:solidFill>
                <a:latin typeface="Arial"/>
              </a:rPr>
              <a:t>MCP as the contract boundary, correlation kept in one reasoning context, and propose-before-act as a hard rule — never autonomous.</a:t>
            </a:r>
          </a:p>
        </p:txBody>
      </p:sp>
      <p:sp>
        <p:nvSpPr>
          <p:cNvPr id="8" name="Rounded Rectangle 7"/>
          <p:cNvSpPr/>
          <p:nvPr/>
        </p:nvSpPr>
        <p:spPr>
          <a:xfrm>
            <a:off x="7059168" y="1783080"/>
            <a:ext cx="4565599" cy="1170432"/>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68896" y="1892807"/>
            <a:ext cx="4346143" cy="950976"/>
          </a:xfrm>
          <a:prstGeom prst="rect">
            <a:avLst/>
          </a:prstGeom>
          <a:noFill/>
        </p:spPr>
        <p:txBody>
          <a:bodyPr wrap="square" anchor="ctr" lIns="0" rIns="0" tIns="0" bIns="0">
            <a:noAutofit/>
          </a:bodyPr>
          <a:lstStyle/>
          <a:p>
            <a:pPr algn="ctr">
              <a:lnSpc>
                <a:spcPct val="100000"/>
              </a:lnSpc>
              <a:spcBef>
                <a:spcPts val="0"/>
              </a:spcBef>
              <a:spcAft>
                <a:spcPts val="200"/>
              </a:spcAft>
            </a:pPr>
            <a:r>
              <a:rPr sz="3400" b="1">
                <a:solidFill>
                  <a:srgbClr val="FF7300"/>
                </a:solidFill>
                <a:latin typeface="Arial"/>
              </a:rPr>
              <a:t>≤ 5 min</a:t>
            </a:r>
          </a:p>
          <a:p>
            <a:pPr algn="ctr">
              <a:lnSpc>
                <a:spcPct val="102000"/>
              </a:lnSpc>
              <a:spcBef>
                <a:spcPts val="0"/>
              </a:spcBef>
              <a:spcAft>
                <a:spcPts val="0"/>
              </a:spcAft>
            </a:pPr>
            <a:r>
              <a:rPr sz="1050" b="1">
                <a:solidFill>
                  <a:srgbClr val="1B2733"/>
                </a:solidFill>
                <a:latin typeface="Arial"/>
              </a:rPr>
              <a:t>inject → diagnose → approve → recover</a:t>
            </a:r>
          </a:p>
        </p:txBody>
      </p:sp>
      <p:sp>
        <p:nvSpPr>
          <p:cNvPr id="10" name="Rounded Rectangle 9"/>
          <p:cNvSpPr/>
          <p:nvPr/>
        </p:nvSpPr>
        <p:spPr>
          <a:xfrm>
            <a:off x="7059168" y="3108960"/>
            <a:ext cx="2168499" cy="109728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68896" y="3218688"/>
            <a:ext cx="1949043" cy="877824"/>
          </a:xfrm>
          <a:prstGeom prst="rect">
            <a:avLst/>
          </a:prstGeom>
          <a:noFill/>
        </p:spPr>
        <p:txBody>
          <a:bodyPr wrap="square" anchor="ctr" lIns="0" rIns="0" tIns="0" bIns="0">
            <a:noAutofit/>
          </a:bodyPr>
          <a:lstStyle/>
          <a:p>
            <a:pPr algn="ctr">
              <a:lnSpc>
                <a:spcPct val="100000"/>
              </a:lnSpc>
              <a:spcBef>
                <a:spcPts val="0"/>
              </a:spcBef>
              <a:spcAft>
                <a:spcPts val="200"/>
              </a:spcAft>
            </a:pPr>
            <a:r>
              <a:rPr sz="2400" b="1">
                <a:solidFill>
                  <a:srgbClr val="0E8FA8"/>
                </a:solidFill>
                <a:latin typeface="Arial"/>
              </a:rPr>
              <a:t>&lt; 90s</a:t>
            </a:r>
          </a:p>
          <a:p>
            <a:pPr algn="ctr">
              <a:lnSpc>
                <a:spcPct val="102000"/>
              </a:lnSpc>
              <a:spcBef>
                <a:spcPts val="0"/>
              </a:spcBef>
              <a:spcAft>
                <a:spcPts val="0"/>
              </a:spcAft>
            </a:pPr>
            <a:r>
              <a:rPr sz="950" b="1">
                <a:solidFill>
                  <a:srgbClr val="1B2733"/>
                </a:solidFill>
                <a:latin typeface="Arial"/>
              </a:rPr>
              <a:t>AI diagnosis (cloud model)</a:t>
            </a:r>
          </a:p>
        </p:txBody>
      </p:sp>
      <p:sp>
        <p:nvSpPr>
          <p:cNvPr id="12" name="Rounded Rectangle 11"/>
          <p:cNvSpPr/>
          <p:nvPr/>
        </p:nvSpPr>
        <p:spPr>
          <a:xfrm>
            <a:off x="9456267" y="3108960"/>
            <a:ext cx="2168499" cy="109728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65995" y="3218688"/>
            <a:ext cx="1949043" cy="877824"/>
          </a:xfrm>
          <a:prstGeom prst="rect">
            <a:avLst/>
          </a:prstGeom>
          <a:noFill/>
        </p:spPr>
        <p:txBody>
          <a:bodyPr wrap="square" anchor="ctr" lIns="0" rIns="0" tIns="0" bIns="0">
            <a:noAutofit/>
          </a:bodyPr>
          <a:lstStyle/>
          <a:p>
            <a:pPr algn="ctr">
              <a:lnSpc>
                <a:spcPct val="100000"/>
              </a:lnSpc>
              <a:spcBef>
                <a:spcPts val="0"/>
              </a:spcBef>
              <a:spcAft>
                <a:spcPts val="200"/>
              </a:spcAft>
            </a:pPr>
            <a:r>
              <a:rPr sz="2400" b="1">
                <a:solidFill>
                  <a:srgbClr val="6A4CE0"/>
                </a:solidFill>
                <a:latin typeface="Arial"/>
              </a:rPr>
              <a:t>0</a:t>
            </a:r>
          </a:p>
          <a:p>
            <a:pPr algn="ctr">
              <a:lnSpc>
                <a:spcPct val="102000"/>
              </a:lnSpc>
              <a:spcBef>
                <a:spcPts val="0"/>
              </a:spcBef>
              <a:spcAft>
                <a:spcPts val="0"/>
              </a:spcAft>
            </a:pPr>
            <a:r>
              <a:rPr sz="950" b="1">
                <a:solidFill>
                  <a:srgbClr val="1B2733"/>
                </a:solidFill>
                <a:latin typeface="Arial"/>
              </a:rPr>
              <a:t>vendor creds to demo</a:t>
            </a:r>
          </a:p>
        </p:txBody>
      </p:sp>
      <p:sp>
        <p:nvSpPr>
          <p:cNvPr id="14" name="Rounded Rectangle 13"/>
          <p:cNvSpPr/>
          <p:nvPr/>
        </p:nvSpPr>
        <p:spPr>
          <a:xfrm>
            <a:off x="7059168" y="4389120"/>
            <a:ext cx="4565599" cy="868680"/>
          </a:xfrm>
          <a:prstGeom prst="roundRect">
            <a:avLst>
              <a:gd name="adj" fmla="val 45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59168" y="4389120"/>
            <a:ext cx="91440" cy="86868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96912" y="4517136"/>
            <a:ext cx="4181551" cy="612647"/>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FF7300"/>
                </a:solidFill>
                <a:latin typeface="Arial"/>
              </a:rPr>
              <a:t>◆  Bottom line</a:t>
            </a:r>
          </a:p>
          <a:p>
            <a:pPr algn="l">
              <a:lnSpc>
                <a:spcPct val="112000"/>
              </a:lnSpc>
              <a:spcBef>
                <a:spcPts val="0"/>
              </a:spcBef>
              <a:spcAft>
                <a:spcPts val="0"/>
              </a:spcAft>
            </a:pPr>
            <a:r>
              <a:rPr sz="1050" b="0">
                <a:solidFill>
                  <a:srgbClr val="3E4C59"/>
                </a:solidFill>
                <a:latin typeface="Arial"/>
              </a:rPr>
              <a:t>Both approaches work. This deck gives you the scorecard to choose.</a:t>
            </a:r>
          </a:p>
        </p:txBody>
      </p:sp>
      <p:sp>
        <p:nvSpPr>
          <p:cNvPr id="17" name="TextBox 16"/>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18" name="TextBox 17"/>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03  /  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53935" y="-320040"/>
            <a:ext cx="4572000" cy="3840480"/>
          </a:xfrm>
          <a:prstGeom prst="rect">
            <a:avLst/>
          </a:prstGeom>
          <a:noFill/>
        </p:spPr>
        <p:txBody>
          <a:bodyPr wrap="square" anchor="t" lIns="0" rIns="0" tIns="0" bIns="0">
            <a:noAutofit/>
          </a:bodyPr>
          <a:lstStyle/>
          <a:p>
            <a:pPr algn="r">
              <a:lnSpc>
                <a:spcPct val="100000"/>
              </a:lnSpc>
              <a:spcBef>
                <a:spcPts val="0"/>
              </a:spcBef>
              <a:spcAft>
                <a:spcPts val="600"/>
              </a:spcAft>
            </a:pPr>
            <a:r>
              <a:rPr sz="21000" b="1">
                <a:solidFill>
                  <a:srgbClr val="20374A"/>
                </a:solidFill>
                <a:latin typeface="Arial"/>
              </a:rPr>
              <a:t>01</a:t>
            </a:r>
          </a:p>
        </p:txBody>
      </p:sp>
      <p:sp>
        <p:nvSpPr>
          <p:cNvPr id="4" name="Rectangle 3"/>
          <p:cNvSpPr/>
          <p:nvPr/>
        </p:nvSpPr>
        <p:spPr>
          <a:xfrm>
            <a:off x="566928" y="2761488"/>
            <a:ext cx="822960" cy="100584"/>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99232"/>
            <a:ext cx="9601200" cy="365760"/>
          </a:xfrm>
          <a:prstGeom prst="rect">
            <a:avLst/>
          </a:prstGeom>
          <a:noFill/>
        </p:spPr>
        <p:txBody>
          <a:bodyPr wrap="square" anchor="t" lIns="0" rIns="0" tIns="0" bIns="0">
            <a:noAutofit/>
          </a:bodyPr>
          <a:lstStyle/>
          <a:p>
            <a:pPr algn="l">
              <a:lnSpc>
                <a:spcPct val="100000"/>
              </a:lnSpc>
              <a:spcBef>
                <a:spcPts val="0"/>
              </a:spcBef>
              <a:spcAft>
                <a:spcPts val="600"/>
              </a:spcAft>
            </a:pPr>
            <a:r>
              <a:rPr sz="1250" b="1">
                <a:solidFill>
                  <a:srgbClr val="FF7300"/>
                </a:solidFill>
                <a:latin typeface="Arial"/>
              </a:rPr>
              <a:t>SECTION</a:t>
            </a:r>
          </a:p>
        </p:txBody>
      </p:sp>
      <p:sp>
        <p:nvSpPr>
          <p:cNvPr id="6" name="TextBox 5"/>
          <p:cNvSpPr txBox="1"/>
          <p:nvPr/>
        </p:nvSpPr>
        <p:spPr>
          <a:xfrm>
            <a:off x="566928" y="3346704"/>
            <a:ext cx="10241280" cy="1554480"/>
          </a:xfrm>
          <a:prstGeom prst="rect">
            <a:avLst/>
          </a:prstGeom>
          <a:noFill/>
        </p:spPr>
        <p:txBody>
          <a:bodyPr wrap="square" anchor="t" lIns="0" rIns="0" tIns="0" bIns="0">
            <a:noAutofit/>
          </a:bodyPr>
          <a:lstStyle/>
          <a:p>
            <a:pPr algn="l">
              <a:lnSpc>
                <a:spcPct val="102000"/>
              </a:lnSpc>
              <a:spcBef>
                <a:spcPts val="0"/>
              </a:spcBef>
              <a:spcAft>
                <a:spcPts val="600"/>
              </a:spcAft>
            </a:pPr>
            <a:r>
              <a:rPr sz="4000" b="1">
                <a:solidFill>
                  <a:srgbClr val="FFFFFF"/>
                </a:solidFill>
                <a:latin typeface="Arial"/>
              </a:rPr>
              <a:t>The Problem</a:t>
            </a:r>
          </a:p>
        </p:txBody>
      </p:sp>
      <p:sp>
        <p:nvSpPr>
          <p:cNvPr id="7" name="TextBox 6"/>
          <p:cNvSpPr txBox="1"/>
          <p:nvPr/>
        </p:nvSpPr>
        <p:spPr>
          <a:xfrm>
            <a:off x="566928" y="4937760"/>
            <a:ext cx="9692640" cy="1005840"/>
          </a:xfrm>
          <a:prstGeom prst="rect">
            <a:avLst/>
          </a:prstGeom>
          <a:noFill/>
        </p:spPr>
        <p:txBody>
          <a:bodyPr wrap="square" anchor="t" lIns="0" rIns="0" tIns="0" bIns="0">
            <a:noAutofit/>
          </a:bodyPr>
          <a:lstStyle/>
          <a:p>
            <a:pPr algn="l">
              <a:lnSpc>
                <a:spcPct val="115000"/>
              </a:lnSpc>
              <a:spcBef>
                <a:spcPts val="0"/>
              </a:spcBef>
              <a:spcAft>
                <a:spcPts val="600"/>
              </a:spcAft>
            </a:pPr>
            <a:r>
              <a:rPr sz="1500" b="0">
                <a:solidFill>
                  <a:srgbClr val="AEBECD"/>
                </a:solidFill>
                <a:latin typeface="Arial"/>
              </a:rPr>
              <a:t>Why cross-platform incident diagnosis is slow, risky, and manual — and what 'good' looks like.</a:t>
            </a:r>
          </a:p>
        </p:txBody>
      </p:sp>
      <p:sp>
        <p:nvSpPr>
          <p:cNvPr id="8" name="TextBox 7"/>
          <p:cNvSpPr txBox="1"/>
          <p:nvPr/>
        </p:nvSpPr>
        <p:spPr>
          <a:xfrm>
            <a:off x="566928" y="6272784"/>
            <a:ext cx="2194560" cy="457200"/>
          </a:xfrm>
          <a:prstGeom prst="rect">
            <a:avLst/>
          </a:prstGeom>
          <a:noFill/>
        </p:spPr>
        <p:txBody>
          <a:bodyPr wrap="square" anchor="ctr" lIns="0" rIns="0" tIns="0" bIns="0">
            <a:noAutofit/>
          </a:bodyPr>
          <a:lstStyle/>
          <a:p>
            <a:pPr algn="l">
              <a:lnSpc>
                <a:spcPct val="100000"/>
              </a:lnSpc>
              <a:spcBef>
                <a:spcPts val="0"/>
              </a:spcBef>
              <a:spcAft>
                <a:spcPts val="600"/>
              </a:spcAft>
            </a:pPr>
            <a:r>
              <a:rPr sz="1600" b="1">
                <a:solidFill>
                  <a:srgbClr val="FFFFFF"/>
                </a:solidFill>
                <a:latin typeface="Arial"/>
              </a:rPr>
              <a:t>wso</a:t>
            </a:r>
            <a:r>
              <a:rPr sz="1600" b="1">
                <a:solidFill>
                  <a:srgbClr val="FF7300"/>
                </a:solidFill>
                <a:latin typeface="Arial"/>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THE PROBLEM</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Best-of-breed tools, siloed by design</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5943600" cy="3474720"/>
          </a:xfrm>
          <a:prstGeom prst="rect">
            <a:avLst/>
          </a:prstGeom>
          <a:noFill/>
        </p:spPr>
        <p:txBody>
          <a:bodyPr wrap="square" anchor="t" lIns="0" rIns="0" tIns="0" bIns="0">
            <a:noAutofit/>
          </a:bodyPr>
          <a:lstStyle/>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Two systems of record.  </a:t>
            </a:r>
            <a:r>
              <a:rPr sz="1300" b="0">
                <a:solidFill>
                  <a:srgbClr val="1B2733"/>
                </a:solidFill>
                <a:latin typeface="Arial"/>
              </a:rPr>
              <a:t>Logs and search live in Splunk. Metrics, APM, and traces live in Datadog. Both are excellent — and they don't share a query interface.</a:t>
            </a:r>
          </a:p>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The join is manual.  </a:t>
            </a:r>
            <a:r>
              <a:rPr sz="1300" b="0">
                <a:solidFill>
                  <a:srgbClr val="1B2733"/>
                </a:solidFill>
                <a:latin typeface="Arial"/>
              </a:rPr>
              <a:t>During an incident an engineer swivel-chairs between them: spot a metric anomaly, pull a trace, copy the trace ID into a log search, cross-reference in their head.</a:t>
            </a:r>
          </a:p>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It doesn't scale.  </a:t>
            </a:r>
            <a:r>
              <a:rPr sz="1300" b="0">
                <a:solidFill>
                  <a:srgbClr val="1B2733"/>
                </a:solidFill>
                <a:latin typeface="Arial"/>
              </a:rPr>
              <a:t>The work depends on individual institutional knowledge and gets harder as the mesh grows. Under pressure, at 2am, it's slow and error-prone.</a:t>
            </a:r>
          </a:p>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Financial services raises the bar.  </a:t>
            </a:r>
            <a:r>
              <a:rPr sz="1300" b="0">
                <a:solidFill>
                  <a:srgbClr val="1B2733"/>
                </a:solidFill>
                <a:latin typeface="Arial"/>
              </a:rPr>
              <a:t>Any automation must be auditable, bounded, and must never change production without explicit human approval.</a:t>
            </a:r>
          </a:p>
        </p:txBody>
      </p:sp>
      <p:sp>
        <p:nvSpPr>
          <p:cNvPr id="8" name="Rounded Rectangle 7"/>
          <p:cNvSpPr/>
          <p:nvPr/>
        </p:nvSpPr>
        <p:spPr>
          <a:xfrm>
            <a:off x="6922008" y="1920240"/>
            <a:ext cx="4702759" cy="914400"/>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1956816"/>
            <a:ext cx="4556455" cy="841248"/>
          </a:xfrm>
          <a:prstGeom prst="rect">
            <a:avLst/>
          </a:prstGeom>
          <a:noFill/>
        </p:spPr>
        <p:txBody>
          <a:bodyPr wrap="square" anchor="ctr" lIns="0" rIns="0" tIns="0" bIns="0">
            <a:noAutofit/>
          </a:bodyPr>
          <a:lstStyle/>
          <a:p>
            <a:pPr algn="ctr">
              <a:lnSpc>
                <a:spcPct val="100000"/>
              </a:lnSpc>
              <a:spcBef>
                <a:spcPts val="0"/>
              </a:spcBef>
              <a:spcAft>
                <a:spcPts val="200"/>
              </a:spcAft>
            </a:pPr>
            <a:r>
              <a:rPr sz="1500" b="1">
                <a:solidFill>
                  <a:srgbClr val="1B2733"/>
                </a:solidFill>
                <a:latin typeface="Arial"/>
              </a:rPr>
              <a:t>Datadog</a:t>
            </a:r>
          </a:p>
          <a:p>
            <a:pPr algn="ctr">
              <a:lnSpc>
                <a:spcPct val="102000"/>
              </a:lnSpc>
              <a:spcBef>
                <a:spcPts val="0"/>
              </a:spcBef>
              <a:spcAft>
                <a:spcPts val="0"/>
              </a:spcAft>
            </a:pPr>
            <a:r>
              <a:rPr sz="900" b="0">
                <a:solidFill>
                  <a:srgbClr val="6B7885"/>
                </a:solidFill>
                <a:latin typeface="Arial"/>
              </a:rPr>
              <a:t>metrics · APM · traces</a:t>
            </a:r>
          </a:p>
        </p:txBody>
      </p:sp>
      <p:sp>
        <p:nvSpPr>
          <p:cNvPr id="10" name="Rounded Rectangle 9"/>
          <p:cNvSpPr/>
          <p:nvPr/>
        </p:nvSpPr>
        <p:spPr>
          <a:xfrm>
            <a:off x="6922008" y="4069079"/>
            <a:ext cx="4702759" cy="914400"/>
          </a:xfrm>
          <a:prstGeom prst="roundRect">
            <a:avLst>
              <a:gd name="adj" fmla="val 10000"/>
            </a:avLst>
          </a:prstGeom>
          <a:solidFill>
            <a:srgbClr val="EAF4E1"/>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4105655"/>
            <a:ext cx="4556455" cy="841248"/>
          </a:xfrm>
          <a:prstGeom prst="rect">
            <a:avLst/>
          </a:prstGeom>
          <a:noFill/>
        </p:spPr>
        <p:txBody>
          <a:bodyPr wrap="square" anchor="ctr" lIns="0" rIns="0" tIns="0" bIns="0">
            <a:noAutofit/>
          </a:bodyPr>
          <a:lstStyle/>
          <a:p>
            <a:pPr algn="ctr">
              <a:lnSpc>
                <a:spcPct val="100000"/>
              </a:lnSpc>
              <a:spcBef>
                <a:spcPts val="0"/>
              </a:spcBef>
              <a:spcAft>
                <a:spcPts val="200"/>
              </a:spcAft>
            </a:pPr>
            <a:r>
              <a:rPr sz="1500" b="1">
                <a:solidFill>
                  <a:srgbClr val="1B2733"/>
                </a:solidFill>
                <a:latin typeface="Arial"/>
              </a:rPr>
              <a:t>Splunk</a:t>
            </a:r>
          </a:p>
          <a:p>
            <a:pPr algn="ctr">
              <a:lnSpc>
                <a:spcPct val="102000"/>
              </a:lnSpc>
              <a:spcBef>
                <a:spcPts val="0"/>
              </a:spcBef>
              <a:spcAft>
                <a:spcPts val="0"/>
              </a:spcAft>
            </a:pPr>
            <a:r>
              <a:rPr sz="900" b="0">
                <a:solidFill>
                  <a:srgbClr val="6B7885"/>
                </a:solidFill>
                <a:latin typeface="Arial"/>
              </a:rPr>
              <a:t>logs · search</a:t>
            </a:r>
          </a:p>
        </p:txBody>
      </p:sp>
      <p:cxnSp>
        <p:nvCxnSpPr>
          <p:cNvPr id="12" name="Connector 11"/>
          <p:cNvCxnSpPr/>
          <p:nvPr/>
        </p:nvCxnSpPr>
        <p:spPr>
          <a:xfrm>
            <a:off x="9273387" y="2834639"/>
            <a:ext cx="0" cy="1234440"/>
          </a:xfrm>
          <a:prstGeom prst="line">
            <a:avLst/>
          </a:prstGeom>
          <a:ln w="20320">
            <a:solidFill>
              <a:srgbClr val="9AA5B1"/>
            </a:solidFill>
            <a:prstDash val="dash"/>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473287" y="3328416"/>
            <a:ext cx="1600200" cy="237744"/>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73287" y="3328416"/>
            <a:ext cx="1600200" cy="237744"/>
          </a:xfrm>
          <a:prstGeom prst="rect">
            <a:avLst/>
          </a:prstGeom>
          <a:noFill/>
        </p:spPr>
        <p:txBody>
          <a:bodyPr wrap="square" anchor="ctr" lIns="0" rIns="0" tIns="0" bIns="0">
            <a:noAutofit/>
          </a:bodyPr>
          <a:lstStyle/>
          <a:p>
            <a:pPr algn="ctr">
              <a:lnSpc>
                <a:spcPct val="100000"/>
              </a:lnSpc>
              <a:spcBef>
                <a:spcPts val="0"/>
              </a:spcBef>
              <a:spcAft>
                <a:spcPts val="600"/>
              </a:spcAft>
            </a:pPr>
            <a:r>
              <a:rPr sz="900" b="1">
                <a:solidFill>
                  <a:srgbClr val="CE4A45"/>
                </a:solidFill>
                <a:latin typeface="Arial"/>
              </a:rPr>
              <a:t>manual
trace_id copy</a:t>
            </a:r>
          </a:p>
        </p:txBody>
      </p:sp>
      <p:sp>
        <p:nvSpPr>
          <p:cNvPr id="15" name="TextBox 14"/>
          <p:cNvSpPr txBox="1"/>
          <p:nvPr/>
        </p:nvSpPr>
        <p:spPr>
          <a:xfrm>
            <a:off x="6922008" y="5166360"/>
            <a:ext cx="4702759" cy="457200"/>
          </a:xfrm>
          <a:prstGeom prst="rect">
            <a:avLst/>
          </a:prstGeom>
          <a:noFill/>
        </p:spPr>
        <p:txBody>
          <a:bodyPr wrap="square" anchor="t" lIns="0" rIns="0" tIns="0" bIns="0">
            <a:noAutofit/>
          </a:bodyPr>
          <a:lstStyle/>
          <a:p>
            <a:pPr algn="ctr">
              <a:lnSpc>
                <a:spcPct val="100000"/>
              </a:lnSpc>
              <a:spcBef>
                <a:spcPts val="0"/>
              </a:spcBef>
              <a:spcAft>
                <a:spcPts val="600"/>
              </a:spcAft>
            </a:pPr>
            <a:r>
              <a:rPr sz="1150" b="1">
                <a:solidFill>
                  <a:srgbClr val="1B2733"/>
                </a:solidFill>
                <a:latin typeface="Arial"/>
              </a:rPr>
              <a:t>The engineer is the integration.</a:t>
            </a:r>
          </a:p>
        </p:txBody>
      </p:sp>
      <p:sp>
        <p:nvSpPr>
          <p:cNvPr id="16" name="TextBox 15"/>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17" name="TextBox 16"/>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05  /  48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THE PROBLEM</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manual-correlation tax</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2057400"/>
            <a:ext cx="2006742" cy="17373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057400"/>
            <a:ext cx="2006742"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276856"/>
            <a:ext cx="1750710" cy="457200"/>
          </a:xfrm>
          <a:prstGeom prst="rect">
            <a:avLst/>
          </a:prstGeom>
          <a:noFill/>
        </p:spPr>
        <p:txBody>
          <a:bodyPr wrap="square" anchor="t" lIns="0" rIns="0" tIns="0" bIns="0">
            <a:noAutofit/>
          </a:bodyPr>
          <a:lstStyle/>
          <a:p>
            <a:pPr algn="l">
              <a:lnSpc>
                <a:spcPct val="100000"/>
              </a:lnSpc>
              <a:spcBef>
                <a:spcPts val="0"/>
              </a:spcBef>
              <a:spcAft>
                <a:spcPts val="100"/>
              </a:spcAft>
            </a:pPr>
            <a:r>
              <a:rPr sz="1300" b="1">
                <a:solidFill>
                  <a:srgbClr val="FF7300"/>
                </a:solidFill>
                <a:latin typeface="Arial"/>
              </a:rPr>
              <a:t>1</a:t>
            </a:r>
          </a:p>
          <a:p>
            <a:pPr algn="l">
              <a:lnSpc>
                <a:spcPct val="100000"/>
              </a:lnSpc>
              <a:spcBef>
                <a:spcPts val="0"/>
              </a:spcBef>
              <a:spcAft>
                <a:spcPts val="600"/>
              </a:spcAft>
            </a:pPr>
            <a:r>
              <a:rPr sz="1350" b="1">
                <a:solidFill>
                  <a:srgbClr val="1B2733"/>
                </a:solidFill>
                <a:latin typeface="Arial"/>
              </a:rPr>
              <a:t>Detect</a:t>
            </a:r>
          </a:p>
        </p:txBody>
      </p:sp>
      <p:sp>
        <p:nvSpPr>
          <p:cNvPr id="10" name="TextBox 9"/>
          <p:cNvSpPr txBox="1"/>
          <p:nvPr/>
        </p:nvSpPr>
        <p:spPr>
          <a:xfrm>
            <a:off x="694944" y="2971800"/>
            <a:ext cx="1750710" cy="777240"/>
          </a:xfrm>
          <a:prstGeom prst="rect">
            <a:avLst/>
          </a:prstGeom>
          <a:noFill/>
        </p:spPr>
        <p:txBody>
          <a:bodyPr wrap="square" anchor="t" lIns="0" rIns="0" tIns="0" bIns="0">
            <a:noAutofit/>
          </a:bodyPr>
          <a:lstStyle/>
          <a:p>
            <a:pPr algn="l">
              <a:lnSpc>
                <a:spcPct val="110000"/>
              </a:lnSpc>
              <a:spcBef>
                <a:spcPts val="0"/>
              </a:spcBef>
              <a:spcAft>
                <a:spcPts val="600"/>
              </a:spcAft>
            </a:pPr>
            <a:r>
              <a:rPr sz="1000" b="0">
                <a:solidFill>
                  <a:srgbClr val="3E4C59"/>
                </a:solidFill>
                <a:latin typeface="Arial"/>
              </a:rPr>
              <a:t>An alert fires or a metric looks wrong in Datadog.</a:t>
            </a:r>
          </a:p>
        </p:txBody>
      </p:sp>
      <p:cxnSp>
        <p:nvCxnSpPr>
          <p:cNvPr id="11" name="Connector 10"/>
          <p:cNvCxnSpPr/>
          <p:nvPr/>
        </p:nvCxnSpPr>
        <p:spPr>
          <a:xfrm>
            <a:off x="2591958" y="2926080"/>
            <a:ext cx="219456" cy="0"/>
          </a:xfrm>
          <a:prstGeom prst="line">
            <a:avLst/>
          </a:prstGeom>
          <a:ln w="2032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29702" y="2057400"/>
            <a:ext cx="2006742" cy="17373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29702" y="2057400"/>
            <a:ext cx="2006742"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7718" y="2276856"/>
            <a:ext cx="1750710" cy="457200"/>
          </a:xfrm>
          <a:prstGeom prst="rect">
            <a:avLst/>
          </a:prstGeom>
          <a:noFill/>
        </p:spPr>
        <p:txBody>
          <a:bodyPr wrap="square" anchor="t" lIns="0" rIns="0" tIns="0" bIns="0">
            <a:noAutofit/>
          </a:bodyPr>
          <a:lstStyle/>
          <a:p>
            <a:pPr algn="l">
              <a:lnSpc>
                <a:spcPct val="100000"/>
              </a:lnSpc>
              <a:spcBef>
                <a:spcPts val="0"/>
              </a:spcBef>
              <a:spcAft>
                <a:spcPts val="100"/>
              </a:spcAft>
            </a:pPr>
            <a:r>
              <a:rPr sz="1300" b="1">
                <a:solidFill>
                  <a:srgbClr val="FF7300"/>
                </a:solidFill>
                <a:latin typeface="Arial"/>
              </a:rPr>
              <a:t>2</a:t>
            </a:r>
          </a:p>
          <a:p>
            <a:pPr algn="l">
              <a:lnSpc>
                <a:spcPct val="100000"/>
              </a:lnSpc>
              <a:spcBef>
                <a:spcPts val="0"/>
              </a:spcBef>
              <a:spcAft>
                <a:spcPts val="600"/>
              </a:spcAft>
            </a:pPr>
            <a:r>
              <a:rPr sz="1350" b="1">
                <a:solidFill>
                  <a:srgbClr val="1B2733"/>
                </a:solidFill>
                <a:latin typeface="Arial"/>
              </a:rPr>
              <a:t>Trace</a:t>
            </a:r>
          </a:p>
        </p:txBody>
      </p:sp>
      <p:sp>
        <p:nvSpPr>
          <p:cNvPr id="15" name="TextBox 14"/>
          <p:cNvSpPr txBox="1"/>
          <p:nvPr/>
        </p:nvSpPr>
        <p:spPr>
          <a:xfrm>
            <a:off x="2957718" y="2971800"/>
            <a:ext cx="1750710" cy="777240"/>
          </a:xfrm>
          <a:prstGeom prst="rect">
            <a:avLst/>
          </a:prstGeom>
          <a:noFill/>
        </p:spPr>
        <p:txBody>
          <a:bodyPr wrap="square" anchor="t" lIns="0" rIns="0" tIns="0" bIns="0">
            <a:noAutofit/>
          </a:bodyPr>
          <a:lstStyle/>
          <a:p>
            <a:pPr algn="l">
              <a:lnSpc>
                <a:spcPct val="110000"/>
              </a:lnSpc>
              <a:spcBef>
                <a:spcPts val="0"/>
              </a:spcBef>
              <a:spcAft>
                <a:spcPts val="600"/>
              </a:spcAft>
            </a:pPr>
            <a:r>
              <a:rPr sz="1000" b="0">
                <a:solidFill>
                  <a:srgbClr val="3E4C59"/>
                </a:solidFill>
                <a:latin typeface="Arial"/>
              </a:rPr>
              <a:t>Find a representative distributed trace for a failing request.</a:t>
            </a:r>
          </a:p>
        </p:txBody>
      </p:sp>
      <p:cxnSp>
        <p:nvCxnSpPr>
          <p:cNvPr id="16" name="Connector 15"/>
          <p:cNvCxnSpPr/>
          <p:nvPr/>
        </p:nvCxnSpPr>
        <p:spPr>
          <a:xfrm>
            <a:off x="4854732" y="2926080"/>
            <a:ext cx="219456" cy="0"/>
          </a:xfrm>
          <a:prstGeom prst="line">
            <a:avLst/>
          </a:prstGeom>
          <a:ln w="2032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92476" y="2057400"/>
            <a:ext cx="2006742" cy="17373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92476" y="2057400"/>
            <a:ext cx="2006742"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20492" y="2276856"/>
            <a:ext cx="1750710" cy="457200"/>
          </a:xfrm>
          <a:prstGeom prst="rect">
            <a:avLst/>
          </a:prstGeom>
          <a:noFill/>
        </p:spPr>
        <p:txBody>
          <a:bodyPr wrap="square" anchor="t" lIns="0" rIns="0" tIns="0" bIns="0">
            <a:noAutofit/>
          </a:bodyPr>
          <a:lstStyle/>
          <a:p>
            <a:pPr algn="l">
              <a:lnSpc>
                <a:spcPct val="100000"/>
              </a:lnSpc>
              <a:spcBef>
                <a:spcPts val="0"/>
              </a:spcBef>
              <a:spcAft>
                <a:spcPts val="100"/>
              </a:spcAft>
            </a:pPr>
            <a:r>
              <a:rPr sz="1300" b="1">
                <a:solidFill>
                  <a:srgbClr val="FF7300"/>
                </a:solidFill>
                <a:latin typeface="Arial"/>
              </a:rPr>
              <a:t>3</a:t>
            </a:r>
          </a:p>
          <a:p>
            <a:pPr algn="l">
              <a:lnSpc>
                <a:spcPct val="100000"/>
              </a:lnSpc>
              <a:spcBef>
                <a:spcPts val="0"/>
              </a:spcBef>
              <a:spcAft>
                <a:spcPts val="600"/>
              </a:spcAft>
            </a:pPr>
            <a:r>
              <a:rPr sz="1350" b="1">
                <a:solidFill>
                  <a:srgbClr val="1B2733"/>
                </a:solidFill>
                <a:latin typeface="Arial"/>
              </a:rPr>
              <a:t>Translate</a:t>
            </a:r>
          </a:p>
        </p:txBody>
      </p:sp>
      <p:sp>
        <p:nvSpPr>
          <p:cNvPr id="20" name="TextBox 19"/>
          <p:cNvSpPr txBox="1"/>
          <p:nvPr/>
        </p:nvSpPr>
        <p:spPr>
          <a:xfrm>
            <a:off x="5220492" y="2971800"/>
            <a:ext cx="1750710" cy="777240"/>
          </a:xfrm>
          <a:prstGeom prst="rect">
            <a:avLst/>
          </a:prstGeom>
          <a:noFill/>
        </p:spPr>
        <p:txBody>
          <a:bodyPr wrap="square" anchor="t" lIns="0" rIns="0" tIns="0" bIns="0">
            <a:noAutofit/>
          </a:bodyPr>
          <a:lstStyle/>
          <a:p>
            <a:pPr algn="l">
              <a:lnSpc>
                <a:spcPct val="110000"/>
              </a:lnSpc>
              <a:spcBef>
                <a:spcPts val="0"/>
              </a:spcBef>
              <a:spcAft>
                <a:spcPts val="600"/>
              </a:spcAft>
            </a:pPr>
            <a:r>
              <a:rPr sz="1000" b="0">
                <a:solidFill>
                  <a:srgbClr val="3E4C59"/>
                </a:solidFill>
                <a:latin typeface="Arial"/>
              </a:rPr>
              <a:t>Hand-convert the trace ID into a Splunk search query.</a:t>
            </a:r>
          </a:p>
        </p:txBody>
      </p:sp>
      <p:cxnSp>
        <p:nvCxnSpPr>
          <p:cNvPr id="21" name="Connector 20"/>
          <p:cNvCxnSpPr/>
          <p:nvPr/>
        </p:nvCxnSpPr>
        <p:spPr>
          <a:xfrm>
            <a:off x="7117506" y="2926080"/>
            <a:ext cx="219456" cy="0"/>
          </a:xfrm>
          <a:prstGeom prst="line">
            <a:avLst/>
          </a:prstGeom>
          <a:ln w="2032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55250" y="2057400"/>
            <a:ext cx="2006742" cy="17373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55250" y="2057400"/>
            <a:ext cx="2006742"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3266" y="2276856"/>
            <a:ext cx="1750710" cy="457200"/>
          </a:xfrm>
          <a:prstGeom prst="rect">
            <a:avLst/>
          </a:prstGeom>
          <a:noFill/>
        </p:spPr>
        <p:txBody>
          <a:bodyPr wrap="square" anchor="t" lIns="0" rIns="0" tIns="0" bIns="0">
            <a:noAutofit/>
          </a:bodyPr>
          <a:lstStyle/>
          <a:p>
            <a:pPr algn="l">
              <a:lnSpc>
                <a:spcPct val="100000"/>
              </a:lnSpc>
              <a:spcBef>
                <a:spcPts val="0"/>
              </a:spcBef>
              <a:spcAft>
                <a:spcPts val="100"/>
              </a:spcAft>
            </a:pPr>
            <a:r>
              <a:rPr sz="1300" b="1">
                <a:solidFill>
                  <a:srgbClr val="FF7300"/>
                </a:solidFill>
                <a:latin typeface="Arial"/>
              </a:rPr>
              <a:t>4</a:t>
            </a:r>
          </a:p>
          <a:p>
            <a:pPr algn="l">
              <a:lnSpc>
                <a:spcPct val="100000"/>
              </a:lnSpc>
              <a:spcBef>
                <a:spcPts val="0"/>
              </a:spcBef>
              <a:spcAft>
                <a:spcPts val="600"/>
              </a:spcAft>
            </a:pPr>
            <a:r>
              <a:rPr sz="1350" b="1">
                <a:solidFill>
                  <a:srgbClr val="1B2733"/>
                </a:solidFill>
                <a:latin typeface="Arial"/>
              </a:rPr>
              <a:t>Cross-reference</a:t>
            </a:r>
          </a:p>
        </p:txBody>
      </p:sp>
      <p:sp>
        <p:nvSpPr>
          <p:cNvPr id="25" name="TextBox 24"/>
          <p:cNvSpPr txBox="1"/>
          <p:nvPr/>
        </p:nvSpPr>
        <p:spPr>
          <a:xfrm>
            <a:off x="7483266" y="2971800"/>
            <a:ext cx="1750710" cy="777240"/>
          </a:xfrm>
          <a:prstGeom prst="rect">
            <a:avLst/>
          </a:prstGeom>
          <a:noFill/>
        </p:spPr>
        <p:txBody>
          <a:bodyPr wrap="square" anchor="t" lIns="0" rIns="0" tIns="0" bIns="0">
            <a:noAutofit/>
          </a:bodyPr>
          <a:lstStyle/>
          <a:p>
            <a:pPr algn="l">
              <a:lnSpc>
                <a:spcPct val="110000"/>
              </a:lnSpc>
              <a:spcBef>
                <a:spcPts val="0"/>
              </a:spcBef>
              <a:spcAft>
                <a:spcPts val="600"/>
              </a:spcAft>
            </a:pPr>
            <a:r>
              <a:rPr sz="1000" b="0">
                <a:solidFill>
                  <a:srgbClr val="3E4C59"/>
                </a:solidFill>
                <a:latin typeface="Arial"/>
              </a:rPr>
              <a:t>Correlate logs, metrics, deploy history, and dependencies — mentally.</a:t>
            </a:r>
          </a:p>
        </p:txBody>
      </p:sp>
      <p:cxnSp>
        <p:nvCxnSpPr>
          <p:cNvPr id="26" name="Connector 25"/>
          <p:cNvCxnSpPr/>
          <p:nvPr/>
        </p:nvCxnSpPr>
        <p:spPr>
          <a:xfrm>
            <a:off x="9380280" y="2926080"/>
            <a:ext cx="219456" cy="0"/>
          </a:xfrm>
          <a:prstGeom prst="line">
            <a:avLst/>
          </a:prstGeom>
          <a:ln w="2032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618024" y="2057400"/>
            <a:ext cx="2006742" cy="17373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18024" y="2057400"/>
            <a:ext cx="2006742"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46040" y="2276856"/>
            <a:ext cx="1750710" cy="457200"/>
          </a:xfrm>
          <a:prstGeom prst="rect">
            <a:avLst/>
          </a:prstGeom>
          <a:noFill/>
        </p:spPr>
        <p:txBody>
          <a:bodyPr wrap="square" anchor="t" lIns="0" rIns="0" tIns="0" bIns="0">
            <a:noAutofit/>
          </a:bodyPr>
          <a:lstStyle/>
          <a:p>
            <a:pPr algn="l">
              <a:lnSpc>
                <a:spcPct val="100000"/>
              </a:lnSpc>
              <a:spcBef>
                <a:spcPts val="0"/>
              </a:spcBef>
              <a:spcAft>
                <a:spcPts val="100"/>
              </a:spcAft>
            </a:pPr>
            <a:r>
              <a:rPr sz="1300" b="1">
                <a:solidFill>
                  <a:srgbClr val="FF7300"/>
                </a:solidFill>
                <a:latin typeface="Arial"/>
              </a:rPr>
              <a:t>5</a:t>
            </a:r>
          </a:p>
          <a:p>
            <a:pPr algn="l">
              <a:lnSpc>
                <a:spcPct val="100000"/>
              </a:lnSpc>
              <a:spcBef>
                <a:spcPts val="0"/>
              </a:spcBef>
              <a:spcAft>
                <a:spcPts val="600"/>
              </a:spcAft>
            </a:pPr>
            <a:r>
              <a:rPr sz="1350" b="1">
                <a:solidFill>
                  <a:srgbClr val="1B2733"/>
                </a:solidFill>
                <a:latin typeface="Arial"/>
              </a:rPr>
              <a:t>Hypothesize</a:t>
            </a:r>
          </a:p>
        </p:txBody>
      </p:sp>
      <p:sp>
        <p:nvSpPr>
          <p:cNvPr id="30" name="TextBox 29"/>
          <p:cNvSpPr txBox="1"/>
          <p:nvPr/>
        </p:nvSpPr>
        <p:spPr>
          <a:xfrm>
            <a:off x="9746040" y="2971800"/>
            <a:ext cx="1750710" cy="777240"/>
          </a:xfrm>
          <a:prstGeom prst="rect">
            <a:avLst/>
          </a:prstGeom>
          <a:noFill/>
        </p:spPr>
        <p:txBody>
          <a:bodyPr wrap="square" anchor="t" lIns="0" rIns="0" tIns="0" bIns="0">
            <a:noAutofit/>
          </a:bodyPr>
          <a:lstStyle/>
          <a:p>
            <a:pPr algn="l">
              <a:lnSpc>
                <a:spcPct val="110000"/>
              </a:lnSpc>
              <a:spcBef>
                <a:spcPts val="0"/>
              </a:spcBef>
              <a:spcAft>
                <a:spcPts val="600"/>
              </a:spcAft>
            </a:pPr>
            <a:r>
              <a:rPr sz="1000" b="0">
                <a:solidFill>
                  <a:srgbClr val="3E4C59"/>
                </a:solidFill>
                <a:latin typeface="Arial"/>
              </a:rPr>
              <a:t>Form a root-cause guess… or escalate to someone who knows.</a:t>
            </a:r>
          </a:p>
        </p:txBody>
      </p:sp>
      <p:sp>
        <p:nvSpPr>
          <p:cNvPr id="31" name="Rounded Rectangle 30"/>
          <p:cNvSpPr/>
          <p:nvPr/>
        </p:nvSpPr>
        <p:spPr>
          <a:xfrm>
            <a:off x="566928" y="4206240"/>
            <a:ext cx="2834640" cy="1051560"/>
          </a:xfrm>
          <a:prstGeom prst="roundRect">
            <a:avLst>
              <a:gd name="adj" fmla="val 4500"/>
            </a:avLst>
          </a:prstGeom>
          <a:solidFill>
            <a:srgbClr val="FBE7E6"/>
          </a:solidFill>
          <a:ln w="12700">
            <a:solidFill>
              <a:srgbClr val="FBE7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4315968"/>
            <a:ext cx="2615184" cy="832103"/>
          </a:xfrm>
          <a:prstGeom prst="rect">
            <a:avLst/>
          </a:prstGeom>
          <a:noFill/>
        </p:spPr>
        <p:txBody>
          <a:bodyPr wrap="square" anchor="ctr" lIns="0" rIns="0" tIns="0" bIns="0">
            <a:noAutofit/>
          </a:bodyPr>
          <a:lstStyle/>
          <a:p>
            <a:pPr algn="ctr">
              <a:lnSpc>
                <a:spcPct val="100000"/>
              </a:lnSpc>
              <a:spcBef>
                <a:spcPts val="0"/>
              </a:spcBef>
              <a:spcAft>
                <a:spcPts val="200"/>
              </a:spcAft>
            </a:pPr>
            <a:r>
              <a:rPr sz="2700" b="1">
                <a:solidFill>
                  <a:srgbClr val="CE4A45"/>
                </a:solidFill>
                <a:latin typeface="Arial"/>
              </a:rPr>
              <a:t>20–40 min</a:t>
            </a:r>
          </a:p>
          <a:p>
            <a:pPr algn="ctr">
              <a:lnSpc>
                <a:spcPct val="102000"/>
              </a:lnSpc>
              <a:spcBef>
                <a:spcPts val="0"/>
              </a:spcBef>
              <a:spcAft>
                <a:spcPts val="0"/>
              </a:spcAft>
            </a:pPr>
            <a:r>
              <a:rPr sz="1100" b="1">
                <a:solidFill>
                  <a:srgbClr val="1B2733"/>
                </a:solidFill>
                <a:latin typeface="Arial"/>
              </a:rPr>
              <a:t>lost per major incident</a:t>
            </a:r>
          </a:p>
        </p:txBody>
      </p:sp>
      <p:sp>
        <p:nvSpPr>
          <p:cNvPr id="33" name="Rounded Rectangle 32"/>
          <p:cNvSpPr/>
          <p:nvPr/>
        </p:nvSpPr>
        <p:spPr>
          <a:xfrm>
            <a:off x="3675887" y="4206240"/>
            <a:ext cx="7948879" cy="1051560"/>
          </a:xfrm>
          <a:prstGeom prst="roundRect">
            <a:avLst>
              <a:gd name="adj" fmla="val 45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5887" y="4206240"/>
            <a:ext cx="91440" cy="105156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13631" y="4334255"/>
            <a:ext cx="7564831" cy="795527"/>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FF7300"/>
                </a:solidFill>
                <a:latin typeface="Arial"/>
              </a:rPr>
              <a:t>◆  Why this is the target</a:t>
            </a:r>
          </a:p>
          <a:p>
            <a:pPr algn="l">
              <a:lnSpc>
                <a:spcPct val="112000"/>
              </a:lnSpc>
              <a:spcBef>
                <a:spcPts val="0"/>
              </a:spcBef>
              <a:spcAft>
                <a:spcPts val="0"/>
              </a:spcAft>
            </a:pPr>
            <a:r>
              <a:rPr sz="1050" b="0">
                <a:solidFill>
                  <a:srgbClr val="3E4C59"/>
                </a:solidFill>
                <a:latin typeface="Arial"/>
              </a:rPr>
              <a:t>Every one of these five steps is exactly what an LLM agent with the right tools can do — fast, consistently, and with its work shown.</a:t>
            </a:r>
          </a:p>
        </p:txBody>
      </p:sp>
      <p:sp>
        <p:nvSpPr>
          <p:cNvPr id="36" name="TextBox 35"/>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37" name="TextBox 36"/>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06  /  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THE PROBLEM</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Three forces shaped the design</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3472586" cy="35661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920240"/>
            <a:ext cx="3472586" cy="777240"/>
          </a:xfrm>
          <a:prstGeom prst="roundRect">
            <a:avLst>
              <a:gd name="adj" fmla="val 50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423160"/>
            <a:ext cx="3472586" cy="274320"/>
          </a:xfrm>
          <a:prstGeom prst="rect">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95528" y="2157984"/>
            <a:ext cx="804672"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157984"/>
            <a:ext cx="804672"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50" b="1">
                <a:solidFill>
                  <a:srgbClr val="FF7300"/>
                </a:solidFill>
                <a:latin typeface="Arial"/>
              </a:rPr>
              <a:t>Silo tax</a:t>
            </a:r>
          </a:p>
        </p:txBody>
      </p:sp>
      <p:sp>
        <p:nvSpPr>
          <p:cNvPr id="12" name="TextBox 11"/>
          <p:cNvSpPr txBox="1"/>
          <p:nvPr/>
        </p:nvSpPr>
        <p:spPr>
          <a:xfrm>
            <a:off x="795528" y="2926080"/>
            <a:ext cx="3015386" cy="914400"/>
          </a:xfrm>
          <a:prstGeom prst="rect">
            <a:avLst/>
          </a:prstGeom>
          <a:noFill/>
        </p:spPr>
        <p:txBody>
          <a:bodyPr wrap="square" anchor="t" lIns="0" rIns="0" tIns="0" bIns="0">
            <a:noAutofit/>
          </a:bodyPr>
          <a:lstStyle/>
          <a:p>
            <a:pPr algn="l">
              <a:lnSpc>
                <a:spcPct val="105000"/>
              </a:lnSpc>
              <a:spcBef>
                <a:spcPts val="0"/>
              </a:spcBef>
              <a:spcAft>
                <a:spcPts val="600"/>
              </a:spcAft>
            </a:pPr>
            <a:r>
              <a:rPr sz="1500" b="1">
                <a:solidFill>
                  <a:srgbClr val="1B2733"/>
                </a:solidFill>
                <a:latin typeface="Arial"/>
              </a:rPr>
              <a:t>Cut mean-time-to-diagnosis</a:t>
            </a:r>
          </a:p>
        </p:txBody>
      </p:sp>
      <p:sp>
        <p:nvSpPr>
          <p:cNvPr id="13" name="TextBox 12"/>
          <p:cNvSpPr txBox="1"/>
          <p:nvPr/>
        </p:nvSpPr>
        <p:spPr>
          <a:xfrm>
            <a:off x="795528" y="3794760"/>
            <a:ext cx="3015386" cy="1554479"/>
          </a:xfrm>
          <a:prstGeom prst="rect">
            <a:avLst/>
          </a:prstGeom>
          <a:noFill/>
        </p:spPr>
        <p:txBody>
          <a:bodyPr wrap="square" anchor="t" lIns="0" rIns="0" tIns="0" bIns="0">
            <a:noAutofit/>
          </a:bodyPr>
          <a:lstStyle/>
          <a:p>
            <a:pPr algn="l">
              <a:lnSpc>
                <a:spcPct val="120000"/>
              </a:lnSpc>
              <a:spcBef>
                <a:spcPts val="0"/>
              </a:spcBef>
              <a:spcAft>
                <a:spcPts val="600"/>
              </a:spcAft>
            </a:pPr>
            <a:r>
              <a:rPr sz="1150" b="0">
                <a:solidFill>
                  <a:srgbClr val="3E4C59"/>
                </a:solidFill>
                <a:latin typeface="Arial"/>
              </a:rPr>
              <a:t>Federate the two platforms so one investigation spans both — no context-switching, no manual trace-ID translation.</a:t>
            </a:r>
          </a:p>
        </p:txBody>
      </p:sp>
      <p:sp>
        <p:nvSpPr>
          <p:cNvPr id="14" name="Rounded Rectangle 13"/>
          <p:cNvSpPr/>
          <p:nvPr/>
        </p:nvSpPr>
        <p:spPr>
          <a:xfrm>
            <a:off x="4359554" y="1920240"/>
            <a:ext cx="3472586" cy="35661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59554" y="1920240"/>
            <a:ext cx="3472586" cy="777240"/>
          </a:xfrm>
          <a:prstGeom prst="roundRect">
            <a:avLst>
              <a:gd name="adj" fmla="val 5000"/>
            </a:avLst>
          </a:prstGeom>
          <a:solidFill>
            <a:srgbClr val="E0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59554" y="2423160"/>
            <a:ext cx="3472586" cy="274320"/>
          </a:xfrm>
          <a:prstGeom prst="rect">
            <a:avLst/>
          </a:prstGeom>
          <a:solidFill>
            <a:srgbClr val="E0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88154" y="2157984"/>
            <a:ext cx="111556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88154" y="2157984"/>
            <a:ext cx="1115568"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50" b="1">
                <a:solidFill>
                  <a:srgbClr val="0E8FA8"/>
                </a:solidFill>
                <a:latin typeface="Arial"/>
              </a:rPr>
              <a:t>Approval gap</a:t>
            </a:r>
          </a:p>
        </p:txBody>
      </p:sp>
      <p:sp>
        <p:nvSpPr>
          <p:cNvPr id="19" name="TextBox 18"/>
          <p:cNvSpPr txBox="1"/>
          <p:nvPr/>
        </p:nvSpPr>
        <p:spPr>
          <a:xfrm>
            <a:off x="4588154" y="2926080"/>
            <a:ext cx="3015386" cy="914400"/>
          </a:xfrm>
          <a:prstGeom prst="rect">
            <a:avLst/>
          </a:prstGeom>
          <a:noFill/>
        </p:spPr>
        <p:txBody>
          <a:bodyPr wrap="square" anchor="t" lIns="0" rIns="0" tIns="0" bIns="0">
            <a:noAutofit/>
          </a:bodyPr>
          <a:lstStyle/>
          <a:p>
            <a:pPr algn="l">
              <a:lnSpc>
                <a:spcPct val="105000"/>
              </a:lnSpc>
              <a:spcBef>
                <a:spcPts val="0"/>
              </a:spcBef>
              <a:spcAft>
                <a:spcPts val="600"/>
              </a:spcAft>
            </a:pPr>
            <a:r>
              <a:rPr sz="1500" b="1">
                <a:solidFill>
                  <a:srgbClr val="1B2733"/>
                </a:solidFill>
                <a:latin typeface="Arial"/>
              </a:rPr>
              <a:t>Middle path: assisted, not autonomous</a:t>
            </a:r>
          </a:p>
        </p:txBody>
      </p:sp>
      <p:sp>
        <p:nvSpPr>
          <p:cNvPr id="20" name="TextBox 19"/>
          <p:cNvSpPr txBox="1"/>
          <p:nvPr/>
        </p:nvSpPr>
        <p:spPr>
          <a:xfrm>
            <a:off x="4588154" y="3794760"/>
            <a:ext cx="3015386" cy="1554479"/>
          </a:xfrm>
          <a:prstGeom prst="rect">
            <a:avLst/>
          </a:prstGeom>
          <a:noFill/>
        </p:spPr>
        <p:txBody>
          <a:bodyPr wrap="square" anchor="t" lIns="0" rIns="0" tIns="0" bIns="0">
            <a:noAutofit/>
          </a:bodyPr>
          <a:lstStyle/>
          <a:p>
            <a:pPr algn="l">
              <a:lnSpc>
                <a:spcPct val="120000"/>
              </a:lnSpc>
              <a:spcBef>
                <a:spcPts val="0"/>
              </a:spcBef>
              <a:spcAft>
                <a:spcPts val="600"/>
              </a:spcAft>
            </a:pPr>
            <a:r>
              <a:rPr sz="1150" b="0">
                <a:solidFill>
                  <a:srgbClr val="3E4C59"/>
                </a:solidFill>
                <a:latin typeface="Arial"/>
              </a:rPr>
              <a:t>Runbooks are auto-executed only after an explicit human approval. Enforced by the system, not by process or good intentions.</a:t>
            </a:r>
          </a:p>
        </p:txBody>
      </p:sp>
      <p:sp>
        <p:nvSpPr>
          <p:cNvPr id="21" name="Rounded Rectangle 20"/>
          <p:cNvSpPr/>
          <p:nvPr/>
        </p:nvSpPr>
        <p:spPr>
          <a:xfrm>
            <a:off x="8152180" y="1920240"/>
            <a:ext cx="3472586" cy="35661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52180" y="1920240"/>
            <a:ext cx="3472586" cy="777240"/>
          </a:xfrm>
          <a:prstGeom prst="roundRect">
            <a:avLst>
              <a:gd name="adj" fmla="val 5000"/>
            </a:avLst>
          </a:prstGeom>
          <a:solidFill>
            <a:srgbClr val="EC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52180" y="2423160"/>
            <a:ext cx="3472586" cy="274320"/>
          </a:xfrm>
          <a:prstGeom prst="rect">
            <a:avLst/>
          </a:prstGeom>
          <a:solidFill>
            <a:srgbClr val="EC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80780" y="2157984"/>
            <a:ext cx="1115568"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0780" y="2157984"/>
            <a:ext cx="1115568"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50" b="1">
                <a:solidFill>
                  <a:srgbClr val="6A4CE0"/>
                </a:solidFill>
                <a:latin typeface="Arial"/>
              </a:rPr>
              <a:t>Lock-in risk</a:t>
            </a:r>
          </a:p>
        </p:txBody>
      </p:sp>
      <p:sp>
        <p:nvSpPr>
          <p:cNvPr id="26" name="TextBox 25"/>
          <p:cNvSpPr txBox="1"/>
          <p:nvPr/>
        </p:nvSpPr>
        <p:spPr>
          <a:xfrm>
            <a:off x="8380780" y="2926080"/>
            <a:ext cx="3015386" cy="914400"/>
          </a:xfrm>
          <a:prstGeom prst="rect">
            <a:avLst/>
          </a:prstGeom>
          <a:noFill/>
        </p:spPr>
        <p:txBody>
          <a:bodyPr wrap="square" anchor="t" lIns="0" rIns="0" tIns="0" bIns="0">
            <a:noAutofit/>
          </a:bodyPr>
          <a:lstStyle/>
          <a:p>
            <a:pPr algn="l">
              <a:lnSpc>
                <a:spcPct val="105000"/>
              </a:lnSpc>
              <a:spcBef>
                <a:spcPts val="0"/>
              </a:spcBef>
              <a:spcAft>
                <a:spcPts val="600"/>
              </a:spcAft>
            </a:pPr>
            <a:r>
              <a:rPr sz="1500" b="1">
                <a:solidFill>
                  <a:srgbClr val="1B2733"/>
                </a:solidFill>
                <a:latin typeface="Arial"/>
              </a:rPr>
              <a:t>No AI vendor dependency</a:t>
            </a:r>
          </a:p>
        </p:txBody>
      </p:sp>
      <p:sp>
        <p:nvSpPr>
          <p:cNvPr id="27" name="TextBox 26"/>
          <p:cNvSpPr txBox="1"/>
          <p:nvPr/>
        </p:nvSpPr>
        <p:spPr>
          <a:xfrm>
            <a:off x="8380780" y="3794760"/>
            <a:ext cx="3015386" cy="1554479"/>
          </a:xfrm>
          <a:prstGeom prst="rect">
            <a:avLst/>
          </a:prstGeom>
          <a:noFill/>
        </p:spPr>
        <p:txBody>
          <a:bodyPr wrap="square" anchor="t" lIns="0" rIns="0" tIns="0" bIns="0">
            <a:noAutofit/>
          </a:bodyPr>
          <a:lstStyle/>
          <a:p>
            <a:pPr algn="l">
              <a:lnSpc>
                <a:spcPct val="120000"/>
              </a:lnSpc>
              <a:spcBef>
                <a:spcPts val="0"/>
              </a:spcBef>
              <a:spcAft>
                <a:spcPts val="600"/>
              </a:spcAft>
            </a:pPr>
            <a:r>
              <a:rPr sz="1150" b="0">
                <a:solidFill>
                  <a:srgbClr val="3E4C59"/>
                </a:solidFill>
                <a:latin typeface="Arial"/>
              </a:rPr>
              <a:t>Model-agnostic by design — swap between a local model and cloud providers by config. Runs fully offline if needed.</a:t>
            </a:r>
          </a:p>
        </p:txBody>
      </p:sp>
      <p:sp>
        <p:nvSpPr>
          <p:cNvPr id="28" name="TextBox 27"/>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9" name="TextBox 28"/>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07  /  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THE PROBLEM</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Who we're building for</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828800"/>
            <a:ext cx="91440" cy="658368"/>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2926080" cy="749808"/>
          </a:xfrm>
          <a:prstGeom prst="rect">
            <a:avLst/>
          </a:prstGeom>
          <a:noFill/>
        </p:spPr>
        <p:txBody>
          <a:bodyPr wrap="square" anchor="ctr" lIns="0" rIns="0" tIns="0" bIns="0">
            <a:noAutofit/>
          </a:bodyPr>
          <a:lstStyle/>
          <a:p>
            <a:pPr algn="l">
              <a:lnSpc>
                <a:spcPct val="100000"/>
              </a:lnSpc>
              <a:spcBef>
                <a:spcPts val="0"/>
              </a:spcBef>
              <a:spcAft>
                <a:spcPts val="200"/>
              </a:spcAft>
            </a:pPr>
            <a:r>
              <a:rPr sz="1350" b="1">
                <a:solidFill>
                  <a:srgbClr val="1B2733"/>
                </a:solidFill>
                <a:latin typeface="Arial"/>
              </a:rPr>
              <a:t>On-call / SRE</a:t>
            </a:r>
          </a:p>
          <a:p>
            <a:pPr algn="l">
              <a:lnSpc>
                <a:spcPct val="100000"/>
              </a:lnSpc>
              <a:spcBef>
                <a:spcPts val="0"/>
              </a:spcBef>
              <a:spcAft>
                <a:spcPts val="600"/>
              </a:spcAft>
            </a:pPr>
            <a:r>
              <a:rPr sz="1000" b="0">
                <a:solidFill>
                  <a:srgbClr val="6B7885"/>
                </a:solidFill>
                <a:latin typeface="Arial"/>
              </a:rPr>
              <a:t>Primary user in a live incident</a:t>
            </a:r>
          </a:p>
        </p:txBody>
      </p:sp>
      <p:sp>
        <p:nvSpPr>
          <p:cNvPr id="9" name="TextBox 8"/>
          <p:cNvSpPr txBox="1"/>
          <p:nvPr/>
        </p:nvSpPr>
        <p:spPr>
          <a:xfrm>
            <a:off x="3995928" y="1783080"/>
            <a:ext cx="7628839" cy="749808"/>
          </a:xfrm>
          <a:prstGeom prst="rect">
            <a:avLst/>
          </a:prstGeom>
          <a:noFill/>
        </p:spPr>
        <p:txBody>
          <a:bodyPr wrap="square" anchor="ctr" lIns="0" rIns="0" tIns="0" bIns="0">
            <a:noAutofit/>
          </a:bodyPr>
          <a:lstStyle/>
          <a:p>
            <a:pPr algn="l">
              <a:lnSpc>
                <a:spcPct val="110000"/>
              </a:lnSpc>
              <a:spcBef>
                <a:spcPts val="0"/>
              </a:spcBef>
              <a:spcAft>
                <a:spcPts val="600"/>
              </a:spcAft>
            </a:pPr>
            <a:r>
              <a:rPr sz="1150" b="0">
                <a:solidFill>
                  <a:srgbClr val="3E4C59"/>
                </a:solidFill>
                <a:latin typeface="Arial"/>
              </a:rPr>
              <a:t>Plain-language root cause + blast radius + a specific action to approve — with evidence links back to both platforms.</a:t>
            </a:r>
          </a:p>
        </p:txBody>
      </p:sp>
      <p:sp>
        <p:nvSpPr>
          <p:cNvPr id="10" name="Rectangle 9"/>
          <p:cNvSpPr/>
          <p:nvPr/>
        </p:nvSpPr>
        <p:spPr>
          <a:xfrm>
            <a:off x="566928" y="1764792"/>
            <a:ext cx="11057839"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688335"/>
            <a:ext cx="91440" cy="658368"/>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642615"/>
            <a:ext cx="2926080" cy="749808"/>
          </a:xfrm>
          <a:prstGeom prst="rect">
            <a:avLst/>
          </a:prstGeom>
          <a:noFill/>
        </p:spPr>
        <p:txBody>
          <a:bodyPr wrap="square" anchor="ctr" lIns="0" rIns="0" tIns="0" bIns="0">
            <a:noAutofit/>
          </a:bodyPr>
          <a:lstStyle/>
          <a:p>
            <a:pPr algn="l">
              <a:lnSpc>
                <a:spcPct val="100000"/>
              </a:lnSpc>
              <a:spcBef>
                <a:spcPts val="0"/>
              </a:spcBef>
              <a:spcAft>
                <a:spcPts val="200"/>
              </a:spcAft>
            </a:pPr>
            <a:r>
              <a:rPr sz="1350" b="1">
                <a:solidFill>
                  <a:srgbClr val="1B2733"/>
                </a:solidFill>
                <a:latin typeface="Arial"/>
              </a:rPr>
              <a:t>Platform / Observability Eng</a:t>
            </a:r>
          </a:p>
          <a:p>
            <a:pPr algn="l">
              <a:lnSpc>
                <a:spcPct val="100000"/>
              </a:lnSpc>
              <a:spcBef>
                <a:spcPts val="0"/>
              </a:spcBef>
              <a:spcAft>
                <a:spcPts val="600"/>
              </a:spcAft>
            </a:pPr>
            <a:r>
              <a:rPr sz="1000" b="0">
                <a:solidFill>
                  <a:srgbClr val="6B7885"/>
                </a:solidFill>
                <a:latin typeface="Arial"/>
              </a:rPr>
              <a:t>Operates &amp; extends the system</a:t>
            </a:r>
          </a:p>
        </p:txBody>
      </p:sp>
      <p:sp>
        <p:nvSpPr>
          <p:cNvPr id="13" name="TextBox 12"/>
          <p:cNvSpPr txBox="1"/>
          <p:nvPr/>
        </p:nvSpPr>
        <p:spPr>
          <a:xfrm>
            <a:off x="3995928" y="2642615"/>
            <a:ext cx="7628839" cy="749808"/>
          </a:xfrm>
          <a:prstGeom prst="rect">
            <a:avLst/>
          </a:prstGeom>
          <a:noFill/>
        </p:spPr>
        <p:txBody>
          <a:bodyPr wrap="square" anchor="ctr" lIns="0" rIns="0" tIns="0" bIns="0">
            <a:noAutofit/>
          </a:bodyPr>
          <a:lstStyle/>
          <a:p>
            <a:pPr algn="l">
              <a:lnSpc>
                <a:spcPct val="110000"/>
              </a:lnSpc>
              <a:spcBef>
                <a:spcPts val="0"/>
              </a:spcBef>
              <a:spcAft>
                <a:spcPts val="600"/>
              </a:spcAft>
            </a:pPr>
            <a:r>
              <a:rPr sz="1150" b="0">
                <a:solidFill>
                  <a:srgbClr val="3E4C59"/>
                </a:solidFill>
                <a:latin typeface="Arial"/>
              </a:rPr>
              <a:t>Swap model or backend by config alone; the agent's own behavior is visible in the same stack it monitors.</a:t>
            </a:r>
          </a:p>
        </p:txBody>
      </p:sp>
      <p:sp>
        <p:nvSpPr>
          <p:cNvPr id="14" name="Rectangle 13"/>
          <p:cNvSpPr/>
          <p:nvPr/>
        </p:nvSpPr>
        <p:spPr>
          <a:xfrm>
            <a:off x="566928" y="2624327"/>
            <a:ext cx="11057839"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547871"/>
            <a:ext cx="91440" cy="658368"/>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502151"/>
            <a:ext cx="2926080" cy="749808"/>
          </a:xfrm>
          <a:prstGeom prst="rect">
            <a:avLst/>
          </a:prstGeom>
          <a:noFill/>
        </p:spPr>
        <p:txBody>
          <a:bodyPr wrap="square" anchor="ctr" lIns="0" rIns="0" tIns="0" bIns="0">
            <a:noAutofit/>
          </a:bodyPr>
          <a:lstStyle/>
          <a:p>
            <a:pPr algn="l">
              <a:lnSpc>
                <a:spcPct val="100000"/>
              </a:lnSpc>
              <a:spcBef>
                <a:spcPts val="0"/>
              </a:spcBef>
              <a:spcAft>
                <a:spcPts val="200"/>
              </a:spcAft>
            </a:pPr>
            <a:r>
              <a:rPr sz="1350" b="1">
                <a:solidFill>
                  <a:srgbClr val="1B2733"/>
                </a:solidFill>
                <a:latin typeface="Arial"/>
              </a:rPr>
              <a:t>Security &amp; Compliance</a:t>
            </a:r>
          </a:p>
          <a:p>
            <a:pPr algn="l">
              <a:lnSpc>
                <a:spcPct val="100000"/>
              </a:lnSpc>
              <a:spcBef>
                <a:spcPts val="0"/>
              </a:spcBef>
              <a:spcAft>
                <a:spcPts val="600"/>
              </a:spcAft>
            </a:pPr>
            <a:r>
              <a:rPr sz="1000" b="0">
                <a:solidFill>
                  <a:srgbClr val="6B7885"/>
                </a:solidFill>
                <a:latin typeface="Arial"/>
              </a:rPr>
              <a:t>Governance, change mgmt, audit</a:t>
            </a:r>
          </a:p>
        </p:txBody>
      </p:sp>
      <p:sp>
        <p:nvSpPr>
          <p:cNvPr id="17" name="TextBox 16"/>
          <p:cNvSpPr txBox="1"/>
          <p:nvPr/>
        </p:nvSpPr>
        <p:spPr>
          <a:xfrm>
            <a:off x="3995928" y="3502151"/>
            <a:ext cx="7628839" cy="749808"/>
          </a:xfrm>
          <a:prstGeom prst="rect">
            <a:avLst/>
          </a:prstGeom>
          <a:noFill/>
        </p:spPr>
        <p:txBody>
          <a:bodyPr wrap="square" anchor="ctr" lIns="0" rIns="0" tIns="0" bIns="0">
            <a:noAutofit/>
          </a:bodyPr>
          <a:lstStyle/>
          <a:p>
            <a:pPr algn="l">
              <a:lnSpc>
                <a:spcPct val="110000"/>
              </a:lnSpc>
              <a:spcBef>
                <a:spcPts val="0"/>
              </a:spcBef>
              <a:spcAft>
                <a:spcPts val="600"/>
              </a:spcAft>
            </a:pPr>
            <a:r>
              <a:rPr sz="1150" b="0">
                <a:solidFill>
                  <a:srgbClr val="3E4C59"/>
                </a:solidFill>
                <a:latin typeface="Arial"/>
              </a:rPr>
              <a:t>No state change without prior approval; a fixed action allowlist; every action recorded; secrets never in code.</a:t>
            </a:r>
          </a:p>
        </p:txBody>
      </p:sp>
      <p:sp>
        <p:nvSpPr>
          <p:cNvPr id="18" name="Rectangle 17"/>
          <p:cNvSpPr/>
          <p:nvPr/>
        </p:nvSpPr>
        <p:spPr>
          <a:xfrm>
            <a:off x="566928" y="3483863"/>
            <a:ext cx="11057839"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407407"/>
            <a:ext cx="91440" cy="658368"/>
          </a:xfrm>
          <a:prstGeom prst="rect">
            <a:avLst/>
          </a:prstGeom>
          <a:solidFill>
            <a:srgbClr val="5A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361688"/>
            <a:ext cx="2926080" cy="749808"/>
          </a:xfrm>
          <a:prstGeom prst="rect">
            <a:avLst/>
          </a:prstGeom>
          <a:noFill/>
        </p:spPr>
        <p:txBody>
          <a:bodyPr wrap="square" anchor="ctr" lIns="0" rIns="0" tIns="0" bIns="0">
            <a:noAutofit/>
          </a:bodyPr>
          <a:lstStyle/>
          <a:p>
            <a:pPr algn="l">
              <a:lnSpc>
                <a:spcPct val="100000"/>
              </a:lnSpc>
              <a:spcBef>
                <a:spcPts val="0"/>
              </a:spcBef>
              <a:spcAft>
                <a:spcPts val="200"/>
              </a:spcAft>
            </a:pPr>
            <a:r>
              <a:rPr sz="1350" b="1">
                <a:solidFill>
                  <a:srgbClr val="1B2733"/>
                </a:solidFill>
                <a:latin typeface="Arial"/>
              </a:rPr>
              <a:t>Demo / Sales Engineering</a:t>
            </a:r>
          </a:p>
          <a:p>
            <a:pPr algn="l">
              <a:lnSpc>
                <a:spcPct val="100000"/>
              </a:lnSpc>
              <a:spcBef>
                <a:spcPts val="0"/>
              </a:spcBef>
              <a:spcAft>
                <a:spcPts val="600"/>
              </a:spcAft>
            </a:pPr>
            <a:r>
              <a:rPr sz="1000" b="0">
                <a:solidFill>
                  <a:srgbClr val="6B7885"/>
                </a:solidFill>
                <a:latin typeface="Arial"/>
              </a:rPr>
              <a:t>Presents the capability</a:t>
            </a:r>
          </a:p>
        </p:txBody>
      </p:sp>
      <p:sp>
        <p:nvSpPr>
          <p:cNvPr id="21" name="TextBox 20"/>
          <p:cNvSpPr txBox="1"/>
          <p:nvPr/>
        </p:nvSpPr>
        <p:spPr>
          <a:xfrm>
            <a:off x="3995928" y="4361688"/>
            <a:ext cx="7628839" cy="749808"/>
          </a:xfrm>
          <a:prstGeom prst="rect">
            <a:avLst/>
          </a:prstGeom>
          <a:noFill/>
        </p:spPr>
        <p:txBody>
          <a:bodyPr wrap="square" anchor="ctr" lIns="0" rIns="0" tIns="0" bIns="0">
            <a:noAutofit/>
          </a:bodyPr>
          <a:lstStyle/>
          <a:p>
            <a:pPr algn="l">
              <a:lnSpc>
                <a:spcPct val="110000"/>
              </a:lnSpc>
              <a:spcBef>
                <a:spcPts val="0"/>
              </a:spcBef>
              <a:spcAft>
                <a:spcPts val="600"/>
              </a:spcAft>
            </a:pPr>
            <a:r>
              <a:rPr sz="1150" b="0">
                <a:solidFill>
                  <a:srgbClr val="3E4C59"/>
                </a:solidFill>
                <a:latin typeface="Arial"/>
              </a:rPr>
              <a:t>Full incident in ~5 minutes, offline, no vendor accounts, resettable to a clean state.</a:t>
            </a:r>
          </a:p>
        </p:txBody>
      </p:sp>
      <p:sp>
        <p:nvSpPr>
          <p:cNvPr id="22" name="Rectangle 21"/>
          <p:cNvSpPr/>
          <p:nvPr/>
        </p:nvSpPr>
        <p:spPr>
          <a:xfrm>
            <a:off x="566928" y="4343400"/>
            <a:ext cx="11057839"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5266943"/>
            <a:ext cx="91440" cy="658368"/>
          </a:xfrm>
          <a:prstGeom prst="rect">
            <a:avLst/>
          </a:prstGeom>
          <a:solidFill>
            <a:srgbClr val="7A3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221223"/>
            <a:ext cx="2926080" cy="749808"/>
          </a:xfrm>
          <a:prstGeom prst="rect">
            <a:avLst/>
          </a:prstGeom>
          <a:noFill/>
        </p:spPr>
        <p:txBody>
          <a:bodyPr wrap="square" anchor="ctr" lIns="0" rIns="0" tIns="0" bIns="0">
            <a:noAutofit/>
          </a:bodyPr>
          <a:lstStyle/>
          <a:p>
            <a:pPr algn="l">
              <a:lnSpc>
                <a:spcPct val="100000"/>
              </a:lnSpc>
              <a:spcBef>
                <a:spcPts val="0"/>
              </a:spcBef>
              <a:spcAft>
                <a:spcPts val="200"/>
              </a:spcAft>
            </a:pPr>
            <a:r>
              <a:rPr sz="1350" b="1">
                <a:solidFill>
                  <a:srgbClr val="1B2733"/>
                </a:solidFill>
                <a:latin typeface="Arial"/>
              </a:rPr>
              <a:t>Service / App owners</a:t>
            </a:r>
          </a:p>
          <a:p>
            <a:pPr algn="l">
              <a:lnSpc>
                <a:spcPct val="100000"/>
              </a:lnSpc>
              <a:spcBef>
                <a:spcPts val="0"/>
              </a:spcBef>
              <a:spcAft>
                <a:spcPts val="600"/>
              </a:spcAft>
            </a:pPr>
            <a:r>
              <a:rPr sz="1000" b="0">
                <a:solidFill>
                  <a:srgbClr val="6B7885"/>
                </a:solidFill>
                <a:latin typeface="Arial"/>
              </a:rPr>
              <a:t>Own individual services</a:t>
            </a:r>
          </a:p>
        </p:txBody>
      </p:sp>
      <p:sp>
        <p:nvSpPr>
          <p:cNvPr id="25" name="TextBox 24"/>
          <p:cNvSpPr txBox="1"/>
          <p:nvPr/>
        </p:nvSpPr>
        <p:spPr>
          <a:xfrm>
            <a:off x="3995928" y="5221223"/>
            <a:ext cx="7628839" cy="749808"/>
          </a:xfrm>
          <a:prstGeom prst="rect">
            <a:avLst/>
          </a:prstGeom>
          <a:noFill/>
        </p:spPr>
        <p:txBody>
          <a:bodyPr wrap="square" anchor="ctr" lIns="0" rIns="0" tIns="0" bIns="0">
            <a:noAutofit/>
          </a:bodyPr>
          <a:lstStyle/>
          <a:p>
            <a:pPr algn="l">
              <a:lnSpc>
                <a:spcPct val="110000"/>
              </a:lnSpc>
              <a:spcBef>
                <a:spcPts val="0"/>
              </a:spcBef>
              <a:spcAft>
                <a:spcPts val="600"/>
              </a:spcAft>
            </a:pPr>
            <a:r>
              <a:rPr sz="1150" b="0">
                <a:solidFill>
                  <a:srgbClr val="3E4C59"/>
                </a:solidFill>
                <a:latin typeface="Arial"/>
              </a:rPr>
              <a:t>Ownership, runbooks, and SLA metadata surfaced per service so response routes correctly.</a:t>
            </a:r>
          </a:p>
        </p:txBody>
      </p:sp>
      <p:sp>
        <p:nvSpPr>
          <p:cNvPr id="26" name="Rectangle 25"/>
          <p:cNvSpPr/>
          <p:nvPr/>
        </p:nvSpPr>
        <p:spPr>
          <a:xfrm>
            <a:off x="566928" y="5202936"/>
            <a:ext cx="11057839"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8" name="TextBox 27"/>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08  /  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THE PROBLEM</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What 'good' looks like — the POC bar</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28800"/>
            <a:ext cx="2558719" cy="160020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938528"/>
            <a:ext cx="2339263" cy="1380744"/>
          </a:xfrm>
          <a:prstGeom prst="rect">
            <a:avLst/>
          </a:prstGeom>
          <a:noFill/>
        </p:spPr>
        <p:txBody>
          <a:bodyPr wrap="square" anchor="ctr" lIns="0" rIns="0" tIns="0" bIns="0">
            <a:noAutofit/>
          </a:bodyPr>
          <a:lstStyle/>
          <a:p>
            <a:pPr algn="ctr">
              <a:lnSpc>
                <a:spcPct val="100000"/>
              </a:lnSpc>
              <a:spcBef>
                <a:spcPts val="0"/>
              </a:spcBef>
              <a:spcAft>
                <a:spcPts val="200"/>
              </a:spcAft>
            </a:pPr>
            <a:r>
              <a:rPr sz="3600" b="1">
                <a:solidFill>
                  <a:srgbClr val="0E8FA8"/>
                </a:solidFill>
                <a:latin typeface="Arial"/>
              </a:rPr>
              <a:t>&lt; 90s</a:t>
            </a:r>
          </a:p>
          <a:p>
            <a:pPr algn="ctr">
              <a:lnSpc>
                <a:spcPct val="102000"/>
              </a:lnSpc>
              <a:spcBef>
                <a:spcPts val="0"/>
              </a:spcBef>
              <a:spcAft>
                <a:spcPts val="0"/>
              </a:spcAft>
            </a:pPr>
            <a:r>
              <a:rPr sz="1200" b="1">
                <a:solidFill>
                  <a:srgbClr val="1B2733"/>
                </a:solidFill>
                <a:latin typeface="Arial"/>
              </a:rPr>
              <a:t>AI diagnosis (cloud)</a:t>
            </a:r>
          </a:p>
          <a:p>
            <a:pPr algn="ctr">
              <a:lnSpc>
                <a:spcPct val="102000"/>
              </a:lnSpc>
              <a:spcBef>
                <a:spcPts val="100"/>
              </a:spcBef>
              <a:spcAft>
                <a:spcPts val="0"/>
              </a:spcAft>
            </a:pPr>
            <a:r>
              <a:rPr sz="900" b="0">
                <a:solidFill>
                  <a:srgbClr val="6B7885"/>
                </a:solidFill>
                <a:latin typeface="Arial"/>
              </a:rPr>
              <a:t>Under 3 min on a local model</a:t>
            </a:r>
          </a:p>
        </p:txBody>
      </p:sp>
      <p:sp>
        <p:nvSpPr>
          <p:cNvPr id="9" name="Rounded Rectangle 8"/>
          <p:cNvSpPr/>
          <p:nvPr/>
        </p:nvSpPr>
        <p:spPr>
          <a:xfrm>
            <a:off x="3399967" y="1828800"/>
            <a:ext cx="2558719" cy="160020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09695" y="1938528"/>
            <a:ext cx="2339263" cy="1380744"/>
          </a:xfrm>
          <a:prstGeom prst="rect">
            <a:avLst/>
          </a:prstGeom>
          <a:noFill/>
        </p:spPr>
        <p:txBody>
          <a:bodyPr wrap="square" anchor="ctr" lIns="0" rIns="0" tIns="0" bIns="0">
            <a:noAutofit/>
          </a:bodyPr>
          <a:lstStyle/>
          <a:p>
            <a:pPr algn="ctr">
              <a:lnSpc>
                <a:spcPct val="100000"/>
              </a:lnSpc>
              <a:spcBef>
                <a:spcPts val="0"/>
              </a:spcBef>
              <a:spcAft>
                <a:spcPts val="200"/>
              </a:spcAft>
            </a:pPr>
            <a:r>
              <a:rPr sz="3600" b="1">
                <a:solidFill>
                  <a:srgbClr val="FF7300"/>
                </a:solidFill>
                <a:latin typeface="Arial"/>
              </a:rPr>
              <a:t>≤ 5 min</a:t>
            </a:r>
          </a:p>
          <a:p>
            <a:pPr algn="ctr">
              <a:lnSpc>
                <a:spcPct val="102000"/>
              </a:lnSpc>
              <a:spcBef>
                <a:spcPts val="0"/>
              </a:spcBef>
              <a:spcAft>
                <a:spcPts val="0"/>
              </a:spcAft>
            </a:pPr>
            <a:r>
              <a:rPr sz="1200" b="1">
                <a:solidFill>
                  <a:srgbClr val="1B2733"/>
                </a:solidFill>
                <a:latin typeface="Arial"/>
              </a:rPr>
              <a:t>Full incident cycle</a:t>
            </a:r>
          </a:p>
          <a:p>
            <a:pPr algn="ctr">
              <a:lnSpc>
                <a:spcPct val="102000"/>
              </a:lnSpc>
              <a:spcBef>
                <a:spcPts val="100"/>
              </a:spcBef>
              <a:spcAft>
                <a:spcPts val="0"/>
              </a:spcAft>
            </a:pPr>
            <a:r>
              <a:rPr sz="900" b="0">
                <a:solidFill>
                  <a:srgbClr val="6B7885"/>
                </a:solidFill>
                <a:latin typeface="Arial"/>
              </a:rPr>
              <a:t>Inject → diagnose → approve → recover</a:t>
            </a:r>
          </a:p>
        </p:txBody>
      </p:sp>
      <p:sp>
        <p:nvSpPr>
          <p:cNvPr id="11" name="Rounded Rectangle 10"/>
          <p:cNvSpPr/>
          <p:nvPr/>
        </p:nvSpPr>
        <p:spPr>
          <a:xfrm>
            <a:off x="6233007" y="1828800"/>
            <a:ext cx="2558719" cy="160020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2735" y="1938528"/>
            <a:ext cx="2339263" cy="1380744"/>
          </a:xfrm>
          <a:prstGeom prst="rect">
            <a:avLst/>
          </a:prstGeom>
          <a:noFill/>
        </p:spPr>
        <p:txBody>
          <a:bodyPr wrap="square" anchor="ctr" lIns="0" rIns="0" tIns="0" bIns="0">
            <a:noAutofit/>
          </a:bodyPr>
          <a:lstStyle/>
          <a:p>
            <a:pPr algn="ctr">
              <a:lnSpc>
                <a:spcPct val="100000"/>
              </a:lnSpc>
              <a:spcBef>
                <a:spcPts val="0"/>
              </a:spcBef>
              <a:spcAft>
                <a:spcPts val="200"/>
              </a:spcAft>
            </a:pPr>
            <a:r>
              <a:rPr sz="3600" b="1">
                <a:solidFill>
                  <a:srgbClr val="5AA82B"/>
                </a:solidFill>
                <a:latin typeface="Arial"/>
              </a:rPr>
              <a:t>2</a:t>
            </a:r>
          </a:p>
          <a:p>
            <a:pPr algn="ctr">
              <a:lnSpc>
                <a:spcPct val="102000"/>
              </a:lnSpc>
              <a:spcBef>
                <a:spcPts val="0"/>
              </a:spcBef>
              <a:spcAft>
                <a:spcPts val="0"/>
              </a:spcAft>
            </a:pPr>
            <a:r>
              <a:rPr sz="1200" b="1">
                <a:solidFill>
                  <a:srgbClr val="1B2733"/>
                </a:solidFill>
                <a:latin typeface="Arial"/>
              </a:rPr>
              <a:t>platforms, every time</a:t>
            </a:r>
          </a:p>
          <a:p>
            <a:pPr algn="ctr">
              <a:lnSpc>
                <a:spcPct val="102000"/>
              </a:lnSpc>
              <a:spcBef>
                <a:spcPts val="100"/>
              </a:spcBef>
              <a:spcAft>
                <a:spcPts val="0"/>
              </a:spcAft>
            </a:pPr>
            <a:r>
              <a:rPr sz="900" b="0">
                <a:solidFill>
                  <a:srgbClr val="6B7885"/>
                </a:solidFill>
                <a:latin typeface="Arial"/>
              </a:rPr>
              <a:t>Evidence from BOTH Splunk &amp; Datadog</a:t>
            </a:r>
          </a:p>
        </p:txBody>
      </p:sp>
      <p:sp>
        <p:nvSpPr>
          <p:cNvPr id="13" name="Rounded Rectangle 12"/>
          <p:cNvSpPr/>
          <p:nvPr/>
        </p:nvSpPr>
        <p:spPr>
          <a:xfrm>
            <a:off x="9066047" y="1828800"/>
            <a:ext cx="2558719" cy="160020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5775" y="1938528"/>
            <a:ext cx="2339263" cy="1380744"/>
          </a:xfrm>
          <a:prstGeom prst="rect">
            <a:avLst/>
          </a:prstGeom>
          <a:noFill/>
        </p:spPr>
        <p:txBody>
          <a:bodyPr wrap="square" anchor="ctr" lIns="0" rIns="0" tIns="0" bIns="0">
            <a:noAutofit/>
          </a:bodyPr>
          <a:lstStyle/>
          <a:p>
            <a:pPr algn="ctr">
              <a:lnSpc>
                <a:spcPct val="100000"/>
              </a:lnSpc>
              <a:spcBef>
                <a:spcPts val="0"/>
              </a:spcBef>
              <a:spcAft>
                <a:spcPts val="200"/>
              </a:spcAft>
            </a:pPr>
            <a:r>
              <a:rPr sz="3600" b="1">
                <a:solidFill>
                  <a:srgbClr val="6A4CE0"/>
                </a:solidFill>
                <a:latin typeface="Arial"/>
              </a:rPr>
              <a:t>0</a:t>
            </a:r>
          </a:p>
          <a:p>
            <a:pPr algn="ctr">
              <a:lnSpc>
                <a:spcPct val="102000"/>
              </a:lnSpc>
              <a:spcBef>
                <a:spcPts val="0"/>
              </a:spcBef>
              <a:spcAft>
                <a:spcPts val="0"/>
              </a:spcAft>
            </a:pPr>
            <a:r>
              <a:rPr sz="1200" b="1">
                <a:solidFill>
                  <a:srgbClr val="1B2733"/>
                </a:solidFill>
                <a:latin typeface="Arial"/>
              </a:rPr>
              <a:t>vendor credentials</a:t>
            </a:r>
          </a:p>
          <a:p>
            <a:pPr algn="ctr">
              <a:lnSpc>
                <a:spcPct val="102000"/>
              </a:lnSpc>
              <a:spcBef>
                <a:spcPts val="100"/>
              </a:spcBef>
              <a:spcAft>
                <a:spcPts val="0"/>
              </a:spcAft>
            </a:pPr>
            <a:r>
              <a:rPr sz="900" b="0">
                <a:solidFill>
                  <a:srgbClr val="6B7885"/>
                </a:solidFill>
                <a:latin typeface="Arial"/>
              </a:rPr>
              <a:t>Full cycle runs offline</a:t>
            </a:r>
          </a:p>
        </p:txBody>
      </p:sp>
      <p:sp>
        <p:nvSpPr>
          <p:cNvPr id="15" name="Rounded Rectangle 14"/>
          <p:cNvSpPr/>
          <p:nvPr/>
        </p:nvSpPr>
        <p:spPr>
          <a:xfrm>
            <a:off x="566928" y="3794760"/>
            <a:ext cx="5368899" cy="1234440"/>
          </a:xfrm>
          <a:prstGeom prst="roundRect">
            <a:avLst>
              <a:gd name="adj" fmla="val 45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794760"/>
            <a:ext cx="91440" cy="1234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984851" cy="978408"/>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FF7300"/>
                </a:solidFill>
                <a:latin typeface="Arial"/>
              </a:rPr>
              <a:t>◆  Propose-before-act</a:t>
            </a:r>
          </a:p>
          <a:p>
            <a:pPr algn="l">
              <a:lnSpc>
                <a:spcPct val="112000"/>
              </a:lnSpc>
              <a:spcBef>
                <a:spcPts val="0"/>
              </a:spcBef>
              <a:spcAft>
                <a:spcPts val="0"/>
              </a:spcAft>
            </a:pPr>
            <a:r>
              <a:rPr sz="1050" b="0">
                <a:solidFill>
                  <a:srgbClr val="3E4C59"/>
                </a:solidFill>
                <a:latin typeface="Arial"/>
              </a:rPr>
              <a:t>The agent must list available runbooks and receive an approval signal before it ever executes one. No exceptions.</a:t>
            </a:r>
          </a:p>
        </p:txBody>
      </p:sp>
      <p:sp>
        <p:nvSpPr>
          <p:cNvPr id="18" name="Rounded Rectangle 17"/>
          <p:cNvSpPr/>
          <p:nvPr/>
        </p:nvSpPr>
        <p:spPr>
          <a:xfrm>
            <a:off x="6255867" y="3794760"/>
            <a:ext cx="5368899" cy="1234440"/>
          </a:xfrm>
          <a:prstGeom prst="roundRect">
            <a:avLst>
              <a:gd name="adj" fmla="val 4500"/>
            </a:avLst>
          </a:prstGeom>
          <a:solidFill>
            <a:srgbClr val="E0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55867" y="3794760"/>
            <a:ext cx="91440" cy="12344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3611" y="3922776"/>
            <a:ext cx="4984851" cy="978408"/>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0E8FA8"/>
                </a:solidFill>
                <a:latin typeface="Arial"/>
              </a:rPr>
              <a:t>◆  Model portability</a:t>
            </a:r>
          </a:p>
          <a:p>
            <a:pPr algn="l">
              <a:lnSpc>
                <a:spcPct val="112000"/>
              </a:lnSpc>
              <a:spcBef>
                <a:spcPts val="0"/>
              </a:spcBef>
              <a:spcAft>
                <a:spcPts val="0"/>
              </a:spcAft>
            </a:pPr>
            <a:r>
              <a:rPr sz="1050" b="0">
                <a:solidFill>
                  <a:srgbClr val="3E4C59"/>
                </a:solidFill>
                <a:latin typeface="Arial"/>
              </a:rPr>
              <a:t>The same investigation must run on at least two providers (e.g. local Ollama and Anthropic) with no change beyond the provider selector.</a:t>
            </a:r>
          </a:p>
        </p:txBody>
      </p:sp>
      <p:sp>
        <p:nvSpPr>
          <p:cNvPr id="21" name="TextBox 20"/>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2" name="TextBox 21"/>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09  /  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53935" y="-320040"/>
            <a:ext cx="4572000" cy="3840480"/>
          </a:xfrm>
          <a:prstGeom prst="rect">
            <a:avLst/>
          </a:prstGeom>
          <a:noFill/>
        </p:spPr>
        <p:txBody>
          <a:bodyPr wrap="square" anchor="t" lIns="0" rIns="0" tIns="0" bIns="0">
            <a:noAutofit/>
          </a:bodyPr>
          <a:lstStyle/>
          <a:p>
            <a:pPr algn="r">
              <a:lnSpc>
                <a:spcPct val="100000"/>
              </a:lnSpc>
              <a:spcBef>
                <a:spcPts val="0"/>
              </a:spcBef>
              <a:spcAft>
                <a:spcPts val="600"/>
              </a:spcAft>
            </a:pPr>
            <a:r>
              <a:rPr sz="21000" b="1">
                <a:solidFill>
                  <a:srgbClr val="20374A"/>
                </a:solidFill>
                <a:latin typeface="Arial"/>
              </a:rPr>
              <a:t>02</a:t>
            </a:r>
          </a:p>
        </p:txBody>
      </p:sp>
      <p:sp>
        <p:nvSpPr>
          <p:cNvPr id="4" name="Rectangle 3"/>
          <p:cNvSpPr/>
          <p:nvPr/>
        </p:nvSpPr>
        <p:spPr>
          <a:xfrm>
            <a:off x="566928" y="2761488"/>
            <a:ext cx="822960" cy="100584"/>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99232"/>
            <a:ext cx="9601200" cy="365760"/>
          </a:xfrm>
          <a:prstGeom prst="rect">
            <a:avLst/>
          </a:prstGeom>
          <a:noFill/>
        </p:spPr>
        <p:txBody>
          <a:bodyPr wrap="square" anchor="t" lIns="0" rIns="0" tIns="0" bIns="0">
            <a:noAutofit/>
          </a:bodyPr>
          <a:lstStyle/>
          <a:p>
            <a:pPr algn="l">
              <a:lnSpc>
                <a:spcPct val="100000"/>
              </a:lnSpc>
              <a:spcBef>
                <a:spcPts val="0"/>
              </a:spcBef>
              <a:spcAft>
                <a:spcPts val="600"/>
              </a:spcAft>
            </a:pPr>
            <a:r>
              <a:rPr sz="1250" b="1">
                <a:solidFill>
                  <a:srgbClr val="FF7300"/>
                </a:solidFill>
                <a:latin typeface="Arial"/>
              </a:rPr>
              <a:t>SECTION</a:t>
            </a:r>
          </a:p>
        </p:txBody>
      </p:sp>
      <p:sp>
        <p:nvSpPr>
          <p:cNvPr id="6" name="TextBox 5"/>
          <p:cNvSpPr txBox="1"/>
          <p:nvPr/>
        </p:nvSpPr>
        <p:spPr>
          <a:xfrm>
            <a:off x="566928" y="3346704"/>
            <a:ext cx="10241280" cy="1554480"/>
          </a:xfrm>
          <a:prstGeom prst="rect">
            <a:avLst/>
          </a:prstGeom>
          <a:noFill/>
        </p:spPr>
        <p:txBody>
          <a:bodyPr wrap="square" anchor="t" lIns="0" rIns="0" tIns="0" bIns="0">
            <a:noAutofit/>
          </a:bodyPr>
          <a:lstStyle/>
          <a:p>
            <a:pPr algn="l">
              <a:lnSpc>
                <a:spcPct val="102000"/>
              </a:lnSpc>
              <a:spcBef>
                <a:spcPts val="0"/>
              </a:spcBef>
              <a:spcAft>
                <a:spcPts val="600"/>
              </a:spcAft>
            </a:pPr>
            <a:r>
              <a:rPr sz="4000" b="1">
                <a:solidFill>
                  <a:srgbClr val="FFFFFF"/>
                </a:solidFill>
                <a:latin typeface="Arial"/>
              </a:rPr>
              <a:t>Level 0 Architecture</a:t>
            </a:r>
          </a:p>
        </p:txBody>
      </p:sp>
      <p:sp>
        <p:nvSpPr>
          <p:cNvPr id="7" name="TextBox 6"/>
          <p:cNvSpPr txBox="1"/>
          <p:nvPr/>
        </p:nvSpPr>
        <p:spPr>
          <a:xfrm>
            <a:off x="566928" y="4937760"/>
            <a:ext cx="9692640" cy="1005840"/>
          </a:xfrm>
          <a:prstGeom prst="rect">
            <a:avLst/>
          </a:prstGeom>
          <a:noFill/>
        </p:spPr>
        <p:txBody>
          <a:bodyPr wrap="square" anchor="t" lIns="0" rIns="0" tIns="0" bIns="0">
            <a:noAutofit/>
          </a:bodyPr>
          <a:lstStyle/>
          <a:p>
            <a:pPr algn="l">
              <a:lnSpc>
                <a:spcPct val="115000"/>
              </a:lnSpc>
              <a:spcBef>
                <a:spcPts val="0"/>
              </a:spcBef>
              <a:spcAft>
                <a:spcPts val="600"/>
              </a:spcAft>
            </a:pPr>
            <a:r>
              <a:rPr sz="1500" b="0">
                <a:solidFill>
                  <a:srgbClr val="AEBECD"/>
                </a:solidFill>
                <a:latin typeface="Arial"/>
              </a:rPr>
              <a:t>The concepts both solutions share: the mesh, telemetry fan-out, MCP, correlation, and the approval gate.</a:t>
            </a:r>
          </a:p>
        </p:txBody>
      </p:sp>
      <p:sp>
        <p:nvSpPr>
          <p:cNvPr id="8" name="TextBox 7"/>
          <p:cNvSpPr txBox="1"/>
          <p:nvPr/>
        </p:nvSpPr>
        <p:spPr>
          <a:xfrm>
            <a:off x="566928" y="6272784"/>
            <a:ext cx="2194560" cy="457200"/>
          </a:xfrm>
          <a:prstGeom prst="rect">
            <a:avLst/>
          </a:prstGeom>
          <a:noFill/>
        </p:spPr>
        <p:txBody>
          <a:bodyPr wrap="square" anchor="ctr" lIns="0" rIns="0" tIns="0" bIns="0">
            <a:noAutofit/>
          </a:bodyPr>
          <a:lstStyle/>
          <a:p>
            <a:pPr algn="l">
              <a:lnSpc>
                <a:spcPct val="100000"/>
              </a:lnSpc>
              <a:spcBef>
                <a:spcPts val="0"/>
              </a:spcBef>
              <a:spcAft>
                <a:spcPts val="600"/>
              </a:spcAft>
            </a:pPr>
            <a:r>
              <a:rPr sz="1600" b="1">
                <a:solidFill>
                  <a:srgbClr val="FFFFFF"/>
                </a:solidFill>
                <a:latin typeface="Arial"/>
              </a:rPr>
              <a:t>wso</a:t>
            </a:r>
            <a:r>
              <a:rPr sz="1600" b="1">
                <a:solidFill>
                  <a:srgbClr val="FF7300"/>
                </a:solidFill>
                <a:latin typeface="Arial"/>
              </a:rPr>
              <a:t>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LEVEL 0 · SHARED</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big picture: two tiers</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74519"/>
            <a:ext cx="11057839" cy="1600200"/>
          </a:xfrm>
          <a:prstGeom prst="roundRect">
            <a:avLst>
              <a:gd name="adj" fmla="val 4500"/>
            </a:avLst>
          </a:prstGeom>
          <a:solidFill>
            <a:srgbClr val="F4F6F8"/>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2020824"/>
            <a:ext cx="265176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020824"/>
            <a:ext cx="265176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950" b="1">
                <a:solidFill>
                  <a:srgbClr val="C85A00"/>
                </a:solidFill>
                <a:latin typeface="Arial"/>
              </a:rPr>
              <a:t>AGENT TIER  ·  governed</a:t>
            </a:r>
          </a:p>
        </p:txBody>
      </p:sp>
      <p:sp>
        <p:nvSpPr>
          <p:cNvPr id="10" name="Rounded Rectangle 9"/>
          <p:cNvSpPr/>
          <p:nvPr/>
        </p:nvSpPr>
        <p:spPr>
          <a:xfrm>
            <a:off x="886968" y="2441448"/>
            <a:ext cx="3108960" cy="822960"/>
          </a:xfrm>
          <a:prstGeom prst="roundRect">
            <a:avLst>
              <a:gd name="adj" fmla="val 10000"/>
            </a:avLst>
          </a:prstGeom>
          <a:solidFill>
            <a:srgbClr val="FFFFFF"/>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478024"/>
            <a:ext cx="2962656" cy="749808"/>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1B2733"/>
                </a:solidFill>
                <a:latin typeface="Arial"/>
              </a:rPr>
              <a:t>Incident-Response Agent</a:t>
            </a:r>
          </a:p>
          <a:p>
            <a:pPr algn="ctr">
              <a:lnSpc>
                <a:spcPct val="102000"/>
              </a:lnSpc>
              <a:spcBef>
                <a:spcPts val="0"/>
              </a:spcBef>
              <a:spcAft>
                <a:spcPts val="0"/>
              </a:spcAft>
            </a:pPr>
            <a:r>
              <a:rPr sz="900" b="0">
                <a:solidFill>
                  <a:srgbClr val="6B7885"/>
                </a:solidFill>
                <a:latin typeface="Arial"/>
              </a:rPr>
              <a:t>native tool-use loop</a:t>
            </a:r>
          </a:p>
        </p:txBody>
      </p:sp>
      <p:sp>
        <p:nvSpPr>
          <p:cNvPr id="12" name="Rounded Rectangle 11"/>
          <p:cNvSpPr/>
          <p:nvPr/>
        </p:nvSpPr>
        <p:spPr>
          <a:xfrm>
            <a:off x="4361688" y="2441448"/>
            <a:ext cx="2743200" cy="822960"/>
          </a:xfrm>
          <a:prstGeom prst="roundRect">
            <a:avLst>
              <a:gd name="adj" fmla="val 10000"/>
            </a:avLst>
          </a:prstGeom>
          <a:solidFill>
            <a:srgbClr val="FFEBDA"/>
          </a:solidFill>
          <a:ln w="1778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2478024"/>
            <a:ext cx="2596896" cy="749808"/>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1B2733"/>
                </a:solidFill>
                <a:latin typeface="Arial"/>
              </a:rPr>
              <a:t>MCP tool surface</a:t>
            </a:r>
          </a:p>
          <a:p>
            <a:pPr algn="ctr">
              <a:lnSpc>
                <a:spcPct val="102000"/>
              </a:lnSpc>
              <a:spcBef>
                <a:spcPts val="0"/>
              </a:spcBef>
              <a:spcAft>
                <a:spcPts val="0"/>
              </a:spcAft>
            </a:pPr>
            <a:r>
              <a:rPr sz="850" b="0">
                <a:solidFill>
                  <a:srgbClr val="6B7885"/>
                </a:solidFill>
                <a:latin typeface="Arial"/>
              </a:rPr>
              <a:t>logs · metrics · topology · runbooks</a:t>
            </a:r>
          </a:p>
        </p:txBody>
      </p:sp>
      <p:sp>
        <p:nvSpPr>
          <p:cNvPr id="14" name="Rounded Rectangle 13"/>
          <p:cNvSpPr/>
          <p:nvPr/>
        </p:nvSpPr>
        <p:spPr>
          <a:xfrm>
            <a:off x="7470648" y="2441448"/>
            <a:ext cx="2468880" cy="822960"/>
          </a:xfrm>
          <a:prstGeom prst="roundRect">
            <a:avLst>
              <a:gd name="adj" fmla="val 10000"/>
            </a:avLst>
          </a:prstGeom>
          <a:solidFill>
            <a:srgbClr val="FFFFFF"/>
          </a:solidFill>
          <a:ln w="1778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43800" y="2478024"/>
            <a:ext cx="2322576" cy="749808"/>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1B2733"/>
                </a:solidFill>
                <a:latin typeface="Arial"/>
              </a:rPr>
              <a:t>LLM (pluggable)</a:t>
            </a:r>
          </a:p>
          <a:p>
            <a:pPr algn="ctr">
              <a:lnSpc>
                <a:spcPct val="102000"/>
              </a:lnSpc>
              <a:spcBef>
                <a:spcPts val="0"/>
              </a:spcBef>
              <a:spcAft>
                <a:spcPts val="0"/>
              </a:spcAft>
            </a:pPr>
            <a:r>
              <a:rPr sz="900" b="0">
                <a:solidFill>
                  <a:srgbClr val="6B7885"/>
                </a:solidFill>
                <a:latin typeface="Arial"/>
              </a:rPr>
              <a:t>local or cloud</a:t>
            </a:r>
          </a:p>
        </p:txBody>
      </p:sp>
      <p:sp>
        <p:nvSpPr>
          <p:cNvPr id="16" name="Rounded Rectangle 15"/>
          <p:cNvSpPr/>
          <p:nvPr/>
        </p:nvSpPr>
        <p:spPr>
          <a:xfrm>
            <a:off x="10122407" y="2441448"/>
            <a:ext cx="1182319" cy="822960"/>
          </a:xfrm>
          <a:prstGeom prst="roundRect">
            <a:avLst>
              <a:gd name="adj" fmla="val 10000"/>
            </a:avLst>
          </a:prstGeom>
          <a:solidFill>
            <a:srgbClr val="FFFFFF"/>
          </a:solidFill>
          <a:ln w="1778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95559" y="2478024"/>
            <a:ext cx="1036015" cy="749808"/>
          </a:xfrm>
          <a:prstGeom prst="rect">
            <a:avLst/>
          </a:prstGeom>
          <a:noFill/>
        </p:spPr>
        <p:txBody>
          <a:bodyPr wrap="square" anchor="ctr" lIns="0" rIns="0" tIns="0" bIns="0">
            <a:noAutofit/>
          </a:bodyPr>
          <a:lstStyle/>
          <a:p>
            <a:pPr algn="ctr">
              <a:lnSpc>
                <a:spcPct val="100000"/>
              </a:lnSpc>
              <a:spcBef>
                <a:spcPts val="0"/>
              </a:spcBef>
              <a:spcAft>
                <a:spcPts val="200"/>
              </a:spcAft>
            </a:pPr>
            <a:r>
              <a:rPr sz="1100" b="1">
                <a:solidFill>
                  <a:srgbClr val="1B2733"/>
                </a:solidFill>
                <a:latin typeface="Arial"/>
              </a:rPr>
              <a:t>WSO2 AMP</a:t>
            </a:r>
          </a:p>
          <a:p>
            <a:pPr algn="ctr">
              <a:lnSpc>
                <a:spcPct val="102000"/>
              </a:lnSpc>
              <a:spcBef>
                <a:spcPts val="0"/>
              </a:spcBef>
              <a:spcAft>
                <a:spcPts val="0"/>
              </a:spcAft>
            </a:pPr>
            <a:r>
              <a:rPr sz="800" b="0">
                <a:solidFill>
                  <a:srgbClr val="6B7885"/>
                </a:solidFill>
                <a:latin typeface="Arial"/>
              </a:rPr>
              <a:t>governance / AI gateway</a:t>
            </a:r>
          </a:p>
        </p:txBody>
      </p:sp>
      <p:sp>
        <p:nvSpPr>
          <p:cNvPr id="18" name="Rounded Rectangle 17"/>
          <p:cNvSpPr/>
          <p:nvPr/>
        </p:nvSpPr>
        <p:spPr>
          <a:xfrm>
            <a:off x="566928" y="3749039"/>
            <a:ext cx="11057839" cy="2148840"/>
          </a:xfrm>
          <a:prstGeom prst="roundRect">
            <a:avLst>
              <a:gd name="adj" fmla="val 4500"/>
            </a:avLst>
          </a:prstGeom>
          <a:solidFill>
            <a:srgbClr val="F4F6F8"/>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9808" y="3895344"/>
            <a:ext cx="320040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95344"/>
            <a:ext cx="320040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950" b="1">
                <a:solidFill>
                  <a:srgbClr val="3E4C59"/>
                </a:solidFill>
                <a:latin typeface="Arial"/>
              </a:rPr>
              <a:t>WORKLOAD + OBSERVABILITY TIER</a:t>
            </a:r>
          </a:p>
        </p:txBody>
      </p:sp>
      <p:sp>
        <p:nvSpPr>
          <p:cNvPr id="21" name="Rounded Rectangle 20"/>
          <p:cNvSpPr/>
          <p:nvPr/>
        </p:nvSpPr>
        <p:spPr>
          <a:xfrm>
            <a:off x="886968" y="4343400"/>
            <a:ext cx="3291840" cy="1280160"/>
          </a:xfrm>
          <a:prstGeom prst="roundRect">
            <a:avLst>
              <a:gd name="adj" fmla="val 10000"/>
            </a:avLst>
          </a:prstGeom>
          <a:solidFill>
            <a:srgbClr val="FFFFFF"/>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379976"/>
            <a:ext cx="3145536" cy="1207007"/>
          </a:xfrm>
          <a:prstGeom prst="rect">
            <a:avLst/>
          </a:prstGeom>
          <a:noFill/>
        </p:spPr>
        <p:txBody>
          <a:bodyPr wrap="square" anchor="ctr" lIns="0" rIns="0" tIns="0" bIns="0">
            <a:noAutofit/>
          </a:bodyPr>
          <a:lstStyle/>
          <a:p>
            <a:pPr algn="ctr">
              <a:lnSpc>
                <a:spcPct val="100000"/>
              </a:lnSpc>
              <a:spcBef>
                <a:spcPts val="0"/>
              </a:spcBef>
              <a:spcAft>
                <a:spcPts val="200"/>
              </a:spcAft>
            </a:pPr>
            <a:r>
              <a:rPr sz="1250" b="1">
                <a:solidFill>
                  <a:srgbClr val="1B2733"/>
                </a:solidFill>
                <a:latin typeface="Arial"/>
              </a:rPr>
              <a:t>7-service Ballerina mesh</a:t>
            </a:r>
          </a:p>
          <a:p>
            <a:pPr algn="ctr">
              <a:lnSpc>
                <a:spcPct val="102000"/>
              </a:lnSpc>
              <a:spcBef>
                <a:spcPts val="0"/>
              </a:spcBef>
              <a:spcAft>
                <a:spcPts val="0"/>
              </a:spcAft>
            </a:pPr>
            <a:r>
              <a:rPr sz="900" b="0">
                <a:solidFill>
                  <a:srgbClr val="6B7885"/>
                </a:solidFill>
                <a:latin typeface="Arial"/>
              </a:rPr>
              <a:t>+ load generator</a:t>
            </a:r>
          </a:p>
        </p:txBody>
      </p:sp>
      <p:sp>
        <p:nvSpPr>
          <p:cNvPr id="23" name="Rounded Rectangle 22"/>
          <p:cNvSpPr/>
          <p:nvPr/>
        </p:nvSpPr>
        <p:spPr>
          <a:xfrm>
            <a:off x="4498848" y="4343400"/>
            <a:ext cx="2377440" cy="1280160"/>
          </a:xfrm>
          <a:prstGeom prst="roundRect">
            <a:avLst>
              <a:gd name="adj" fmla="val 10000"/>
            </a:avLst>
          </a:prstGeom>
          <a:solidFill>
            <a:srgbClr val="FFFFFF"/>
          </a:solidFill>
          <a:ln w="1778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4379976"/>
            <a:ext cx="2231136" cy="1207007"/>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1B2733"/>
                </a:solidFill>
                <a:latin typeface="Arial"/>
              </a:rPr>
              <a:t>OTel Collector</a:t>
            </a:r>
          </a:p>
          <a:p>
            <a:pPr algn="ctr">
              <a:lnSpc>
                <a:spcPct val="102000"/>
              </a:lnSpc>
              <a:spcBef>
                <a:spcPts val="0"/>
              </a:spcBef>
              <a:spcAft>
                <a:spcPts val="0"/>
              </a:spcAft>
            </a:pPr>
            <a:r>
              <a:rPr sz="900" b="0">
                <a:solidFill>
                  <a:srgbClr val="6B7885"/>
                </a:solidFill>
                <a:latin typeface="Arial"/>
              </a:rPr>
              <a:t>one shipper, fans out</a:t>
            </a:r>
          </a:p>
        </p:txBody>
      </p:sp>
      <p:sp>
        <p:nvSpPr>
          <p:cNvPr id="25" name="Rounded Rectangle 24"/>
          <p:cNvSpPr/>
          <p:nvPr/>
        </p:nvSpPr>
        <p:spPr>
          <a:xfrm>
            <a:off x="7150608" y="4343400"/>
            <a:ext cx="2651760" cy="566928"/>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0" y="4379976"/>
            <a:ext cx="2505456" cy="493776"/>
          </a:xfrm>
          <a:prstGeom prst="rect">
            <a:avLst/>
          </a:prstGeom>
          <a:noFill/>
        </p:spPr>
        <p:txBody>
          <a:bodyPr wrap="square" anchor="ctr" lIns="0" rIns="0" tIns="0" bIns="0">
            <a:noAutofit/>
          </a:bodyPr>
          <a:lstStyle/>
          <a:p>
            <a:pPr algn="ctr">
              <a:lnSpc>
                <a:spcPct val="100000"/>
              </a:lnSpc>
              <a:spcBef>
                <a:spcPts val="0"/>
              </a:spcBef>
              <a:spcAft>
                <a:spcPts val="200"/>
              </a:spcAft>
            </a:pPr>
            <a:r>
              <a:rPr sz="1150" b="1">
                <a:solidFill>
                  <a:srgbClr val="1B2733"/>
                </a:solidFill>
                <a:latin typeface="Arial"/>
              </a:rPr>
              <a:t>Datadog (SaaS)</a:t>
            </a:r>
          </a:p>
          <a:p>
            <a:pPr algn="ctr">
              <a:lnSpc>
                <a:spcPct val="102000"/>
              </a:lnSpc>
              <a:spcBef>
                <a:spcPts val="0"/>
              </a:spcBef>
              <a:spcAft>
                <a:spcPts val="0"/>
              </a:spcAft>
            </a:pPr>
            <a:r>
              <a:rPr sz="850" b="0">
                <a:solidFill>
                  <a:srgbClr val="6B7885"/>
                </a:solidFill>
                <a:latin typeface="Arial"/>
              </a:rPr>
              <a:t>metrics · traces</a:t>
            </a:r>
          </a:p>
        </p:txBody>
      </p:sp>
      <p:sp>
        <p:nvSpPr>
          <p:cNvPr id="27" name="Rounded Rectangle 26"/>
          <p:cNvSpPr/>
          <p:nvPr/>
        </p:nvSpPr>
        <p:spPr>
          <a:xfrm>
            <a:off x="7150608" y="5056631"/>
            <a:ext cx="2651760" cy="566928"/>
          </a:xfrm>
          <a:prstGeom prst="roundRect">
            <a:avLst>
              <a:gd name="adj" fmla="val 10000"/>
            </a:avLst>
          </a:prstGeom>
          <a:solidFill>
            <a:srgbClr val="EAF4E1"/>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0" y="5093207"/>
            <a:ext cx="2505456" cy="493776"/>
          </a:xfrm>
          <a:prstGeom prst="rect">
            <a:avLst/>
          </a:prstGeom>
          <a:noFill/>
        </p:spPr>
        <p:txBody>
          <a:bodyPr wrap="square" anchor="ctr" lIns="0" rIns="0" tIns="0" bIns="0">
            <a:noAutofit/>
          </a:bodyPr>
          <a:lstStyle/>
          <a:p>
            <a:pPr algn="ctr">
              <a:lnSpc>
                <a:spcPct val="100000"/>
              </a:lnSpc>
              <a:spcBef>
                <a:spcPts val="0"/>
              </a:spcBef>
              <a:spcAft>
                <a:spcPts val="200"/>
              </a:spcAft>
            </a:pPr>
            <a:r>
              <a:rPr sz="1150" b="1">
                <a:solidFill>
                  <a:srgbClr val="1B2733"/>
                </a:solidFill>
                <a:latin typeface="Arial"/>
              </a:rPr>
              <a:t>Splunk (SaaS)</a:t>
            </a:r>
          </a:p>
          <a:p>
            <a:pPr algn="ctr">
              <a:lnSpc>
                <a:spcPct val="102000"/>
              </a:lnSpc>
              <a:spcBef>
                <a:spcPts val="0"/>
              </a:spcBef>
              <a:spcAft>
                <a:spcPts val="0"/>
              </a:spcAft>
            </a:pPr>
            <a:r>
              <a:rPr sz="850" b="0">
                <a:solidFill>
                  <a:srgbClr val="6B7885"/>
                </a:solidFill>
                <a:latin typeface="Arial"/>
              </a:rPr>
              <a:t>logs · traces</a:t>
            </a:r>
          </a:p>
        </p:txBody>
      </p:sp>
      <p:sp>
        <p:nvSpPr>
          <p:cNvPr id="29" name="Rounded Rectangle 28"/>
          <p:cNvSpPr/>
          <p:nvPr/>
        </p:nvSpPr>
        <p:spPr>
          <a:xfrm>
            <a:off x="9985248" y="4343400"/>
            <a:ext cx="1319479" cy="1280160"/>
          </a:xfrm>
          <a:prstGeom prst="roundRect">
            <a:avLst>
              <a:gd name="adj" fmla="val 10000"/>
            </a:avLst>
          </a:prstGeom>
          <a:solidFill>
            <a:srgbClr val="FFFFFF"/>
          </a:solidFill>
          <a:ln w="1778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0" y="4379976"/>
            <a:ext cx="1173175" cy="1207007"/>
          </a:xfrm>
          <a:prstGeom prst="rect">
            <a:avLst/>
          </a:prstGeom>
          <a:noFill/>
        </p:spPr>
        <p:txBody>
          <a:bodyPr wrap="square" anchor="ctr" lIns="0" rIns="0" tIns="0" bIns="0">
            <a:noAutofit/>
          </a:bodyPr>
          <a:lstStyle/>
          <a:p>
            <a:pPr algn="ctr">
              <a:lnSpc>
                <a:spcPct val="100000"/>
              </a:lnSpc>
              <a:spcBef>
                <a:spcPts val="0"/>
              </a:spcBef>
              <a:spcAft>
                <a:spcPts val="200"/>
              </a:spcAft>
            </a:pPr>
            <a:r>
              <a:rPr sz="1100" b="1">
                <a:solidFill>
                  <a:srgbClr val="1B2733"/>
                </a:solidFill>
                <a:latin typeface="Arial"/>
              </a:rPr>
              <a:t>Infra</a:t>
            </a:r>
          </a:p>
          <a:p>
            <a:pPr algn="ctr">
              <a:lnSpc>
                <a:spcPct val="102000"/>
              </a:lnSpc>
              <a:spcBef>
                <a:spcPts val="0"/>
              </a:spcBef>
              <a:spcAft>
                <a:spcPts val="0"/>
              </a:spcAft>
            </a:pPr>
            <a:r>
              <a:rPr sz="850" b="0">
                <a:solidFill>
                  <a:srgbClr val="6B7885"/>
                </a:solidFill>
                <a:latin typeface="Arial"/>
              </a:rPr>
              <a:t>Postgres · Redis · NATS</a:t>
            </a:r>
          </a:p>
        </p:txBody>
      </p:sp>
      <p:cxnSp>
        <p:nvCxnSpPr>
          <p:cNvPr id="31" name="Connector 30"/>
          <p:cNvCxnSpPr/>
          <p:nvPr/>
        </p:nvCxnSpPr>
        <p:spPr>
          <a:xfrm>
            <a:off x="4178808" y="4983479"/>
            <a:ext cx="320040" cy="0"/>
          </a:xfrm>
          <a:prstGeom prst="line">
            <a:avLst/>
          </a:prstGeom>
          <a:ln w="20320">
            <a:solidFill>
              <a:srgbClr val="1B273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876288" y="4626864"/>
            <a:ext cx="274320" cy="128015"/>
          </a:xfrm>
          <a:prstGeom prst="line">
            <a:avLst/>
          </a:prstGeom>
          <a:ln w="20320">
            <a:solidFill>
              <a:srgbClr val="7A3FE4"/>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876288" y="5212079"/>
            <a:ext cx="274320" cy="128017"/>
          </a:xfrm>
          <a:prstGeom prst="line">
            <a:avLst/>
          </a:prstGeom>
          <a:ln w="20320">
            <a:solidFill>
              <a:srgbClr val="5AA82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687568" y="3264408"/>
            <a:ext cx="2743199" cy="1078992"/>
          </a:xfrm>
          <a:prstGeom prst="line">
            <a:avLst/>
          </a:prstGeom>
          <a:ln w="20320">
            <a:solidFill>
              <a:srgbClr val="FF730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327648" y="3904487"/>
            <a:ext cx="1554480" cy="237744"/>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27648" y="3904487"/>
            <a:ext cx="1554480" cy="237744"/>
          </a:xfrm>
          <a:prstGeom prst="rect">
            <a:avLst/>
          </a:prstGeom>
          <a:noFill/>
        </p:spPr>
        <p:txBody>
          <a:bodyPr wrap="square" anchor="ctr" lIns="0" rIns="0" tIns="0" bIns="0">
            <a:noAutofit/>
          </a:bodyPr>
          <a:lstStyle/>
          <a:p>
            <a:pPr algn="ctr">
              <a:lnSpc>
                <a:spcPct val="100000"/>
              </a:lnSpc>
              <a:spcBef>
                <a:spcPts val="0"/>
              </a:spcBef>
              <a:spcAft>
                <a:spcPts val="600"/>
              </a:spcAft>
            </a:pPr>
            <a:r>
              <a:rPr sz="850" b="1">
                <a:solidFill>
                  <a:srgbClr val="C85A00"/>
                </a:solidFill>
                <a:latin typeface="Arial"/>
              </a:rPr>
              <a:t>MCP tool calls</a:t>
            </a:r>
          </a:p>
        </p:txBody>
      </p:sp>
      <p:sp>
        <p:nvSpPr>
          <p:cNvPr id="37" name="TextBox 36"/>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38" name="TextBox 37"/>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11  /  48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LEVEL 0 · SHARED</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mesh we observe &amp; remediate</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3108960"/>
            <a:ext cx="1554480" cy="822960"/>
          </a:xfrm>
          <a:prstGeom prst="roundRect">
            <a:avLst>
              <a:gd name="adj" fmla="val 10000"/>
            </a:avLst>
          </a:prstGeom>
          <a:solidFill>
            <a:srgbClr val="1B2733"/>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145536"/>
            <a:ext cx="1408176" cy="749808"/>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FFFFFF"/>
                </a:solidFill>
                <a:latin typeface="Arial"/>
              </a:rPr>
              <a:t>load-gen</a:t>
            </a:r>
          </a:p>
          <a:p>
            <a:pPr algn="ctr">
              <a:lnSpc>
                <a:spcPct val="102000"/>
              </a:lnSpc>
              <a:spcBef>
                <a:spcPts val="0"/>
              </a:spcBef>
              <a:spcAft>
                <a:spcPts val="0"/>
              </a:spcAft>
            </a:pPr>
            <a:r>
              <a:rPr sz="900" b="0">
                <a:solidFill>
                  <a:srgbClr val="AEBECD"/>
                </a:solidFill>
                <a:latin typeface="Arial"/>
              </a:rPr>
              <a:t>traffic driver</a:t>
            </a:r>
          </a:p>
        </p:txBody>
      </p:sp>
      <p:sp>
        <p:nvSpPr>
          <p:cNvPr id="9" name="Rounded Rectangle 8"/>
          <p:cNvSpPr/>
          <p:nvPr/>
        </p:nvSpPr>
        <p:spPr>
          <a:xfrm>
            <a:off x="2944368" y="3108960"/>
            <a:ext cx="2103120" cy="822960"/>
          </a:xfrm>
          <a:prstGeom prst="roundRect">
            <a:avLst>
              <a:gd name="adj" fmla="val 10000"/>
            </a:avLst>
          </a:prstGeom>
          <a:solidFill>
            <a:srgbClr val="FFEBDA"/>
          </a:solidFill>
          <a:ln w="1778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3145536"/>
            <a:ext cx="1956815" cy="749808"/>
          </a:xfrm>
          <a:prstGeom prst="rect">
            <a:avLst/>
          </a:prstGeom>
          <a:noFill/>
        </p:spPr>
        <p:txBody>
          <a:bodyPr wrap="square" anchor="ctr" lIns="0" rIns="0" tIns="0" bIns="0">
            <a:noAutofit/>
          </a:bodyPr>
          <a:lstStyle/>
          <a:p>
            <a:pPr algn="ctr">
              <a:lnSpc>
                <a:spcPct val="100000"/>
              </a:lnSpc>
              <a:spcBef>
                <a:spcPts val="0"/>
              </a:spcBef>
              <a:spcAft>
                <a:spcPts val="200"/>
              </a:spcAft>
            </a:pPr>
            <a:r>
              <a:rPr sz="1250" b="1">
                <a:solidFill>
                  <a:srgbClr val="1B2733"/>
                </a:solidFill>
                <a:latin typeface="Arial"/>
              </a:rPr>
              <a:t>order-service</a:t>
            </a:r>
          </a:p>
          <a:p>
            <a:pPr algn="ctr">
              <a:lnSpc>
                <a:spcPct val="102000"/>
              </a:lnSpc>
              <a:spcBef>
                <a:spcPts val="0"/>
              </a:spcBef>
              <a:spcAft>
                <a:spcPts val="0"/>
              </a:spcAft>
            </a:pPr>
            <a:r>
              <a:rPr sz="800" b="0">
                <a:solidFill>
                  <a:srgbClr val="6B7885"/>
                </a:solidFill>
                <a:latin typeface="Arial"/>
              </a:rPr>
              <a:t>POST /orders — front door</a:t>
            </a:r>
          </a:p>
        </p:txBody>
      </p:sp>
      <p:sp>
        <p:nvSpPr>
          <p:cNvPr id="11" name="Rounded Rectangle 10"/>
          <p:cNvSpPr/>
          <p:nvPr/>
        </p:nvSpPr>
        <p:spPr>
          <a:xfrm>
            <a:off x="6053328" y="1874519"/>
            <a:ext cx="2743200" cy="603504"/>
          </a:xfrm>
          <a:prstGeom prst="roundRect">
            <a:avLst>
              <a:gd name="adj" fmla="val 10000"/>
            </a:avLst>
          </a:prstGeom>
          <a:solidFill>
            <a:srgbClr val="FFFFFF"/>
          </a:solidFill>
          <a:ln w="1778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911095"/>
            <a:ext cx="2596896" cy="530352"/>
          </a:xfrm>
          <a:prstGeom prst="rect">
            <a:avLst/>
          </a:prstGeom>
          <a:noFill/>
        </p:spPr>
        <p:txBody>
          <a:bodyPr wrap="square" anchor="ctr" lIns="0" rIns="0" tIns="0" bIns="0">
            <a:noAutofit/>
          </a:bodyPr>
          <a:lstStyle/>
          <a:p>
            <a:pPr algn="ctr">
              <a:lnSpc>
                <a:spcPct val="100000"/>
              </a:lnSpc>
              <a:spcBef>
                <a:spcPts val="0"/>
              </a:spcBef>
              <a:spcAft>
                <a:spcPts val="200"/>
              </a:spcAft>
            </a:pPr>
            <a:r>
              <a:rPr sz="1150" b="1">
                <a:solidFill>
                  <a:srgbClr val="1B2733"/>
                </a:solidFill>
                <a:latin typeface="Arial"/>
              </a:rPr>
              <a:t>customer-service</a:t>
            </a:r>
          </a:p>
          <a:p>
            <a:pPr algn="ctr">
              <a:lnSpc>
                <a:spcPct val="102000"/>
              </a:lnSpc>
              <a:spcBef>
                <a:spcPts val="0"/>
              </a:spcBef>
              <a:spcAft>
                <a:spcPts val="0"/>
              </a:spcAft>
            </a:pPr>
            <a:r>
              <a:rPr sz="800" b="0">
                <a:solidFill>
                  <a:srgbClr val="6B7885"/>
                </a:solidFill>
                <a:latin typeface="Arial"/>
              </a:rPr>
              <a:t>validate</a:t>
            </a:r>
          </a:p>
        </p:txBody>
      </p:sp>
      <p:cxnSp>
        <p:nvCxnSpPr>
          <p:cNvPr id="13" name="Connector 12"/>
          <p:cNvCxnSpPr/>
          <p:nvPr/>
        </p:nvCxnSpPr>
        <p:spPr>
          <a:xfrm flipV="1">
            <a:off x="5047488" y="2176272"/>
            <a:ext cx="1005840" cy="1161288"/>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53328" y="2660904"/>
            <a:ext cx="2743200" cy="603504"/>
          </a:xfrm>
          <a:prstGeom prst="roundRect">
            <a:avLst>
              <a:gd name="adj" fmla="val 10000"/>
            </a:avLst>
          </a:prstGeom>
          <a:solidFill>
            <a:srgbClr val="FFFFFF"/>
          </a:solidFill>
          <a:ln w="1778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2697480"/>
            <a:ext cx="2596896" cy="530352"/>
          </a:xfrm>
          <a:prstGeom prst="rect">
            <a:avLst/>
          </a:prstGeom>
          <a:noFill/>
        </p:spPr>
        <p:txBody>
          <a:bodyPr wrap="square" anchor="ctr" lIns="0" rIns="0" tIns="0" bIns="0">
            <a:noAutofit/>
          </a:bodyPr>
          <a:lstStyle/>
          <a:p>
            <a:pPr algn="ctr">
              <a:lnSpc>
                <a:spcPct val="100000"/>
              </a:lnSpc>
              <a:spcBef>
                <a:spcPts val="0"/>
              </a:spcBef>
              <a:spcAft>
                <a:spcPts val="200"/>
              </a:spcAft>
            </a:pPr>
            <a:r>
              <a:rPr sz="1150" b="1">
                <a:solidFill>
                  <a:srgbClr val="1B2733"/>
                </a:solidFill>
                <a:latin typeface="Arial"/>
              </a:rPr>
              <a:t>inventory-service</a:t>
            </a:r>
          </a:p>
          <a:p>
            <a:pPr algn="ctr">
              <a:lnSpc>
                <a:spcPct val="102000"/>
              </a:lnSpc>
              <a:spcBef>
                <a:spcPts val="0"/>
              </a:spcBef>
              <a:spcAft>
                <a:spcPts val="0"/>
              </a:spcAft>
            </a:pPr>
            <a:r>
              <a:rPr sz="800" b="0">
                <a:solidFill>
                  <a:srgbClr val="6B7885"/>
                </a:solidFill>
                <a:latin typeface="Arial"/>
              </a:rPr>
              <a:t>reserve · Redis</a:t>
            </a:r>
          </a:p>
        </p:txBody>
      </p:sp>
      <p:cxnSp>
        <p:nvCxnSpPr>
          <p:cNvPr id="16" name="Connector 15"/>
          <p:cNvCxnSpPr/>
          <p:nvPr/>
        </p:nvCxnSpPr>
        <p:spPr>
          <a:xfrm flipV="1">
            <a:off x="5047488" y="2962656"/>
            <a:ext cx="1005840" cy="374904"/>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53328" y="3447288"/>
            <a:ext cx="2743200" cy="603504"/>
          </a:xfrm>
          <a:prstGeom prst="roundRect">
            <a:avLst>
              <a:gd name="adj" fmla="val 10000"/>
            </a:avLst>
          </a:prstGeom>
          <a:solidFill>
            <a:srgbClr val="FBE7E6"/>
          </a:solidFill>
          <a:ln w="17780">
            <a:solidFill>
              <a:srgbClr val="CE4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3483864"/>
            <a:ext cx="2596896" cy="530352"/>
          </a:xfrm>
          <a:prstGeom prst="rect">
            <a:avLst/>
          </a:prstGeom>
          <a:noFill/>
        </p:spPr>
        <p:txBody>
          <a:bodyPr wrap="square" anchor="ctr" lIns="0" rIns="0" tIns="0" bIns="0">
            <a:noAutofit/>
          </a:bodyPr>
          <a:lstStyle/>
          <a:p>
            <a:pPr algn="ctr">
              <a:lnSpc>
                <a:spcPct val="100000"/>
              </a:lnSpc>
              <a:spcBef>
                <a:spcPts val="0"/>
              </a:spcBef>
              <a:spcAft>
                <a:spcPts val="200"/>
              </a:spcAft>
            </a:pPr>
            <a:r>
              <a:rPr sz="1150" b="1">
                <a:solidFill>
                  <a:srgbClr val="1B2733"/>
                </a:solidFill>
                <a:latin typeface="Arial"/>
              </a:rPr>
              <a:t>payment-service</a:t>
            </a:r>
          </a:p>
          <a:p>
            <a:pPr algn="ctr">
              <a:lnSpc>
                <a:spcPct val="102000"/>
              </a:lnSpc>
              <a:spcBef>
                <a:spcPts val="0"/>
              </a:spcBef>
              <a:spcAft>
                <a:spcPts val="0"/>
              </a:spcAft>
            </a:pPr>
            <a:r>
              <a:rPr sz="800" b="0">
                <a:solidFill>
                  <a:srgbClr val="6B7885"/>
                </a:solidFill>
                <a:latin typeface="Arial"/>
              </a:rPr>
              <a:t>charge · mock-bank</a:t>
            </a:r>
          </a:p>
        </p:txBody>
      </p:sp>
      <p:cxnSp>
        <p:nvCxnSpPr>
          <p:cNvPr id="19" name="Connector 18"/>
          <p:cNvCxnSpPr/>
          <p:nvPr/>
        </p:nvCxnSpPr>
        <p:spPr>
          <a:xfrm>
            <a:off x="5047488" y="3337560"/>
            <a:ext cx="1005840" cy="411479"/>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053328" y="4233672"/>
            <a:ext cx="2743200" cy="603504"/>
          </a:xfrm>
          <a:prstGeom prst="roundRect">
            <a:avLst>
              <a:gd name="adj" fmla="val 10000"/>
            </a:avLst>
          </a:prstGeom>
          <a:solidFill>
            <a:srgbClr val="FFFFFF"/>
          </a:solidFill>
          <a:ln w="1778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4270248"/>
            <a:ext cx="2596896" cy="530352"/>
          </a:xfrm>
          <a:prstGeom prst="rect">
            <a:avLst/>
          </a:prstGeom>
          <a:noFill/>
        </p:spPr>
        <p:txBody>
          <a:bodyPr wrap="square" anchor="ctr" lIns="0" rIns="0" tIns="0" bIns="0">
            <a:noAutofit/>
          </a:bodyPr>
          <a:lstStyle/>
          <a:p>
            <a:pPr algn="ctr">
              <a:lnSpc>
                <a:spcPct val="100000"/>
              </a:lnSpc>
              <a:spcBef>
                <a:spcPts val="0"/>
              </a:spcBef>
              <a:spcAft>
                <a:spcPts val="200"/>
              </a:spcAft>
            </a:pPr>
            <a:r>
              <a:rPr sz="1150" b="1">
                <a:solidFill>
                  <a:srgbClr val="1B2733"/>
                </a:solidFill>
                <a:latin typeface="Arial"/>
              </a:rPr>
              <a:t>invoice-service</a:t>
            </a:r>
          </a:p>
          <a:p>
            <a:pPr algn="ctr">
              <a:lnSpc>
                <a:spcPct val="102000"/>
              </a:lnSpc>
              <a:spcBef>
                <a:spcPts val="0"/>
              </a:spcBef>
              <a:spcAft>
                <a:spcPts val="0"/>
              </a:spcAft>
            </a:pPr>
            <a:r>
              <a:rPr sz="800" b="0">
                <a:solidFill>
                  <a:srgbClr val="6B7885"/>
                </a:solidFill>
                <a:latin typeface="Arial"/>
              </a:rPr>
              <a:t>bill</a:t>
            </a:r>
          </a:p>
        </p:txBody>
      </p:sp>
      <p:cxnSp>
        <p:nvCxnSpPr>
          <p:cNvPr id="22" name="Connector 21"/>
          <p:cNvCxnSpPr/>
          <p:nvPr/>
        </p:nvCxnSpPr>
        <p:spPr>
          <a:xfrm>
            <a:off x="5047488" y="3337560"/>
            <a:ext cx="1005840" cy="1197864"/>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053328" y="5111496"/>
            <a:ext cx="2743200" cy="603504"/>
          </a:xfrm>
          <a:prstGeom prst="roundRect">
            <a:avLst>
              <a:gd name="adj" fmla="val 10000"/>
            </a:avLst>
          </a:prstGeom>
          <a:solidFill>
            <a:srgbClr val="FFFFFF"/>
          </a:solidFill>
          <a:ln w="1778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0" y="5148072"/>
            <a:ext cx="2596896" cy="530352"/>
          </a:xfrm>
          <a:prstGeom prst="rect">
            <a:avLst/>
          </a:prstGeom>
          <a:noFill/>
        </p:spPr>
        <p:txBody>
          <a:bodyPr wrap="square" anchor="ctr" lIns="0" rIns="0" tIns="0" bIns="0">
            <a:noAutofit/>
          </a:bodyPr>
          <a:lstStyle/>
          <a:p>
            <a:pPr algn="ctr">
              <a:lnSpc>
                <a:spcPct val="100000"/>
              </a:lnSpc>
              <a:spcBef>
                <a:spcPts val="0"/>
              </a:spcBef>
              <a:spcAft>
                <a:spcPts val="200"/>
              </a:spcAft>
            </a:pPr>
            <a:r>
              <a:rPr sz="1150" b="1">
                <a:solidFill>
                  <a:srgbClr val="1B2733"/>
                </a:solidFill>
                <a:latin typeface="Arial"/>
              </a:rPr>
              <a:t>notification-service</a:t>
            </a:r>
          </a:p>
          <a:p>
            <a:pPr algn="ctr">
              <a:lnSpc>
                <a:spcPct val="102000"/>
              </a:lnSpc>
              <a:spcBef>
                <a:spcPts val="0"/>
              </a:spcBef>
              <a:spcAft>
                <a:spcPts val="0"/>
              </a:spcAft>
            </a:pPr>
            <a:r>
              <a:rPr sz="800" b="0">
                <a:solidFill>
                  <a:srgbClr val="6B7885"/>
                </a:solidFill>
                <a:latin typeface="Arial"/>
              </a:rPr>
              <a:t>async confirm</a:t>
            </a:r>
          </a:p>
        </p:txBody>
      </p:sp>
      <p:cxnSp>
        <p:nvCxnSpPr>
          <p:cNvPr id="25" name="Connector 24"/>
          <p:cNvCxnSpPr/>
          <p:nvPr/>
        </p:nvCxnSpPr>
        <p:spPr>
          <a:xfrm>
            <a:off x="3995928" y="3931920"/>
            <a:ext cx="2057400" cy="1481328"/>
          </a:xfrm>
          <a:prstGeom prst="line">
            <a:avLst/>
          </a:prstGeom>
          <a:ln w="17780">
            <a:solidFill>
              <a:srgbClr val="6A4CE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813048" y="4946904"/>
            <a:ext cx="822960" cy="237744"/>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13048" y="4946904"/>
            <a:ext cx="822960" cy="237744"/>
          </a:xfrm>
          <a:prstGeom prst="rect">
            <a:avLst/>
          </a:prstGeom>
          <a:noFill/>
        </p:spPr>
        <p:txBody>
          <a:bodyPr wrap="square" anchor="ctr" lIns="0" rIns="0" tIns="0" bIns="0">
            <a:noAutofit/>
          </a:bodyPr>
          <a:lstStyle/>
          <a:p>
            <a:pPr algn="ctr">
              <a:lnSpc>
                <a:spcPct val="100000"/>
              </a:lnSpc>
              <a:spcBef>
                <a:spcPts val="0"/>
              </a:spcBef>
              <a:spcAft>
                <a:spcPts val="600"/>
              </a:spcAft>
            </a:pPr>
            <a:r>
              <a:rPr sz="850" b="1">
                <a:solidFill>
                  <a:srgbClr val="6A4CE0"/>
                </a:solidFill>
                <a:latin typeface="Arial"/>
              </a:rPr>
              <a:t>NATS</a:t>
            </a:r>
          </a:p>
        </p:txBody>
      </p:sp>
      <p:sp>
        <p:nvSpPr>
          <p:cNvPr id="28" name="Rounded Rectangle 27"/>
          <p:cNvSpPr/>
          <p:nvPr/>
        </p:nvSpPr>
        <p:spPr>
          <a:xfrm>
            <a:off x="2944368" y="2011679"/>
            <a:ext cx="2103120" cy="685800"/>
          </a:xfrm>
          <a:prstGeom prst="roundRect">
            <a:avLst>
              <a:gd name="adj" fmla="val 10000"/>
            </a:avLst>
          </a:prstGeom>
          <a:solidFill>
            <a:srgbClr val="FFFFFF"/>
          </a:solidFill>
          <a:ln w="1778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0" y="2048255"/>
            <a:ext cx="1956815" cy="612648"/>
          </a:xfrm>
          <a:prstGeom prst="rect">
            <a:avLst/>
          </a:prstGeom>
          <a:noFill/>
        </p:spPr>
        <p:txBody>
          <a:bodyPr wrap="square" anchor="ctr" lIns="0" rIns="0" tIns="0" bIns="0">
            <a:noAutofit/>
          </a:bodyPr>
          <a:lstStyle/>
          <a:p>
            <a:pPr algn="ctr">
              <a:lnSpc>
                <a:spcPct val="100000"/>
              </a:lnSpc>
              <a:spcBef>
                <a:spcPts val="0"/>
              </a:spcBef>
              <a:spcAft>
                <a:spcPts val="200"/>
              </a:spcAft>
            </a:pPr>
            <a:r>
              <a:rPr sz="1150" b="1">
                <a:solidFill>
                  <a:srgbClr val="1B2733"/>
                </a:solidFill>
                <a:latin typeface="Arial"/>
              </a:rPr>
              <a:t>store-service</a:t>
            </a:r>
          </a:p>
          <a:p>
            <a:pPr algn="ctr">
              <a:lnSpc>
                <a:spcPct val="102000"/>
              </a:lnSpc>
              <a:spcBef>
                <a:spcPts val="0"/>
              </a:spcBef>
              <a:spcAft>
                <a:spcPts val="0"/>
              </a:spcAft>
            </a:pPr>
            <a:r>
              <a:rPr sz="800" b="0">
                <a:solidFill>
                  <a:srgbClr val="6B7885"/>
                </a:solidFill>
                <a:latin typeface="Arial"/>
              </a:rPr>
              <a:t>browse → inventory</a:t>
            </a:r>
          </a:p>
        </p:txBody>
      </p:sp>
      <p:cxnSp>
        <p:nvCxnSpPr>
          <p:cNvPr id="30" name="Connector 29"/>
          <p:cNvCxnSpPr/>
          <p:nvPr/>
        </p:nvCxnSpPr>
        <p:spPr>
          <a:xfrm>
            <a:off x="2121408" y="3291839"/>
            <a:ext cx="822960" cy="137161"/>
          </a:xfrm>
          <a:prstGeom prst="line">
            <a:avLst/>
          </a:prstGeom>
          <a:ln w="17780">
            <a:solidFill>
              <a:srgbClr val="1B273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121408" y="2697480"/>
            <a:ext cx="1188720" cy="777240"/>
          </a:xfrm>
          <a:prstGeom prst="line">
            <a:avLst/>
          </a:prstGeom>
          <a:ln w="15240">
            <a:solidFill>
              <a:srgbClr val="1B273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053328" y="3136392"/>
            <a:ext cx="2377440" cy="274320"/>
          </a:xfrm>
          <a:prstGeom prst="roundRect">
            <a:avLst>
              <a:gd name="adj" fmla="val 50000"/>
            </a:avLst>
          </a:prstGeom>
          <a:solidFill>
            <a:srgbClr val="FB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53328" y="3136392"/>
            <a:ext cx="237744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900" b="1">
                <a:solidFill>
                  <a:srgbClr val="CE4A45"/>
                </a:solidFill>
                <a:latin typeface="Arial"/>
              </a:rPr>
              <a:t>◀ headline chaos target</a:t>
            </a:r>
          </a:p>
        </p:txBody>
      </p:sp>
      <p:sp>
        <p:nvSpPr>
          <p:cNvPr id="34" name="Rounded Rectangle 33"/>
          <p:cNvSpPr/>
          <p:nvPr/>
        </p:nvSpPr>
        <p:spPr>
          <a:xfrm>
            <a:off x="9116568" y="1874519"/>
            <a:ext cx="2508199" cy="393192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81160" y="2075688"/>
            <a:ext cx="82296" cy="237744"/>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82328" y="2039112"/>
            <a:ext cx="1977847"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Why a mesh?</a:t>
            </a:r>
          </a:p>
        </p:txBody>
      </p:sp>
      <p:sp>
        <p:nvSpPr>
          <p:cNvPr id="37" name="TextBox 36"/>
          <p:cNvSpPr txBox="1"/>
          <p:nvPr/>
        </p:nvSpPr>
        <p:spPr>
          <a:xfrm>
            <a:off x="9299448" y="2514600"/>
            <a:ext cx="2124151" cy="3108960"/>
          </a:xfrm>
          <a:prstGeom prst="rect">
            <a:avLst/>
          </a:prstGeom>
          <a:noFill/>
        </p:spPr>
        <p:txBody>
          <a:bodyPr wrap="square" anchor="t" lIns="0" rIns="0" tIns="0" bIns="0">
            <a:noAutofit/>
          </a:bodyPr>
          <a:lstStyle/>
          <a:p>
            <a:pPr algn="l" marL="256032" indent="-256032">
              <a:lnSpc>
                <a:spcPct val="106000"/>
              </a:lnSpc>
              <a:spcBef>
                <a:spcPts val="0"/>
              </a:spcBef>
              <a:spcAft>
                <a:spcPts val="900"/>
              </a:spcAft>
              <a:buClr>
                <a:srgbClr val="FF7300"/>
              </a:buClr>
              <a:buFont typeface="Arial"/>
              <a:buChar char="▪"/>
            </a:pPr>
            <a:r>
              <a:rPr sz="1050" b="0">
                <a:solidFill>
                  <a:srgbClr val="1B2733"/>
                </a:solidFill>
                <a:latin typeface="Arial"/>
              </a:rPr>
              <a:t>Blast radius only exists across services.</a:t>
            </a:r>
          </a:p>
          <a:p>
            <a:pPr algn="l" marL="256032" indent="-256032">
              <a:lnSpc>
                <a:spcPct val="106000"/>
              </a:lnSpc>
              <a:spcBef>
                <a:spcPts val="0"/>
              </a:spcBef>
              <a:spcAft>
                <a:spcPts val="900"/>
              </a:spcAft>
              <a:buClr>
                <a:srgbClr val="FF7300"/>
              </a:buClr>
              <a:buFont typeface="Arial"/>
              <a:buChar char="▪"/>
            </a:pPr>
            <a:r>
              <a:rPr sz="1050" b="0">
                <a:solidFill>
                  <a:srgbClr val="1B2733"/>
                </a:solidFill>
                <a:latin typeface="Arial"/>
              </a:rPr>
              <a:t>order fans out sync to 4 services + one async NATS hop to notification.</a:t>
            </a:r>
          </a:p>
          <a:p>
            <a:pPr algn="l" marL="256032" indent="-256032">
              <a:lnSpc>
                <a:spcPct val="106000"/>
              </a:lnSpc>
              <a:spcBef>
                <a:spcPts val="0"/>
              </a:spcBef>
              <a:spcAft>
                <a:spcPts val="900"/>
              </a:spcAft>
              <a:buClr>
                <a:srgbClr val="FF7300"/>
              </a:buClr>
              <a:buFont typeface="Arial"/>
              <a:buChar char="▪"/>
            </a:pPr>
            <a:r>
              <a:rPr sz="1050" b="0">
                <a:solidFill>
                  <a:srgbClr val="1B2733"/>
                </a:solidFill>
                <a:latin typeface="Arial"/>
              </a:rPr>
              <a:t>Each service has a token-gated /chaos endpoint to inject faults.</a:t>
            </a:r>
          </a:p>
          <a:p>
            <a:pPr algn="l" marL="256032" indent="-256032">
              <a:lnSpc>
                <a:spcPct val="106000"/>
              </a:lnSpc>
              <a:spcBef>
                <a:spcPts val="0"/>
              </a:spcBef>
              <a:spcAft>
                <a:spcPts val="900"/>
              </a:spcAft>
              <a:buClr>
                <a:srgbClr val="FF7300"/>
              </a:buClr>
              <a:buFont typeface="Arial"/>
              <a:buChar char="▪"/>
            </a:pPr>
            <a:r>
              <a:rPr sz="1050" b="0">
                <a:solidFill>
                  <a:srgbClr val="1B2733"/>
                </a:solidFill>
                <a:latin typeface="Arial"/>
              </a:rPr>
              <a:t>payment-service is the demo's failure point.</a:t>
            </a:r>
          </a:p>
        </p:txBody>
      </p:sp>
      <p:sp>
        <p:nvSpPr>
          <p:cNvPr id="38" name="TextBox 37"/>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39" name="TextBox 38"/>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12  /  48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LEVEL 0 · SHARED</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Telemetry fan-out: one collector, routed by signal</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2743200"/>
            <a:ext cx="2286000" cy="1371600"/>
          </a:xfrm>
          <a:prstGeom prst="roundRect">
            <a:avLst>
              <a:gd name="adj" fmla="val 10000"/>
            </a:avLst>
          </a:prstGeom>
          <a:solidFill>
            <a:srgbClr val="FFFFFF"/>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79776"/>
            <a:ext cx="2139696" cy="1298448"/>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1B2733"/>
                </a:solidFill>
                <a:latin typeface="Arial"/>
              </a:rPr>
              <a:t>Services + agent</a:t>
            </a:r>
          </a:p>
          <a:p>
            <a:pPr algn="ctr">
              <a:lnSpc>
                <a:spcPct val="102000"/>
              </a:lnSpc>
              <a:spcBef>
                <a:spcPts val="0"/>
              </a:spcBef>
              <a:spcAft>
                <a:spcPts val="0"/>
              </a:spcAft>
            </a:pPr>
            <a:r>
              <a:rPr sz="900" b="0">
                <a:solidFill>
                  <a:srgbClr val="6B7885"/>
                </a:solidFill>
                <a:latin typeface="Arial"/>
              </a:rPr>
              <a:t>emit OTLP</a:t>
            </a:r>
          </a:p>
        </p:txBody>
      </p:sp>
      <p:sp>
        <p:nvSpPr>
          <p:cNvPr id="9" name="Rounded Rectangle 8"/>
          <p:cNvSpPr/>
          <p:nvPr/>
        </p:nvSpPr>
        <p:spPr>
          <a:xfrm>
            <a:off x="3858768" y="2743200"/>
            <a:ext cx="2468880" cy="1371600"/>
          </a:xfrm>
          <a:prstGeom prst="roundRect">
            <a:avLst>
              <a:gd name="adj" fmla="val 10000"/>
            </a:avLst>
          </a:prstGeom>
          <a:solidFill>
            <a:srgbClr val="FFEBDA"/>
          </a:solidFill>
          <a:ln w="1778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2779776"/>
            <a:ext cx="2322576" cy="1298448"/>
          </a:xfrm>
          <a:prstGeom prst="rect">
            <a:avLst/>
          </a:prstGeom>
          <a:noFill/>
        </p:spPr>
        <p:txBody>
          <a:bodyPr wrap="square" anchor="ctr" lIns="0" rIns="0" tIns="0" bIns="0">
            <a:noAutofit/>
          </a:bodyPr>
          <a:lstStyle/>
          <a:p>
            <a:pPr algn="ctr">
              <a:lnSpc>
                <a:spcPct val="100000"/>
              </a:lnSpc>
              <a:spcBef>
                <a:spcPts val="0"/>
              </a:spcBef>
              <a:spcAft>
                <a:spcPts val="200"/>
              </a:spcAft>
            </a:pPr>
            <a:r>
              <a:rPr sz="1350" b="1">
                <a:solidFill>
                  <a:srgbClr val="1B2733"/>
                </a:solidFill>
                <a:latin typeface="Arial"/>
              </a:rPr>
              <a:t>OTel Collector</a:t>
            </a:r>
          </a:p>
          <a:p>
            <a:pPr algn="ctr">
              <a:lnSpc>
                <a:spcPct val="102000"/>
              </a:lnSpc>
              <a:spcBef>
                <a:spcPts val="0"/>
              </a:spcBef>
              <a:spcAft>
                <a:spcPts val="0"/>
              </a:spcAft>
            </a:pPr>
            <a:r>
              <a:rPr sz="900" b="0">
                <a:solidFill>
                  <a:srgbClr val="6B7885"/>
                </a:solidFill>
                <a:latin typeface="Arial"/>
              </a:rPr>
              <a:t>:4317 gRPC / :4318 HTTP</a:t>
            </a:r>
          </a:p>
        </p:txBody>
      </p:sp>
      <p:cxnSp>
        <p:nvCxnSpPr>
          <p:cNvPr id="11" name="Connector 10"/>
          <p:cNvCxnSpPr/>
          <p:nvPr/>
        </p:nvCxnSpPr>
        <p:spPr>
          <a:xfrm>
            <a:off x="2852928" y="3429000"/>
            <a:ext cx="1005840" cy="0"/>
          </a:xfrm>
          <a:prstGeom prst="line">
            <a:avLst/>
          </a:prstGeom>
          <a:ln w="25400">
            <a:solidFill>
              <a:srgbClr val="1B273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21508" y="3310128"/>
            <a:ext cx="868680" cy="237744"/>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1508" y="3310128"/>
            <a:ext cx="868680" cy="237744"/>
          </a:xfrm>
          <a:prstGeom prst="rect">
            <a:avLst/>
          </a:prstGeom>
          <a:noFill/>
        </p:spPr>
        <p:txBody>
          <a:bodyPr wrap="square" anchor="ctr" lIns="0" rIns="0" tIns="0" bIns="0">
            <a:noAutofit/>
          </a:bodyPr>
          <a:lstStyle/>
          <a:p>
            <a:pPr algn="ctr">
              <a:lnSpc>
                <a:spcPct val="100000"/>
              </a:lnSpc>
              <a:spcBef>
                <a:spcPts val="0"/>
              </a:spcBef>
              <a:spcAft>
                <a:spcPts val="600"/>
              </a:spcAft>
            </a:pPr>
            <a:r>
              <a:rPr sz="900" b="1">
                <a:solidFill>
                  <a:srgbClr val="3E4C59"/>
                </a:solidFill>
                <a:latin typeface="Arial"/>
              </a:rPr>
              <a:t>OTLP</a:t>
            </a:r>
          </a:p>
        </p:txBody>
      </p:sp>
      <p:sp>
        <p:nvSpPr>
          <p:cNvPr id="14" name="Rounded Rectangle 13"/>
          <p:cNvSpPr/>
          <p:nvPr/>
        </p:nvSpPr>
        <p:spPr>
          <a:xfrm>
            <a:off x="7242048" y="1755648"/>
            <a:ext cx="4382719" cy="822960"/>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1792224"/>
            <a:ext cx="4236415" cy="749808"/>
          </a:xfrm>
          <a:prstGeom prst="rect">
            <a:avLst/>
          </a:prstGeom>
          <a:noFill/>
        </p:spPr>
        <p:txBody>
          <a:bodyPr wrap="square" anchor="ctr" lIns="0" rIns="0" tIns="0" bIns="0">
            <a:noAutofit/>
          </a:bodyPr>
          <a:lstStyle/>
          <a:p>
            <a:pPr algn="ctr">
              <a:lnSpc>
                <a:spcPct val="100000"/>
              </a:lnSpc>
              <a:spcBef>
                <a:spcPts val="0"/>
              </a:spcBef>
              <a:spcAft>
                <a:spcPts val="200"/>
              </a:spcAft>
            </a:pPr>
            <a:r>
              <a:rPr sz="750" b="1">
                <a:solidFill>
                  <a:srgbClr val="7A3FE4"/>
                </a:solidFill>
                <a:latin typeface="Arial"/>
              </a:rPr>
              <a:t>METRICS + TRACES</a:t>
            </a:r>
          </a:p>
          <a:p>
            <a:pPr algn="ctr">
              <a:lnSpc>
                <a:spcPct val="100000"/>
              </a:lnSpc>
              <a:spcBef>
                <a:spcPts val="0"/>
              </a:spcBef>
              <a:spcAft>
                <a:spcPts val="200"/>
              </a:spcAft>
            </a:pPr>
            <a:r>
              <a:rPr sz="1300" b="1">
                <a:solidFill>
                  <a:srgbClr val="1B2733"/>
                </a:solidFill>
                <a:latin typeface="Arial"/>
              </a:rPr>
              <a:t>Datadog</a:t>
            </a:r>
          </a:p>
          <a:p>
            <a:pPr algn="ctr">
              <a:lnSpc>
                <a:spcPct val="102000"/>
              </a:lnSpc>
              <a:spcBef>
                <a:spcPts val="0"/>
              </a:spcBef>
              <a:spcAft>
                <a:spcPts val="0"/>
              </a:spcAft>
            </a:pPr>
            <a:r>
              <a:rPr sz="850" b="0">
                <a:solidFill>
                  <a:srgbClr val="6B7885"/>
                </a:solidFill>
                <a:latin typeface="Arial"/>
              </a:rPr>
              <a:t>monitors fire the alert</a:t>
            </a:r>
          </a:p>
        </p:txBody>
      </p:sp>
      <p:cxnSp>
        <p:nvCxnSpPr>
          <p:cNvPr id="16" name="Connector 15"/>
          <p:cNvCxnSpPr/>
          <p:nvPr/>
        </p:nvCxnSpPr>
        <p:spPr>
          <a:xfrm flipV="1">
            <a:off x="6327648" y="2167128"/>
            <a:ext cx="914400" cy="1261872"/>
          </a:xfrm>
          <a:prstGeom prst="line">
            <a:avLst/>
          </a:prstGeom>
          <a:ln w="22860">
            <a:solidFill>
              <a:srgbClr val="7A3FE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242048" y="2816352"/>
            <a:ext cx="4382719" cy="822960"/>
          </a:xfrm>
          <a:prstGeom prst="roundRect">
            <a:avLst>
              <a:gd name="adj" fmla="val 10000"/>
            </a:avLst>
          </a:prstGeom>
          <a:solidFill>
            <a:srgbClr val="EAF4E1"/>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2852928"/>
            <a:ext cx="4236415" cy="749808"/>
          </a:xfrm>
          <a:prstGeom prst="rect">
            <a:avLst/>
          </a:prstGeom>
          <a:noFill/>
        </p:spPr>
        <p:txBody>
          <a:bodyPr wrap="square" anchor="ctr" lIns="0" rIns="0" tIns="0" bIns="0">
            <a:noAutofit/>
          </a:bodyPr>
          <a:lstStyle/>
          <a:p>
            <a:pPr algn="ctr">
              <a:lnSpc>
                <a:spcPct val="100000"/>
              </a:lnSpc>
              <a:spcBef>
                <a:spcPts val="0"/>
              </a:spcBef>
              <a:spcAft>
                <a:spcPts val="200"/>
              </a:spcAft>
            </a:pPr>
            <a:r>
              <a:rPr sz="750" b="1">
                <a:solidFill>
                  <a:srgbClr val="5AA82B"/>
                </a:solidFill>
                <a:latin typeface="Arial"/>
              </a:rPr>
              <a:t>LOGS (HEC) + TRACES</a:t>
            </a:r>
          </a:p>
          <a:p>
            <a:pPr algn="ctr">
              <a:lnSpc>
                <a:spcPct val="100000"/>
              </a:lnSpc>
              <a:spcBef>
                <a:spcPts val="0"/>
              </a:spcBef>
              <a:spcAft>
                <a:spcPts val="200"/>
              </a:spcAft>
            </a:pPr>
            <a:r>
              <a:rPr sz="1300" b="1">
                <a:solidFill>
                  <a:srgbClr val="1B2733"/>
                </a:solidFill>
                <a:latin typeface="Arial"/>
              </a:rPr>
              <a:t>Splunk</a:t>
            </a:r>
          </a:p>
          <a:p>
            <a:pPr algn="ctr">
              <a:lnSpc>
                <a:spcPct val="102000"/>
              </a:lnSpc>
              <a:spcBef>
                <a:spcPts val="0"/>
              </a:spcBef>
              <a:spcAft>
                <a:spcPts val="0"/>
              </a:spcAft>
            </a:pPr>
            <a:r>
              <a:rPr sz="850" b="0">
                <a:solidFill>
                  <a:srgbClr val="6B7885"/>
                </a:solidFill>
                <a:latin typeface="Arial"/>
              </a:rPr>
              <a:t>log-of-record</a:t>
            </a:r>
          </a:p>
        </p:txBody>
      </p:sp>
      <p:cxnSp>
        <p:nvCxnSpPr>
          <p:cNvPr id="19" name="Connector 18"/>
          <p:cNvCxnSpPr/>
          <p:nvPr/>
        </p:nvCxnSpPr>
        <p:spPr>
          <a:xfrm flipV="1">
            <a:off x="6327648" y="3227832"/>
            <a:ext cx="914400" cy="201168"/>
          </a:xfrm>
          <a:prstGeom prst="line">
            <a:avLst/>
          </a:prstGeom>
          <a:ln w="22860">
            <a:solidFill>
              <a:srgbClr val="5AA8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42048" y="3877056"/>
            <a:ext cx="4382719" cy="822960"/>
          </a:xfrm>
          <a:prstGeom prst="roundRect">
            <a:avLst>
              <a:gd name="adj" fmla="val 10000"/>
            </a:avLst>
          </a:prstGeom>
          <a:solidFill>
            <a:srgbClr val="F4F6F8"/>
          </a:solidFill>
          <a:ln w="17780">
            <a:solidFill>
              <a:srgbClr val="6B78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3913632"/>
            <a:ext cx="4236415" cy="749808"/>
          </a:xfrm>
          <a:prstGeom prst="rect">
            <a:avLst/>
          </a:prstGeom>
          <a:noFill/>
        </p:spPr>
        <p:txBody>
          <a:bodyPr wrap="square" anchor="ctr" lIns="0" rIns="0" tIns="0" bIns="0">
            <a:noAutofit/>
          </a:bodyPr>
          <a:lstStyle/>
          <a:p>
            <a:pPr algn="ctr">
              <a:lnSpc>
                <a:spcPct val="100000"/>
              </a:lnSpc>
              <a:spcBef>
                <a:spcPts val="0"/>
              </a:spcBef>
              <a:spcAft>
                <a:spcPts val="200"/>
              </a:spcAft>
            </a:pPr>
            <a:r>
              <a:rPr sz="750" b="1">
                <a:solidFill>
                  <a:srgbClr val="6B7885"/>
                </a:solidFill>
                <a:latin typeface="Arial"/>
              </a:rPr>
              <a:t>TRACES (DEV ONLY)</a:t>
            </a:r>
          </a:p>
          <a:p>
            <a:pPr algn="ctr">
              <a:lnSpc>
                <a:spcPct val="100000"/>
              </a:lnSpc>
              <a:spcBef>
                <a:spcPts val="0"/>
              </a:spcBef>
              <a:spcAft>
                <a:spcPts val="200"/>
              </a:spcAft>
            </a:pPr>
            <a:r>
              <a:rPr sz="1300" b="1">
                <a:solidFill>
                  <a:srgbClr val="1B2733"/>
                </a:solidFill>
                <a:latin typeface="Arial"/>
              </a:rPr>
              <a:t>Jaeger</a:t>
            </a:r>
          </a:p>
          <a:p>
            <a:pPr algn="ctr">
              <a:lnSpc>
                <a:spcPct val="102000"/>
              </a:lnSpc>
              <a:spcBef>
                <a:spcPts val="0"/>
              </a:spcBef>
              <a:spcAft>
                <a:spcPts val="0"/>
              </a:spcAft>
            </a:pPr>
            <a:r>
              <a:rPr sz="850" b="0">
                <a:solidFill>
                  <a:srgbClr val="6B7885"/>
                </a:solidFill>
                <a:latin typeface="Arial"/>
              </a:rPr>
              <a:t>local inspection</a:t>
            </a:r>
          </a:p>
        </p:txBody>
      </p:sp>
      <p:cxnSp>
        <p:nvCxnSpPr>
          <p:cNvPr id="22" name="Connector 21"/>
          <p:cNvCxnSpPr/>
          <p:nvPr/>
        </p:nvCxnSpPr>
        <p:spPr>
          <a:xfrm>
            <a:off x="6327648" y="3429000"/>
            <a:ext cx="914400" cy="859536"/>
          </a:xfrm>
          <a:prstGeom prst="line">
            <a:avLst/>
          </a:prstGeom>
          <a:ln w="22860">
            <a:solidFill>
              <a:srgbClr val="6B788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66928" y="4937760"/>
            <a:ext cx="11057839" cy="960120"/>
          </a:xfrm>
          <a:prstGeom prst="roundRect">
            <a:avLst>
              <a:gd name="adj" fmla="val 45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937760"/>
            <a:ext cx="91440" cy="96012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5065776"/>
            <a:ext cx="10673791" cy="704088"/>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FF7300"/>
                </a:solidFill>
                <a:latin typeface="Arial"/>
              </a:rPr>
              <a:t>◆  The routing rule</a:t>
            </a:r>
          </a:p>
          <a:p>
            <a:pPr algn="l">
              <a:lnSpc>
                <a:spcPct val="112000"/>
              </a:lnSpc>
              <a:spcBef>
                <a:spcPts val="0"/>
              </a:spcBef>
              <a:spcAft>
                <a:spcPts val="0"/>
              </a:spcAft>
            </a:pPr>
            <a:r>
              <a:rPr sz="1050" b="0">
                <a:solidFill>
                  <a:srgbClr val="3E4C59"/>
                </a:solidFill>
                <a:latin typeface="Arial"/>
              </a:rPr>
              <a:t>Traces → both platforms (so the agent can pivot by trace_id).   Logs → Splunk only.   Metrics → Datadog only.   DD_LOGS_ENABLED=false avoids double-billing.</a:t>
            </a:r>
          </a:p>
        </p:txBody>
      </p:sp>
      <p:sp>
        <p:nvSpPr>
          <p:cNvPr id="26" name="TextBox 25"/>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7" name="TextBox 26"/>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13  /  48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LEVEL 0 · SHARED</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MCP: the contract boundary</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5852160" cy="3474720"/>
          </a:xfrm>
          <a:prstGeom prst="rect">
            <a:avLst/>
          </a:prstGeom>
          <a:noFill/>
        </p:spPr>
        <p:txBody>
          <a:bodyPr wrap="square" anchor="t" lIns="0" rIns="0" tIns="0" bIns="0">
            <a:noAutofit/>
          </a:bodyPr>
          <a:lstStyle/>
          <a:p>
            <a:pPr algn="l" marL="256032" indent="-256032">
              <a:lnSpc>
                <a:spcPct val="106000"/>
              </a:lnSpc>
              <a:spcBef>
                <a:spcPts val="0"/>
              </a:spcBef>
              <a:spcAft>
                <a:spcPts val="1000"/>
              </a:spcAft>
              <a:buClr>
                <a:srgbClr val="FF7300"/>
              </a:buClr>
              <a:buFont typeface="Arial"/>
              <a:buChar char="▪"/>
            </a:pPr>
            <a:r>
              <a:rPr sz="1250" b="1">
                <a:solidFill>
                  <a:srgbClr val="1B2733"/>
                </a:solidFill>
                <a:latin typeface="Arial"/>
              </a:rPr>
              <a:t>Everything is a tool.  </a:t>
            </a:r>
            <a:r>
              <a:rPr sz="1250" b="0">
                <a:solidFill>
                  <a:srgbClr val="1B2733"/>
                </a:solidFill>
                <a:latin typeface="Arial"/>
              </a:rPr>
              <a:t>Splunk search, Datadog metrics, service topology, correlation, runbooks — the agent sees one uniform tool surface over MCP (Model Context Protocol).</a:t>
            </a:r>
          </a:p>
          <a:p>
            <a:pPr algn="l" marL="256032" indent="-256032">
              <a:lnSpc>
                <a:spcPct val="106000"/>
              </a:lnSpc>
              <a:spcBef>
                <a:spcPts val="0"/>
              </a:spcBef>
              <a:spcAft>
                <a:spcPts val="1000"/>
              </a:spcAft>
              <a:buClr>
                <a:srgbClr val="FF7300"/>
              </a:buClr>
              <a:buFont typeface="Arial"/>
              <a:buChar char="▪"/>
            </a:pPr>
            <a:r>
              <a:rPr sz="1250" b="1">
                <a:solidFill>
                  <a:srgbClr val="1B2733"/>
                </a:solidFill>
                <a:latin typeface="Arial"/>
              </a:rPr>
              <a:t>Mock ⇄ live is config, not code.  </a:t>
            </a:r>
            <a:r>
              <a:rPr sz="1250" b="0">
                <a:solidFill>
                  <a:srgbClr val="1B2733"/>
                </a:solidFill>
                <a:latin typeface="Arial"/>
              </a:rPr>
              <a:t>Swapping a mock backend for a real vendor MCP is a URL/token change. The agent's code never changes.</a:t>
            </a:r>
          </a:p>
          <a:p>
            <a:pPr algn="l" marL="256032" indent="-256032">
              <a:lnSpc>
                <a:spcPct val="106000"/>
              </a:lnSpc>
              <a:spcBef>
                <a:spcPts val="0"/>
              </a:spcBef>
              <a:spcAft>
                <a:spcPts val="1000"/>
              </a:spcAft>
              <a:buClr>
                <a:srgbClr val="FF7300"/>
              </a:buClr>
              <a:buFont typeface="Arial"/>
              <a:buChar char="▪"/>
            </a:pPr>
            <a:r>
              <a:rPr sz="1250" b="1">
                <a:solidFill>
                  <a:srgbClr val="1B2733"/>
                </a:solidFill>
                <a:latin typeface="Arial"/>
              </a:rPr>
              <a:t>MCP fills what vendors can't.  </a:t>
            </a:r>
            <a:r>
              <a:rPr sz="1250" b="0">
                <a:solidFill>
                  <a:srgbClr val="1B2733"/>
                </a:solidFill>
                <a:latin typeface="Arial"/>
              </a:rPr>
              <a:t>Splunk MCP knows logs. Datadog MCP knows metrics. Neither knows YOUR catalog, dependency graph, owners, or runbooks — we add those as local tools.</a:t>
            </a:r>
          </a:p>
          <a:p>
            <a:pPr algn="l" marL="256032" indent="-256032">
              <a:lnSpc>
                <a:spcPct val="106000"/>
              </a:lnSpc>
              <a:spcBef>
                <a:spcPts val="0"/>
              </a:spcBef>
              <a:spcAft>
                <a:spcPts val="1000"/>
              </a:spcAft>
              <a:buClr>
                <a:srgbClr val="FF7300"/>
              </a:buClr>
              <a:buFont typeface="Arial"/>
              <a:buChar char="▪"/>
            </a:pPr>
            <a:r>
              <a:rPr sz="1250" b="1">
                <a:solidFill>
                  <a:srgbClr val="1B2733"/>
                </a:solidFill>
                <a:latin typeface="Arial"/>
              </a:rPr>
              <a:t>One place for policy.  </a:t>
            </a:r>
            <a:r>
              <a:rPr sz="1250" b="0">
                <a:solidFill>
                  <a:srgbClr val="1B2733"/>
                </a:solidFill>
                <a:latin typeface="Arial"/>
              </a:rPr>
              <a:t>Routing, auth, and result hygiene get a single home at the boundary.</a:t>
            </a:r>
          </a:p>
        </p:txBody>
      </p:sp>
      <p:sp>
        <p:nvSpPr>
          <p:cNvPr id="8" name="Rounded Rectangle 7"/>
          <p:cNvSpPr/>
          <p:nvPr/>
        </p:nvSpPr>
        <p:spPr>
          <a:xfrm>
            <a:off x="6830568" y="1828800"/>
            <a:ext cx="4794199" cy="685800"/>
          </a:xfrm>
          <a:prstGeom prst="roundRect">
            <a:avLst>
              <a:gd name="adj" fmla="val 10000"/>
            </a:avLst>
          </a:prstGeom>
          <a:solidFill>
            <a:srgbClr val="1B2733"/>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03720" y="1865376"/>
            <a:ext cx="4647895" cy="612648"/>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FFFFFF"/>
                </a:solidFill>
                <a:latin typeface="Arial"/>
              </a:rPr>
              <a:t>AI Agent</a:t>
            </a:r>
          </a:p>
          <a:p>
            <a:pPr algn="ctr">
              <a:lnSpc>
                <a:spcPct val="102000"/>
              </a:lnSpc>
              <a:spcBef>
                <a:spcPts val="0"/>
              </a:spcBef>
              <a:spcAft>
                <a:spcPts val="0"/>
              </a:spcAft>
            </a:pPr>
            <a:r>
              <a:rPr sz="900" b="0">
                <a:solidFill>
                  <a:srgbClr val="AEBECD"/>
                </a:solidFill>
                <a:latin typeface="Arial"/>
              </a:rPr>
              <a:t>reasons, calls tools</a:t>
            </a:r>
          </a:p>
        </p:txBody>
      </p:sp>
      <p:cxnSp>
        <p:nvCxnSpPr>
          <p:cNvPr id="10" name="Connector 9"/>
          <p:cNvCxnSpPr/>
          <p:nvPr/>
        </p:nvCxnSpPr>
        <p:spPr>
          <a:xfrm>
            <a:off x="9227667" y="2514600"/>
            <a:ext cx="0" cy="365760"/>
          </a:xfrm>
          <a:prstGeom prst="line">
            <a:avLst/>
          </a:prstGeom>
          <a:ln w="25400">
            <a:solidFill>
              <a:srgbClr val="FF73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922008" y="2578608"/>
            <a:ext cx="4611319" cy="237744"/>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22008" y="2578608"/>
            <a:ext cx="4611319" cy="237744"/>
          </a:xfrm>
          <a:prstGeom prst="rect">
            <a:avLst/>
          </a:prstGeom>
          <a:noFill/>
        </p:spPr>
        <p:txBody>
          <a:bodyPr wrap="square" anchor="ctr" lIns="0" rIns="0" tIns="0" bIns="0">
            <a:noAutofit/>
          </a:bodyPr>
          <a:lstStyle/>
          <a:p>
            <a:pPr algn="ctr">
              <a:lnSpc>
                <a:spcPct val="100000"/>
              </a:lnSpc>
              <a:spcBef>
                <a:spcPts val="0"/>
              </a:spcBef>
              <a:spcAft>
                <a:spcPts val="600"/>
              </a:spcAft>
            </a:pPr>
            <a:r>
              <a:rPr sz="850" b="1">
                <a:solidFill>
                  <a:srgbClr val="C85A00"/>
                </a:solidFill>
                <a:latin typeface="Arial"/>
              </a:rPr>
              <a:t>MCP  (JSON-RPC / streamable HTTP)</a:t>
            </a:r>
          </a:p>
        </p:txBody>
      </p:sp>
      <p:sp>
        <p:nvSpPr>
          <p:cNvPr id="13" name="Rounded Rectangle 12"/>
          <p:cNvSpPr/>
          <p:nvPr/>
        </p:nvSpPr>
        <p:spPr>
          <a:xfrm>
            <a:off x="6830568" y="2971800"/>
            <a:ext cx="4794199" cy="603504"/>
          </a:xfrm>
          <a:prstGeom prst="roundRect">
            <a:avLst>
              <a:gd name="adj" fmla="val 10000"/>
            </a:avLst>
          </a:prstGeom>
          <a:solidFill>
            <a:srgbClr val="EAF4E1"/>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3720" y="3008376"/>
            <a:ext cx="4647895" cy="530352"/>
          </a:xfrm>
          <a:prstGeom prst="rect">
            <a:avLst/>
          </a:prstGeom>
          <a:noFill/>
        </p:spPr>
        <p:txBody>
          <a:bodyPr wrap="square" anchor="ctr" lIns="0" rIns="0" tIns="0" bIns="0">
            <a:noAutofit/>
          </a:bodyPr>
          <a:lstStyle/>
          <a:p>
            <a:pPr algn="ctr">
              <a:lnSpc>
                <a:spcPct val="100000"/>
              </a:lnSpc>
              <a:spcBef>
                <a:spcPts val="0"/>
              </a:spcBef>
              <a:spcAft>
                <a:spcPts val="0"/>
              </a:spcAft>
            </a:pPr>
            <a:r>
              <a:rPr sz="1200" b="1">
                <a:solidFill>
                  <a:srgbClr val="1B2733"/>
                </a:solidFill>
                <a:latin typeface="Arial"/>
              </a:rPr>
              <a:t>Splunk tools</a:t>
            </a:r>
          </a:p>
        </p:txBody>
      </p:sp>
      <p:sp>
        <p:nvSpPr>
          <p:cNvPr id="15" name="Rounded Rectangle 14"/>
          <p:cNvSpPr/>
          <p:nvPr/>
        </p:nvSpPr>
        <p:spPr>
          <a:xfrm>
            <a:off x="6830568" y="3685032"/>
            <a:ext cx="4794199" cy="603504"/>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03720" y="3721608"/>
            <a:ext cx="4647895" cy="530352"/>
          </a:xfrm>
          <a:prstGeom prst="rect">
            <a:avLst/>
          </a:prstGeom>
          <a:noFill/>
        </p:spPr>
        <p:txBody>
          <a:bodyPr wrap="square" anchor="ctr" lIns="0" rIns="0" tIns="0" bIns="0">
            <a:noAutofit/>
          </a:bodyPr>
          <a:lstStyle/>
          <a:p>
            <a:pPr algn="ctr">
              <a:lnSpc>
                <a:spcPct val="100000"/>
              </a:lnSpc>
              <a:spcBef>
                <a:spcPts val="0"/>
              </a:spcBef>
              <a:spcAft>
                <a:spcPts val="0"/>
              </a:spcAft>
            </a:pPr>
            <a:r>
              <a:rPr sz="1200" b="1">
                <a:solidFill>
                  <a:srgbClr val="1B2733"/>
                </a:solidFill>
                <a:latin typeface="Arial"/>
              </a:rPr>
              <a:t>Datadog tools</a:t>
            </a:r>
          </a:p>
        </p:txBody>
      </p:sp>
      <p:sp>
        <p:nvSpPr>
          <p:cNvPr id="17" name="Rounded Rectangle 16"/>
          <p:cNvSpPr/>
          <p:nvPr/>
        </p:nvSpPr>
        <p:spPr>
          <a:xfrm>
            <a:off x="6830568" y="4398264"/>
            <a:ext cx="4794199" cy="603504"/>
          </a:xfrm>
          <a:prstGeom prst="roundRect">
            <a:avLst>
              <a:gd name="adj" fmla="val 10000"/>
            </a:avLst>
          </a:prstGeom>
          <a:solidFill>
            <a:srgbClr val="E0F1F5"/>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4434840"/>
            <a:ext cx="4647895" cy="530352"/>
          </a:xfrm>
          <a:prstGeom prst="rect">
            <a:avLst/>
          </a:prstGeom>
          <a:noFill/>
        </p:spPr>
        <p:txBody>
          <a:bodyPr wrap="square" anchor="ctr" lIns="0" rIns="0" tIns="0" bIns="0">
            <a:noAutofit/>
          </a:bodyPr>
          <a:lstStyle/>
          <a:p>
            <a:pPr algn="ctr">
              <a:lnSpc>
                <a:spcPct val="100000"/>
              </a:lnSpc>
              <a:spcBef>
                <a:spcPts val="0"/>
              </a:spcBef>
              <a:spcAft>
                <a:spcPts val="0"/>
              </a:spcAft>
            </a:pPr>
            <a:r>
              <a:rPr sz="1200" b="1">
                <a:solidFill>
                  <a:srgbClr val="1B2733"/>
                </a:solidFill>
                <a:latin typeface="Arial"/>
              </a:rPr>
              <a:t>Topology &amp; correlation</a:t>
            </a:r>
          </a:p>
        </p:txBody>
      </p:sp>
      <p:sp>
        <p:nvSpPr>
          <p:cNvPr id="19" name="Rounded Rectangle 18"/>
          <p:cNvSpPr/>
          <p:nvPr/>
        </p:nvSpPr>
        <p:spPr>
          <a:xfrm>
            <a:off x="6830568" y="5111496"/>
            <a:ext cx="4794199" cy="603504"/>
          </a:xfrm>
          <a:prstGeom prst="roundRect">
            <a:avLst>
              <a:gd name="adj" fmla="val 10000"/>
            </a:avLst>
          </a:prstGeom>
          <a:solidFill>
            <a:srgbClr val="FFEBDA"/>
          </a:solidFill>
          <a:ln w="1778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03720" y="5148072"/>
            <a:ext cx="4647895" cy="530352"/>
          </a:xfrm>
          <a:prstGeom prst="rect">
            <a:avLst/>
          </a:prstGeom>
          <a:noFill/>
        </p:spPr>
        <p:txBody>
          <a:bodyPr wrap="square" anchor="ctr" lIns="0" rIns="0" tIns="0" bIns="0">
            <a:noAutofit/>
          </a:bodyPr>
          <a:lstStyle/>
          <a:p>
            <a:pPr algn="ctr">
              <a:lnSpc>
                <a:spcPct val="100000"/>
              </a:lnSpc>
              <a:spcBef>
                <a:spcPts val="0"/>
              </a:spcBef>
              <a:spcAft>
                <a:spcPts val="0"/>
              </a:spcAft>
            </a:pPr>
            <a:r>
              <a:rPr sz="1200" b="1">
                <a:solidFill>
                  <a:srgbClr val="1B2733"/>
                </a:solidFill>
                <a:latin typeface="Arial"/>
              </a:rPr>
              <a:t>Runbooks (allowlist)</a:t>
            </a:r>
          </a:p>
        </p:txBody>
      </p:sp>
      <p:sp>
        <p:nvSpPr>
          <p:cNvPr id="21" name="TextBox 20"/>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2" name="TextBox 21"/>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14  /  48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LEVEL 0 · SHARED</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core trick: correlate by trace_id</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2011679"/>
            <a:ext cx="2743200" cy="914400"/>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48255"/>
            <a:ext cx="2596896" cy="841248"/>
          </a:xfrm>
          <a:prstGeom prst="rect">
            <a:avLst/>
          </a:prstGeom>
          <a:noFill/>
        </p:spPr>
        <p:txBody>
          <a:bodyPr wrap="square" anchor="ctr" lIns="0" rIns="0" tIns="0" bIns="0">
            <a:noAutofit/>
          </a:bodyPr>
          <a:lstStyle/>
          <a:p>
            <a:pPr algn="ctr">
              <a:lnSpc>
                <a:spcPct val="100000"/>
              </a:lnSpc>
              <a:spcBef>
                <a:spcPts val="0"/>
              </a:spcBef>
              <a:spcAft>
                <a:spcPts val="200"/>
              </a:spcAft>
            </a:pPr>
            <a:r>
              <a:rPr sz="1250" b="1">
                <a:solidFill>
                  <a:srgbClr val="1B2733"/>
                </a:solidFill>
                <a:latin typeface="Arial"/>
              </a:rPr>
              <a:t>Datadog APM</a:t>
            </a:r>
          </a:p>
          <a:p>
            <a:pPr algn="ctr">
              <a:lnSpc>
                <a:spcPct val="102000"/>
              </a:lnSpc>
              <a:spcBef>
                <a:spcPts val="0"/>
              </a:spcBef>
              <a:spcAft>
                <a:spcPts val="0"/>
              </a:spcAft>
            </a:pPr>
            <a:r>
              <a:rPr sz="850" b="0">
                <a:solidFill>
                  <a:srgbClr val="6B7885"/>
                </a:solidFill>
                <a:latin typeface="Arial"/>
              </a:rPr>
              <a:t>trace_id abc123…deadbeef</a:t>
            </a:r>
          </a:p>
        </p:txBody>
      </p:sp>
      <p:sp>
        <p:nvSpPr>
          <p:cNvPr id="9" name="Rounded Rectangle 8"/>
          <p:cNvSpPr/>
          <p:nvPr/>
        </p:nvSpPr>
        <p:spPr>
          <a:xfrm>
            <a:off x="3858768" y="2011679"/>
            <a:ext cx="2926080" cy="914400"/>
          </a:xfrm>
          <a:prstGeom prst="roundRect">
            <a:avLst>
              <a:gd name="adj" fmla="val 10000"/>
            </a:avLst>
          </a:prstGeom>
          <a:solidFill>
            <a:srgbClr val="FFEBDA"/>
          </a:solidFill>
          <a:ln w="1778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2048255"/>
            <a:ext cx="2779776" cy="841248"/>
          </a:xfrm>
          <a:prstGeom prst="rect">
            <a:avLst/>
          </a:prstGeom>
          <a:noFill/>
        </p:spPr>
        <p:txBody>
          <a:bodyPr wrap="square" anchor="ctr" lIns="0" rIns="0" tIns="0" bIns="0">
            <a:noAutofit/>
          </a:bodyPr>
          <a:lstStyle/>
          <a:p>
            <a:pPr algn="ctr">
              <a:lnSpc>
                <a:spcPct val="100000"/>
              </a:lnSpc>
              <a:spcBef>
                <a:spcPts val="0"/>
              </a:spcBef>
              <a:spcAft>
                <a:spcPts val="200"/>
              </a:spcAft>
            </a:pPr>
            <a:r>
              <a:rPr sz="1250" b="1">
                <a:solidFill>
                  <a:srgbClr val="1B2733"/>
                </a:solidFill>
                <a:latin typeface="Arial"/>
              </a:rPr>
              <a:t>correlate_trace()</a:t>
            </a:r>
          </a:p>
          <a:p>
            <a:pPr algn="ctr">
              <a:lnSpc>
                <a:spcPct val="102000"/>
              </a:lnSpc>
              <a:spcBef>
                <a:spcPts val="0"/>
              </a:spcBef>
              <a:spcAft>
                <a:spcPts val="0"/>
              </a:spcAft>
            </a:pPr>
            <a:r>
              <a:rPr sz="800" b="0">
                <a:solidFill>
                  <a:srgbClr val="6B7885"/>
                </a:solidFill>
                <a:latin typeface="Arial"/>
              </a:rPr>
              <a:t>builds the Splunk query + deep-links</a:t>
            </a:r>
          </a:p>
        </p:txBody>
      </p:sp>
      <p:sp>
        <p:nvSpPr>
          <p:cNvPr id="11" name="Rounded Rectangle 10"/>
          <p:cNvSpPr/>
          <p:nvPr/>
        </p:nvSpPr>
        <p:spPr>
          <a:xfrm>
            <a:off x="7333488" y="2011679"/>
            <a:ext cx="2743200" cy="914400"/>
          </a:xfrm>
          <a:prstGeom prst="roundRect">
            <a:avLst>
              <a:gd name="adj" fmla="val 10000"/>
            </a:avLst>
          </a:prstGeom>
          <a:solidFill>
            <a:srgbClr val="EAF4E1"/>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0" y="2048255"/>
            <a:ext cx="2596896" cy="841248"/>
          </a:xfrm>
          <a:prstGeom prst="rect">
            <a:avLst/>
          </a:prstGeom>
          <a:noFill/>
        </p:spPr>
        <p:txBody>
          <a:bodyPr wrap="square" anchor="ctr" lIns="0" rIns="0" tIns="0" bIns="0">
            <a:noAutofit/>
          </a:bodyPr>
          <a:lstStyle/>
          <a:p>
            <a:pPr algn="ctr">
              <a:lnSpc>
                <a:spcPct val="100000"/>
              </a:lnSpc>
              <a:spcBef>
                <a:spcPts val="0"/>
              </a:spcBef>
              <a:spcAft>
                <a:spcPts val="200"/>
              </a:spcAft>
            </a:pPr>
            <a:r>
              <a:rPr sz="1250" b="1">
                <a:solidFill>
                  <a:srgbClr val="1B2733"/>
                </a:solidFill>
                <a:latin typeface="Arial"/>
              </a:rPr>
              <a:t>Splunk logs</a:t>
            </a:r>
          </a:p>
          <a:p>
            <a:pPr algn="ctr">
              <a:lnSpc>
                <a:spcPct val="102000"/>
              </a:lnSpc>
              <a:spcBef>
                <a:spcPts val="0"/>
              </a:spcBef>
              <a:spcAft>
                <a:spcPts val="0"/>
              </a:spcAft>
            </a:pPr>
            <a:r>
              <a:rPr sz="850" b="0">
                <a:solidFill>
                  <a:srgbClr val="6B7885"/>
                </a:solidFill>
                <a:latin typeface="Arial"/>
              </a:rPr>
              <a:t>index=* trace_id="…"</a:t>
            </a:r>
          </a:p>
        </p:txBody>
      </p:sp>
      <p:cxnSp>
        <p:nvCxnSpPr>
          <p:cNvPr id="13" name="Connector 12"/>
          <p:cNvCxnSpPr/>
          <p:nvPr/>
        </p:nvCxnSpPr>
        <p:spPr>
          <a:xfrm>
            <a:off x="3310128" y="2468879"/>
            <a:ext cx="548640" cy="0"/>
          </a:xfrm>
          <a:prstGeom prst="line">
            <a:avLst/>
          </a:prstGeom>
          <a:ln w="20320">
            <a:solidFill>
              <a:srgbClr val="1B273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84848" y="2468879"/>
            <a:ext cx="548640" cy="0"/>
          </a:xfrm>
          <a:prstGeom prst="line">
            <a:avLst/>
          </a:prstGeom>
          <a:ln w="20320">
            <a:solidFill>
              <a:srgbClr val="1B273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3063239"/>
            <a:ext cx="11057839" cy="365760"/>
          </a:xfrm>
          <a:prstGeom prst="rect">
            <a:avLst/>
          </a:prstGeom>
          <a:noFill/>
        </p:spPr>
        <p:txBody>
          <a:bodyPr wrap="square" anchor="t" lIns="0" rIns="0" tIns="0" bIns="0">
            <a:noAutofit/>
          </a:bodyPr>
          <a:lstStyle/>
          <a:p>
            <a:pPr algn="ctr">
              <a:lnSpc>
                <a:spcPct val="100000"/>
              </a:lnSpc>
              <a:spcBef>
                <a:spcPts val="0"/>
              </a:spcBef>
              <a:spcAft>
                <a:spcPts val="600"/>
              </a:spcAft>
            </a:pPr>
            <a:r>
              <a:rPr sz="1150" b="1">
                <a:solidFill>
                  <a:srgbClr val="1B2733"/>
                </a:solidFill>
                <a:latin typeface="Arial"/>
              </a:rPr>
              <a:t>Both platforms carry the same trace_id in structured logs — that shared key is the whole game.</a:t>
            </a:r>
          </a:p>
        </p:txBody>
      </p:sp>
      <p:sp>
        <p:nvSpPr>
          <p:cNvPr id="16" name="Rounded Rectangle 15"/>
          <p:cNvSpPr/>
          <p:nvPr/>
        </p:nvSpPr>
        <p:spPr>
          <a:xfrm>
            <a:off x="566928" y="3566159"/>
            <a:ext cx="11057839" cy="1417320"/>
          </a:xfrm>
          <a:prstGeom prst="roundRect">
            <a:avLst>
              <a:gd name="adj" fmla="val 4500"/>
            </a:avLst>
          </a:prstGeom>
          <a:solidFill>
            <a:srgbClr val="FB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566159"/>
            <a:ext cx="91440" cy="1417320"/>
          </a:xfrm>
          <a:prstGeom prst="rect">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694175"/>
            <a:ext cx="10673791" cy="1161288"/>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D98B22"/>
                </a:solidFill>
                <a:latin typeface="Arial"/>
              </a:rPr>
              <a:t>◆  ⚠ The #1 correctness gotcha — trace-ID width</a:t>
            </a:r>
          </a:p>
          <a:p>
            <a:pPr algn="l">
              <a:lnSpc>
                <a:spcPct val="112000"/>
              </a:lnSpc>
              <a:spcBef>
                <a:spcPts val="0"/>
              </a:spcBef>
              <a:spcAft>
                <a:spcPts val="0"/>
              </a:spcAft>
            </a:pPr>
            <a:r>
              <a:rPr sz="1050" b="0">
                <a:solidFill>
                  <a:srgbClr val="3E4C59"/>
                </a:solidFill>
                <a:latin typeface="Arial"/>
              </a:rPr>
              <a:t>Datadog surfaces a 64-bit dd.trace_id; OpenTelemetry &amp; Splunk hold a 128-bit trace_id. Search Splunk with the wrong width and the agent wrongly concludes "no logs found." The correlation layer MUST normalize both. (The mock's single demo ID masks this — real traffic exposes it.)</a:t>
            </a:r>
          </a:p>
        </p:txBody>
      </p:sp>
      <p:sp>
        <p:nvSpPr>
          <p:cNvPr id="19" name="TextBox 18"/>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0" name="TextBox 19"/>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15  /  48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LEVEL 0 · SHARED</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agent's job — and the gate</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5760720" cy="3291840"/>
          </a:xfrm>
          <a:prstGeom prst="rect">
            <a:avLst/>
          </a:prstGeom>
          <a:noFill/>
        </p:spPr>
        <p:txBody>
          <a:bodyPr wrap="square" anchor="t" lIns="0" rIns="0" tIns="0" bIns="0">
            <a:noAutofit/>
          </a:bodyPr>
          <a:lstStyle/>
          <a:p>
            <a:pPr algn="l" marL="256032" indent="-256032">
              <a:lnSpc>
                <a:spcPct val="106000"/>
              </a:lnSpc>
              <a:spcBef>
                <a:spcPts val="0"/>
              </a:spcBef>
              <a:spcAft>
                <a:spcPts val="900"/>
              </a:spcAft>
              <a:buClr>
                <a:srgbClr val="FF7300"/>
              </a:buClr>
              <a:buFont typeface="Arial"/>
              <a:buChar char="▪"/>
            </a:pPr>
            <a:r>
              <a:rPr sz="1250" b="1">
                <a:solidFill>
                  <a:srgbClr val="1B2733"/>
                </a:solidFill>
                <a:latin typeface="Arial"/>
              </a:rPr>
              <a:t>Investigate.  </a:t>
            </a:r>
            <a:r>
              <a:rPr sz="1250" b="0">
                <a:solidFill>
                  <a:srgbClr val="1B2733"/>
                </a:solidFill>
                <a:latin typeface="Arial"/>
              </a:rPr>
              <a:t>On an incident signal, run a structured cross-platform investigation in a native tool-use loop.</a:t>
            </a:r>
          </a:p>
          <a:p>
            <a:pPr algn="l" marL="256032" indent="-256032">
              <a:lnSpc>
                <a:spcPct val="106000"/>
              </a:lnSpc>
              <a:spcBef>
                <a:spcPts val="0"/>
              </a:spcBef>
              <a:spcAft>
                <a:spcPts val="900"/>
              </a:spcAft>
              <a:buClr>
                <a:srgbClr val="FF7300"/>
              </a:buClr>
              <a:buFont typeface="Arial"/>
              <a:buChar char="▪"/>
            </a:pPr>
            <a:r>
              <a:rPr sz="1250" b="1">
                <a:solidFill>
                  <a:srgbClr val="1B2733"/>
                </a:solidFill>
                <a:latin typeface="Arial"/>
              </a:rPr>
              <a:t>Synthesize.  </a:t>
            </a:r>
            <a:r>
              <a:rPr sz="1250" b="0">
                <a:solidFill>
                  <a:srgbClr val="1B2733"/>
                </a:solidFill>
                <a:latin typeface="Arial"/>
              </a:rPr>
              <a:t>Produce a root-cause summary with blast radius and evidence links into both Splunk and Datadog.</a:t>
            </a:r>
          </a:p>
          <a:p>
            <a:pPr algn="l" marL="256032" indent="-256032">
              <a:lnSpc>
                <a:spcPct val="106000"/>
              </a:lnSpc>
              <a:spcBef>
                <a:spcPts val="0"/>
              </a:spcBef>
              <a:spcAft>
                <a:spcPts val="900"/>
              </a:spcAft>
              <a:buClr>
                <a:srgbClr val="FF7300"/>
              </a:buClr>
              <a:buFont typeface="Arial"/>
              <a:buChar char="▪"/>
            </a:pPr>
            <a:r>
              <a:rPr sz="1250" b="1">
                <a:solidFill>
                  <a:srgbClr val="1B2733"/>
                </a:solidFill>
                <a:latin typeface="Arial"/>
              </a:rPr>
              <a:t>Propose.  </a:t>
            </a:r>
            <a:r>
              <a:rPr sz="1250" b="0">
                <a:solidFill>
                  <a:srgbClr val="1B2733"/>
                </a:solidFill>
                <a:latin typeface="Arial"/>
              </a:rPr>
              <a:t>Name a specific, vetted runbook and the parameters it would use — e.g. disable-chaos on payment-service.</a:t>
            </a:r>
          </a:p>
          <a:p>
            <a:pPr algn="l" marL="256032" indent="-256032">
              <a:lnSpc>
                <a:spcPct val="106000"/>
              </a:lnSpc>
              <a:spcBef>
                <a:spcPts val="0"/>
              </a:spcBef>
              <a:spcAft>
                <a:spcPts val="900"/>
              </a:spcAft>
              <a:buClr>
                <a:srgbClr val="FF7300"/>
              </a:buClr>
              <a:buFont typeface="Arial"/>
              <a:buChar char="▪"/>
            </a:pPr>
            <a:r>
              <a:rPr sz="1250" b="1">
                <a:solidFill>
                  <a:srgbClr val="1B2733"/>
                </a:solidFill>
                <a:latin typeface="Arial"/>
              </a:rPr>
              <a:t>Wait.  </a:t>
            </a:r>
            <a:r>
              <a:rPr sz="1250" b="0">
                <a:solidFill>
                  <a:srgbClr val="1B2733"/>
                </a:solidFill>
                <a:latin typeface="Arial"/>
              </a:rPr>
              <a:t>Stop. Do nothing to production until a human approves. This is the hard line.</a:t>
            </a:r>
          </a:p>
          <a:p>
            <a:pPr algn="l" marL="256032" indent="-256032">
              <a:lnSpc>
                <a:spcPct val="106000"/>
              </a:lnSpc>
              <a:spcBef>
                <a:spcPts val="0"/>
              </a:spcBef>
              <a:spcAft>
                <a:spcPts val="900"/>
              </a:spcAft>
              <a:buClr>
                <a:srgbClr val="FF7300"/>
              </a:buClr>
              <a:buFont typeface="Arial"/>
              <a:buChar char="▪"/>
            </a:pPr>
            <a:r>
              <a:rPr sz="1250" b="1">
                <a:solidFill>
                  <a:srgbClr val="1B2733"/>
                </a:solidFill>
                <a:latin typeface="Arial"/>
              </a:rPr>
              <a:t>Remediate &amp; record.  </a:t>
            </a:r>
            <a:r>
              <a:rPr sz="1250" b="0">
                <a:solidFill>
                  <a:srgbClr val="1B2733"/>
                </a:solidFill>
                <a:latin typeface="Arial"/>
              </a:rPr>
              <a:t>On approval, run the runbook, stream progress, write an audit entry, and post a postmortem.</a:t>
            </a:r>
          </a:p>
        </p:txBody>
      </p:sp>
      <p:sp>
        <p:nvSpPr>
          <p:cNvPr id="8" name="Rounded Rectangle 7"/>
          <p:cNvSpPr/>
          <p:nvPr/>
        </p:nvSpPr>
        <p:spPr>
          <a:xfrm>
            <a:off x="6739128" y="1828800"/>
            <a:ext cx="4885639" cy="731520"/>
          </a:xfrm>
          <a:prstGeom prst="roundRect">
            <a:avLst>
              <a:gd name="adj" fmla="val 10000"/>
            </a:avLst>
          </a:prstGeom>
          <a:solidFill>
            <a:srgbClr val="FFFFFF"/>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2280" y="1865376"/>
            <a:ext cx="4739335" cy="658368"/>
          </a:xfrm>
          <a:prstGeom prst="rect">
            <a:avLst/>
          </a:prstGeom>
          <a:noFill/>
        </p:spPr>
        <p:txBody>
          <a:bodyPr wrap="square" anchor="ctr" lIns="0" rIns="0" tIns="0" bIns="0">
            <a:noAutofit/>
          </a:bodyPr>
          <a:lstStyle/>
          <a:p>
            <a:pPr algn="ctr">
              <a:lnSpc>
                <a:spcPct val="100000"/>
              </a:lnSpc>
              <a:spcBef>
                <a:spcPts val="0"/>
              </a:spcBef>
              <a:spcAft>
                <a:spcPts val="0"/>
              </a:spcAft>
            </a:pPr>
            <a:r>
              <a:rPr sz="1300" b="1">
                <a:solidFill>
                  <a:srgbClr val="1B2733"/>
                </a:solidFill>
                <a:latin typeface="Arial"/>
              </a:rPr>
              <a:t>Agent proposes fix</a:t>
            </a:r>
          </a:p>
        </p:txBody>
      </p:sp>
      <p:cxnSp>
        <p:nvCxnSpPr>
          <p:cNvPr id="10" name="Connector 9"/>
          <p:cNvCxnSpPr/>
          <p:nvPr/>
        </p:nvCxnSpPr>
        <p:spPr>
          <a:xfrm>
            <a:off x="9181947" y="2560320"/>
            <a:ext cx="0" cy="411480"/>
          </a:xfrm>
          <a:prstGeom prst="line">
            <a:avLst/>
          </a:prstGeom>
          <a:ln w="20320">
            <a:solidFill>
              <a:srgbClr val="1B273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739128" y="3017520"/>
            <a:ext cx="4885639" cy="868680"/>
          </a:xfrm>
          <a:prstGeom prst="roundRect">
            <a:avLst>
              <a:gd name="adj" fmla="val 8000"/>
            </a:avLst>
          </a:prstGeom>
          <a:solidFill>
            <a:srgbClr val="FFEBDA"/>
          </a:solidFill>
          <a:ln w="2032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76288" y="3017520"/>
            <a:ext cx="4611319" cy="868680"/>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C85A00"/>
                </a:solidFill>
                <a:latin typeface="Arial"/>
              </a:rPr>
              <a:t>🔒  HUMAN APPROVAL GATE</a:t>
            </a:r>
          </a:p>
          <a:p>
            <a:pPr algn="ctr">
              <a:lnSpc>
                <a:spcPct val="100000"/>
              </a:lnSpc>
              <a:spcBef>
                <a:spcPts val="0"/>
              </a:spcBef>
              <a:spcAft>
                <a:spcPts val="600"/>
              </a:spcAft>
            </a:pPr>
            <a:r>
              <a:rPr sz="1000" b="0">
                <a:solidFill>
                  <a:srgbClr val="3E4C59"/>
                </a:solidFill>
                <a:latin typeface="Arial"/>
              </a:rPr>
              <a:t>explicit approve required</a:t>
            </a:r>
          </a:p>
        </p:txBody>
      </p:sp>
      <p:cxnSp>
        <p:nvCxnSpPr>
          <p:cNvPr id="13" name="Connector 12"/>
          <p:cNvCxnSpPr/>
          <p:nvPr/>
        </p:nvCxnSpPr>
        <p:spPr>
          <a:xfrm>
            <a:off x="9181947" y="3886200"/>
            <a:ext cx="0" cy="411479"/>
          </a:xfrm>
          <a:prstGeom prst="line">
            <a:avLst/>
          </a:prstGeom>
          <a:ln w="20320">
            <a:solidFill>
              <a:srgbClr val="2E9E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739128" y="4343400"/>
            <a:ext cx="4885639" cy="731520"/>
          </a:xfrm>
          <a:prstGeom prst="roundRect">
            <a:avLst>
              <a:gd name="adj" fmla="val 10000"/>
            </a:avLst>
          </a:prstGeom>
          <a:solidFill>
            <a:srgbClr val="E4F4EB"/>
          </a:solidFill>
          <a:ln w="1778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4379976"/>
            <a:ext cx="4739335" cy="658368"/>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1B2733"/>
                </a:solidFill>
                <a:latin typeface="Arial"/>
              </a:rPr>
              <a:t>Runbook executes</a:t>
            </a:r>
          </a:p>
          <a:p>
            <a:pPr algn="ctr">
              <a:lnSpc>
                <a:spcPct val="102000"/>
              </a:lnSpc>
              <a:spcBef>
                <a:spcPts val="0"/>
              </a:spcBef>
              <a:spcAft>
                <a:spcPts val="0"/>
              </a:spcAft>
            </a:pPr>
            <a:r>
              <a:rPr sz="900" b="0">
                <a:solidFill>
                  <a:srgbClr val="6B7885"/>
                </a:solidFill>
                <a:latin typeface="Arial"/>
              </a:rPr>
              <a:t>audit logged</a:t>
            </a:r>
          </a:p>
        </p:txBody>
      </p:sp>
      <p:sp>
        <p:nvSpPr>
          <p:cNvPr id="16" name="Rounded Rectangle 15"/>
          <p:cNvSpPr/>
          <p:nvPr/>
        </p:nvSpPr>
        <p:spPr>
          <a:xfrm>
            <a:off x="6739128" y="5303520"/>
            <a:ext cx="4885639" cy="777240"/>
          </a:xfrm>
          <a:prstGeom prst="roundRect">
            <a:avLst>
              <a:gd name="adj" fmla="val 4500"/>
            </a:avLst>
          </a:prstGeom>
          <a:solidFill>
            <a:srgbClr val="E0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39128" y="5303520"/>
            <a:ext cx="91440" cy="7772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76872" y="5431536"/>
            <a:ext cx="4501591" cy="521207"/>
          </a:xfrm>
          <a:prstGeom prst="rect">
            <a:avLst/>
          </a:prstGeom>
          <a:noFill/>
        </p:spPr>
        <p:txBody>
          <a:bodyPr wrap="square" anchor="ctr" lIns="0" rIns="0" tIns="0" bIns="0">
            <a:noAutofit/>
          </a:bodyPr>
          <a:lstStyle/>
          <a:p>
            <a:pPr algn="l">
              <a:lnSpc>
                <a:spcPct val="100000"/>
              </a:lnSpc>
              <a:spcBef>
                <a:spcPts val="0"/>
              </a:spcBef>
              <a:spcAft>
                <a:spcPts val="300"/>
              </a:spcAft>
            </a:pPr>
            <a:r>
              <a:rPr sz="1100" b="1">
                <a:solidFill>
                  <a:srgbClr val="0E8FA8"/>
                </a:solidFill>
                <a:latin typeface="Arial"/>
              </a:rPr>
              <a:t>◆  Bounded</a:t>
            </a:r>
          </a:p>
          <a:p>
            <a:pPr algn="l">
              <a:lnSpc>
                <a:spcPct val="112000"/>
              </a:lnSpc>
              <a:spcBef>
                <a:spcPts val="0"/>
              </a:spcBef>
              <a:spcAft>
                <a:spcPts val="0"/>
              </a:spcAft>
            </a:pPr>
            <a:r>
              <a:rPr sz="1050" b="0">
                <a:solidFill>
                  <a:srgbClr val="3E4C59"/>
                </a:solidFill>
                <a:latin typeface="Arial"/>
              </a:rPr>
              <a:t>Only a fixed, pre-approved runbook list. No arbitrary command execution — ever.</a:t>
            </a:r>
          </a:p>
        </p:txBody>
      </p:sp>
      <p:sp>
        <p:nvSpPr>
          <p:cNvPr id="19" name="TextBox 18"/>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0" name="TextBox 19"/>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16  /  48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LEVEL 0 · SHARED</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End-to-end: the 10-step investigation</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65960"/>
            <a:ext cx="2006742" cy="1234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76656" y="2075688"/>
            <a:ext cx="365760" cy="365760"/>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2075688"/>
            <a:ext cx="36576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250" b="1">
                <a:solidFill>
                  <a:srgbClr val="FFFFFF"/>
                </a:solidFill>
                <a:latin typeface="Arial"/>
              </a:rPr>
              <a:t>1</a:t>
            </a:r>
          </a:p>
        </p:txBody>
      </p:sp>
      <p:sp>
        <p:nvSpPr>
          <p:cNvPr id="10" name="TextBox 9"/>
          <p:cNvSpPr txBox="1"/>
          <p:nvPr/>
        </p:nvSpPr>
        <p:spPr>
          <a:xfrm>
            <a:off x="694944" y="2496312"/>
            <a:ext cx="1750710" cy="630936"/>
          </a:xfrm>
          <a:prstGeom prst="rect">
            <a:avLst/>
          </a:prstGeom>
          <a:noFill/>
        </p:spPr>
        <p:txBody>
          <a:bodyPr wrap="square" anchor="t" lIns="0" rIns="0" tIns="0" bIns="0">
            <a:noAutofit/>
          </a:bodyPr>
          <a:lstStyle/>
          <a:p>
            <a:pPr algn="l">
              <a:lnSpc>
                <a:spcPct val="108000"/>
              </a:lnSpc>
              <a:spcBef>
                <a:spcPts val="0"/>
              </a:spcBef>
              <a:spcAft>
                <a:spcPts val="600"/>
              </a:spcAft>
            </a:pPr>
            <a:r>
              <a:rPr sz="1000" b="0">
                <a:solidFill>
                  <a:srgbClr val="1B2733"/>
                </a:solidFill>
                <a:latin typeface="Arial"/>
              </a:rPr>
              <a:t>Alert / webhook triggers the agent</a:t>
            </a:r>
          </a:p>
        </p:txBody>
      </p:sp>
      <p:cxnSp>
        <p:nvCxnSpPr>
          <p:cNvPr id="11" name="Connector 10"/>
          <p:cNvCxnSpPr/>
          <p:nvPr/>
        </p:nvCxnSpPr>
        <p:spPr>
          <a:xfrm>
            <a:off x="2591958" y="2258568"/>
            <a:ext cx="219456" cy="0"/>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29702" y="1965960"/>
            <a:ext cx="2006742" cy="1234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939430" y="2075688"/>
            <a:ext cx="365760" cy="365760"/>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39430" y="2075688"/>
            <a:ext cx="36576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250" b="1">
                <a:solidFill>
                  <a:srgbClr val="FFFFFF"/>
                </a:solidFill>
                <a:latin typeface="Arial"/>
              </a:rPr>
              <a:t>2</a:t>
            </a:r>
          </a:p>
        </p:txBody>
      </p:sp>
      <p:sp>
        <p:nvSpPr>
          <p:cNvPr id="15" name="TextBox 14"/>
          <p:cNvSpPr txBox="1"/>
          <p:nvPr/>
        </p:nvSpPr>
        <p:spPr>
          <a:xfrm>
            <a:off x="2957718" y="2496312"/>
            <a:ext cx="1750710" cy="630936"/>
          </a:xfrm>
          <a:prstGeom prst="rect">
            <a:avLst/>
          </a:prstGeom>
          <a:noFill/>
        </p:spPr>
        <p:txBody>
          <a:bodyPr wrap="square" anchor="t" lIns="0" rIns="0" tIns="0" bIns="0">
            <a:noAutofit/>
          </a:bodyPr>
          <a:lstStyle/>
          <a:p>
            <a:pPr algn="l">
              <a:lnSpc>
                <a:spcPct val="108000"/>
              </a:lnSpc>
              <a:spcBef>
                <a:spcPts val="0"/>
              </a:spcBef>
              <a:spcAft>
                <a:spcPts val="600"/>
              </a:spcAft>
            </a:pPr>
            <a:r>
              <a:rPr sz="1000" b="0">
                <a:solidFill>
                  <a:srgbClr val="1B2733"/>
                </a:solidFill>
                <a:latin typeface="Arial"/>
              </a:rPr>
              <a:t>Check Datadog monitors</a:t>
            </a:r>
          </a:p>
        </p:txBody>
      </p:sp>
      <p:cxnSp>
        <p:nvCxnSpPr>
          <p:cNvPr id="16" name="Connector 15"/>
          <p:cNvCxnSpPr/>
          <p:nvPr/>
        </p:nvCxnSpPr>
        <p:spPr>
          <a:xfrm>
            <a:off x="4854732" y="2258568"/>
            <a:ext cx="219456" cy="0"/>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92476" y="1965960"/>
            <a:ext cx="2006742" cy="1234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202204" y="2075688"/>
            <a:ext cx="365760" cy="365760"/>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02204" y="2075688"/>
            <a:ext cx="36576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250" b="1">
                <a:solidFill>
                  <a:srgbClr val="FFFFFF"/>
                </a:solidFill>
                <a:latin typeface="Arial"/>
              </a:rPr>
              <a:t>3</a:t>
            </a:r>
          </a:p>
        </p:txBody>
      </p:sp>
      <p:sp>
        <p:nvSpPr>
          <p:cNvPr id="20" name="TextBox 19"/>
          <p:cNvSpPr txBox="1"/>
          <p:nvPr/>
        </p:nvSpPr>
        <p:spPr>
          <a:xfrm>
            <a:off x="5220492" y="2496312"/>
            <a:ext cx="1750710" cy="630936"/>
          </a:xfrm>
          <a:prstGeom prst="rect">
            <a:avLst/>
          </a:prstGeom>
          <a:noFill/>
        </p:spPr>
        <p:txBody>
          <a:bodyPr wrap="square" anchor="t" lIns="0" rIns="0" tIns="0" bIns="0">
            <a:noAutofit/>
          </a:bodyPr>
          <a:lstStyle/>
          <a:p>
            <a:pPr algn="l">
              <a:lnSpc>
                <a:spcPct val="108000"/>
              </a:lnSpc>
              <a:spcBef>
                <a:spcPts val="0"/>
              </a:spcBef>
              <a:spcAft>
                <a:spcPts val="600"/>
              </a:spcAft>
            </a:pPr>
            <a:r>
              <a:rPr sz="1000" b="0">
                <a:solidFill>
                  <a:srgbClr val="1B2733"/>
                </a:solidFill>
                <a:latin typeface="Arial"/>
              </a:rPr>
              <a:t>Pull metrics → find the error spike</a:t>
            </a:r>
          </a:p>
        </p:txBody>
      </p:sp>
      <p:cxnSp>
        <p:nvCxnSpPr>
          <p:cNvPr id="21" name="Connector 20"/>
          <p:cNvCxnSpPr/>
          <p:nvPr/>
        </p:nvCxnSpPr>
        <p:spPr>
          <a:xfrm>
            <a:off x="7117506" y="2258568"/>
            <a:ext cx="219456" cy="0"/>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355250" y="1965960"/>
            <a:ext cx="2006742" cy="1234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64978" y="2075688"/>
            <a:ext cx="365760" cy="365760"/>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64978" y="2075688"/>
            <a:ext cx="36576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250" b="1">
                <a:solidFill>
                  <a:srgbClr val="FFFFFF"/>
                </a:solidFill>
                <a:latin typeface="Arial"/>
              </a:rPr>
              <a:t>4</a:t>
            </a:r>
          </a:p>
        </p:txBody>
      </p:sp>
      <p:sp>
        <p:nvSpPr>
          <p:cNvPr id="25" name="TextBox 24"/>
          <p:cNvSpPr txBox="1"/>
          <p:nvPr/>
        </p:nvSpPr>
        <p:spPr>
          <a:xfrm>
            <a:off x="7483266" y="2496312"/>
            <a:ext cx="1750710" cy="630936"/>
          </a:xfrm>
          <a:prstGeom prst="rect">
            <a:avLst/>
          </a:prstGeom>
          <a:noFill/>
        </p:spPr>
        <p:txBody>
          <a:bodyPr wrap="square" anchor="t" lIns="0" rIns="0" tIns="0" bIns="0">
            <a:noAutofit/>
          </a:bodyPr>
          <a:lstStyle/>
          <a:p>
            <a:pPr algn="l">
              <a:lnSpc>
                <a:spcPct val="108000"/>
              </a:lnSpc>
              <a:spcBef>
                <a:spcPts val="0"/>
              </a:spcBef>
              <a:spcAft>
                <a:spcPts val="600"/>
              </a:spcAft>
            </a:pPr>
            <a:r>
              <a:rPr sz="1000" b="0">
                <a:solidFill>
                  <a:srgbClr val="1B2733"/>
                </a:solidFill>
                <a:latin typeface="Arial"/>
              </a:rPr>
              <a:t>Get a sample trace from APM</a:t>
            </a:r>
          </a:p>
        </p:txBody>
      </p:sp>
      <p:cxnSp>
        <p:nvCxnSpPr>
          <p:cNvPr id="26" name="Connector 25"/>
          <p:cNvCxnSpPr/>
          <p:nvPr/>
        </p:nvCxnSpPr>
        <p:spPr>
          <a:xfrm>
            <a:off x="9380280" y="2258568"/>
            <a:ext cx="219456" cy="0"/>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618024" y="1965960"/>
            <a:ext cx="2006742" cy="1234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727752" y="2075688"/>
            <a:ext cx="365760" cy="365760"/>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27752" y="2075688"/>
            <a:ext cx="36576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250" b="1">
                <a:solidFill>
                  <a:srgbClr val="FFFFFF"/>
                </a:solidFill>
                <a:latin typeface="Arial"/>
              </a:rPr>
              <a:t>5</a:t>
            </a:r>
          </a:p>
        </p:txBody>
      </p:sp>
      <p:sp>
        <p:nvSpPr>
          <p:cNvPr id="30" name="TextBox 29"/>
          <p:cNvSpPr txBox="1"/>
          <p:nvPr/>
        </p:nvSpPr>
        <p:spPr>
          <a:xfrm>
            <a:off x="9746040" y="2496312"/>
            <a:ext cx="1750710" cy="630936"/>
          </a:xfrm>
          <a:prstGeom prst="rect">
            <a:avLst/>
          </a:prstGeom>
          <a:noFill/>
        </p:spPr>
        <p:txBody>
          <a:bodyPr wrap="square" anchor="t" lIns="0" rIns="0" tIns="0" bIns="0">
            <a:noAutofit/>
          </a:bodyPr>
          <a:lstStyle/>
          <a:p>
            <a:pPr algn="l">
              <a:lnSpc>
                <a:spcPct val="108000"/>
              </a:lnSpc>
              <a:spcBef>
                <a:spcPts val="0"/>
              </a:spcBef>
              <a:spcAft>
                <a:spcPts val="600"/>
              </a:spcAft>
            </a:pPr>
            <a:r>
              <a:rPr sz="1000" b="0">
                <a:solidFill>
                  <a:srgbClr val="1B2733"/>
                </a:solidFill>
                <a:latin typeface="Arial"/>
              </a:rPr>
              <a:t>correlate_trace → build Splunk query</a:t>
            </a:r>
          </a:p>
        </p:txBody>
      </p:sp>
      <p:sp>
        <p:nvSpPr>
          <p:cNvPr id="31" name="Rounded Rectangle 30"/>
          <p:cNvSpPr/>
          <p:nvPr/>
        </p:nvSpPr>
        <p:spPr>
          <a:xfrm>
            <a:off x="566928" y="3703320"/>
            <a:ext cx="2006742" cy="1234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76656" y="3813048"/>
            <a:ext cx="365760" cy="365760"/>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656" y="3813048"/>
            <a:ext cx="36576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250" b="1">
                <a:solidFill>
                  <a:srgbClr val="FFFFFF"/>
                </a:solidFill>
                <a:latin typeface="Arial"/>
              </a:rPr>
              <a:t>6</a:t>
            </a:r>
          </a:p>
        </p:txBody>
      </p:sp>
      <p:sp>
        <p:nvSpPr>
          <p:cNvPr id="34" name="TextBox 33"/>
          <p:cNvSpPr txBox="1"/>
          <p:nvPr/>
        </p:nvSpPr>
        <p:spPr>
          <a:xfrm>
            <a:off x="694944" y="4233672"/>
            <a:ext cx="1750710" cy="630936"/>
          </a:xfrm>
          <a:prstGeom prst="rect">
            <a:avLst/>
          </a:prstGeom>
          <a:noFill/>
        </p:spPr>
        <p:txBody>
          <a:bodyPr wrap="square" anchor="t" lIns="0" rIns="0" tIns="0" bIns="0">
            <a:noAutofit/>
          </a:bodyPr>
          <a:lstStyle/>
          <a:p>
            <a:pPr algn="l">
              <a:lnSpc>
                <a:spcPct val="108000"/>
              </a:lnSpc>
              <a:spcBef>
                <a:spcPts val="0"/>
              </a:spcBef>
              <a:spcAft>
                <a:spcPts val="600"/>
              </a:spcAft>
            </a:pPr>
            <a:r>
              <a:rPr sz="1000" b="0">
                <a:solidFill>
                  <a:srgbClr val="1B2733"/>
                </a:solidFill>
                <a:latin typeface="Arial"/>
              </a:rPr>
              <a:t>Run Splunk query → see the log evidence</a:t>
            </a:r>
          </a:p>
        </p:txBody>
      </p:sp>
      <p:cxnSp>
        <p:nvCxnSpPr>
          <p:cNvPr id="35" name="Connector 34"/>
          <p:cNvCxnSpPr/>
          <p:nvPr/>
        </p:nvCxnSpPr>
        <p:spPr>
          <a:xfrm>
            <a:off x="2591958" y="3995928"/>
            <a:ext cx="219456" cy="0"/>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2829702" y="3703320"/>
            <a:ext cx="2006742" cy="1234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939430" y="3813048"/>
            <a:ext cx="365760" cy="365760"/>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39430" y="3813048"/>
            <a:ext cx="36576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250" b="1">
                <a:solidFill>
                  <a:srgbClr val="FFFFFF"/>
                </a:solidFill>
                <a:latin typeface="Arial"/>
              </a:rPr>
              <a:t>7</a:t>
            </a:r>
          </a:p>
        </p:txBody>
      </p:sp>
      <p:sp>
        <p:nvSpPr>
          <p:cNvPr id="39" name="TextBox 38"/>
          <p:cNvSpPr txBox="1"/>
          <p:nvPr/>
        </p:nvSpPr>
        <p:spPr>
          <a:xfrm>
            <a:off x="2957718" y="4233672"/>
            <a:ext cx="1750710" cy="630936"/>
          </a:xfrm>
          <a:prstGeom prst="rect">
            <a:avLst/>
          </a:prstGeom>
          <a:noFill/>
        </p:spPr>
        <p:txBody>
          <a:bodyPr wrap="square" anchor="t" lIns="0" rIns="0" tIns="0" bIns="0">
            <a:noAutofit/>
          </a:bodyPr>
          <a:lstStyle/>
          <a:p>
            <a:pPr algn="l">
              <a:lnSpc>
                <a:spcPct val="108000"/>
              </a:lnSpc>
              <a:spcBef>
                <a:spcPts val="0"/>
              </a:spcBef>
              <a:spcAft>
                <a:spcPts val="600"/>
              </a:spcAft>
            </a:pPr>
            <a:r>
              <a:rPr sz="1000" b="0">
                <a:solidFill>
                  <a:srgbClr val="1B2733"/>
                </a:solidFill>
                <a:latin typeface="Arial"/>
              </a:rPr>
              <a:t>Assess blast radius (dependencies)</a:t>
            </a:r>
          </a:p>
        </p:txBody>
      </p:sp>
      <p:cxnSp>
        <p:nvCxnSpPr>
          <p:cNvPr id="40" name="Connector 39"/>
          <p:cNvCxnSpPr/>
          <p:nvPr/>
        </p:nvCxnSpPr>
        <p:spPr>
          <a:xfrm>
            <a:off x="4854732" y="3995928"/>
            <a:ext cx="219456" cy="0"/>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092476" y="3703320"/>
            <a:ext cx="2006742" cy="1234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202204" y="3813048"/>
            <a:ext cx="365760" cy="365760"/>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02204" y="3813048"/>
            <a:ext cx="36576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250" b="1">
                <a:solidFill>
                  <a:srgbClr val="FFFFFF"/>
                </a:solidFill>
                <a:latin typeface="Arial"/>
              </a:rPr>
              <a:t>8</a:t>
            </a:r>
          </a:p>
        </p:txBody>
      </p:sp>
      <p:sp>
        <p:nvSpPr>
          <p:cNvPr id="44" name="TextBox 43"/>
          <p:cNvSpPr txBox="1"/>
          <p:nvPr/>
        </p:nvSpPr>
        <p:spPr>
          <a:xfrm>
            <a:off x="5220492" y="4233672"/>
            <a:ext cx="1750710" cy="630936"/>
          </a:xfrm>
          <a:prstGeom prst="rect">
            <a:avLst/>
          </a:prstGeom>
          <a:noFill/>
        </p:spPr>
        <p:txBody>
          <a:bodyPr wrap="square" anchor="t" lIns="0" rIns="0" tIns="0" bIns="0">
            <a:noAutofit/>
          </a:bodyPr>
          <a:lstStyle/>
          <a:p>
            <a:pPr algn="l">
              <a:lnSpc>
                <a:spcPct val="108000"/>
              </a:lnSpc>
              <a:spcBef>
                <a:spcPts val="0"/>
              </a:spcBef>
              <a:spcAft>
                <a:spcPts val="600"/>
              </a:spcAft>
            </a:pPr>
            <a:r>
              <a:rPr sz="1000" b="0">
                <a:solidFill>
                  <a:srgbClr val="1B2733"/>
                </a:solidFill>
                <a:latin typeface="Arial"/>
              </a:rPr>
              <a:t>Check recent deploys → rule in/out</a:t>
            </a:r>
          </a:p>
        </p:txBody>
      </p:sp>
      <p:cxnSp>
        <p:nvCxnSpPr>
          <p:cNvPr id="45" name="Connector 44"/>
          <p:cNvCxnSpPr/>
          <p:nvPr/>
        </p:nvCxnSpPr>
        <p:spPr>
          <a:xfrm>
            <a:off x="7117506" y="3995928"/>
            <a:ext cx="219456" cy="0"/>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7355250" y="3703320"/>
            <a:ext cx="2006742" cy="1234440"/>
          </a:xfrm>
          <a:prstGeom prst="roundRect">
            <a:avLst>
              <a:gd name="adj" fmla="val 4500"/>
            </a:avLst>
          </a:prstGeom>
          <a:solidFill>
            <a:srgbClr val="FFEBDA"/>
          </a:solidFill>
          <a:ln w="1270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464978" y="3813048"/>
            <a:ext cx="365760" cy="365760"/>
          </a:xfrm>
          <a:prstGeom prst="ellipse">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64978" y="3813048"/>
            <a:ext cx="36576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250" b="1">
                <a:solidFill>
                  <a:srgbClr val="FFFFFF"/>
                </a:solidFill>
                <a:latin typeface="Arial"/>
              </a:rPr>
              <a:t>9</a:t>
            </a:r>
          </a:p>
        </p:txBody>
      </p:sp>
      <p:sp>
        <p:nvSpPr>
          <p:cNvPr id="49" name="TextBox 48"/>
          <p:cNvSpPr txBox="1"/>
          <p:nvPr/>
        </p:nvSpPr>
        <p:spPr>
          <a:xfrm>
            <a:off x="7483266" y="4233672"/>
            <a:ext cx="1750710" cy="630936"/>
          </a:xfrm>
          <a:prstGeom prst="rect">
            <a:avLst/>
          </a:prstGeom>
          <a:noFill/>
        </p:spPr>
        <p:txBody>
          <a:bodyPr wrap="square" anchor="t" lIns="0" rIns="0" tIns="0" bIns="0">
            <a:noAutofit/>
          </a:bodyPr>
          <a:lstStyle/>
          <a:p>
            <a:pPr algn="l">
              <a:lnSpc>
                <a:spcPct val="108000"/>
              </a:lnSpc>
              <a:spcBef>
                <a:spcPts val="0"/>
              </a:spcBef>
              <a:spcAft>
                <a:spcPts val="600"/>
              </a:spcAft>
            </a:pPr>
            <a:r>
              <a:rPr sz="1000" b="1">
                <a:solidFill>
                  <a:srgbClr val="C85A00"/>
                </a:solidFill>
                <a:latin typeface="Arial"/>
              </a:rPr>
              <a:t>Propose runbook → WAIT for approval</a:t>
            </a:r>
          </a:p>
        </p:txBody>
      </p:sp>
      <p:cxnSp>
        <p:nvCxnSpPr>
          <p:cNvPr id="50" name="Connector 49"/>
          <p:cNvCxnSpPr/>
          <p:nvPr/>
        </p:nvCxnSpPr>
        <p:spPr>
          <a:xfrm>
            <a:off x="9380280" y="3995928"/>
            <a:ext cx="219456" cy="0"/>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9618024" y="3703320"/>
            <a:ext cx="2006742" cy="1234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727752" y="3813048"/>
            <a:ext cx="365760" cy="365760"/>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27752" y="3813048"/>
            <a:ext cx="36576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250" b="1">
                <a:solidFill>
                  <a:srgbClr val="FFFFFF"/>
                </a:solidFill>
                <a:latin typeface="Arial"/>
              </a:rPr>
              <a:t>10</a:t>
            </a:r>
          </a:p>
        </p:txBody>
      </p:sp>
      <p:sp>
        <p:nvSpPr>
          <p:cNvPr id="54" name="TextBox 53"/>
          <p:cNvSpPr txBox="1"/>
          <p:nvPr/>
        </p:nvSpPr>
        <p:spPr>
          <a:xfrm>
            <a:off x="9746040" y="4233672"/>
            <a:ext cx="1750710" cy="630936"/>
          </a:xfrm>
          <a:prstGeom prst="rect">
            <a:avLst/>
          </a:prstGeom>
          <a:noFill/>
        </p:spPr>
        <p:txBody>
          <a:bodyPr wrap="square" anchor="t" lIns="0" rIns="0" tIns="0" bIns="0">
            <a:noAutofit/>
          </a:bodyPr>
          <a:lstStyle/>
          <a:p>
            <a:pPr algn="l">
              <a:lnSpc>
                <a:spcPct val="108000"/>
              </a:lnSpc>
              <a:spcBef>
                <a:spcPts val="0"/>
              </a:spcBef>
              <a:spcAft>
                <a:spcPts val="600"/>
              </a:spcAft>
            </a:pPr>
            <a:r>
              <a:rPr sz="1000" b="0">
                <a:solidFill>
                  <a:srgbClr val="1B2733"/>
                </a:solidFill>
                <a:latin typeface="Arial"/>
              </a:rPr>
              <a:t>Remediate + write postmortem</a:t>
            </a:r>
          </a:p>
        </p:txBody>
      </p:sp>
      <p:cxnSp>
        <p:nvCxnSpPr>
          <p:cNvPr id="55" name="Connector 54"/>
          <p:cNvCxnSpPr/>
          <p:nvPr/>
        </p:nvCxnSpPr>
        <p:spPr>
          <a:xfrm>
            <a:off x="10621396" y="3227832"/>
            <a:ext cx="0" cy="448055"/>
          </a:xfrm>
          <a:prstGeom prst="line">
            <a:avLst/>
          </a:prstGeom>
          <a:ln w="1651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66928" y="3246120"/>
            <a:ext cx="8685336" cy="411480"/>
          </a:xfrm>
          <a:prstGeom prst="rect">
            <a:avLst/>
          </a:prstGeom>
          <a:noFill/>
        </p:spPr>
        <p:txBody>
          <a:bodyPr wrap="square" anchor="ctr" lIns="0" rIns="0" tIns="0" bIns="0">
            <a:noAutofit/>
          </a:bodyPr>
          <a:lstStyle/>
          <a:p>
            <a:pPr algn="r">
              <a:lnSpc>
                <a:spcPct val="100000"/>
              </a:lnSpc>
              <a:spcBef>
                <a:spcPts val="0"/>
              </a:spcBef>
              <a:spcAft>
                <a:spcPts val="600"/>
              </a:spcAft>
            </a:pPr>
            <a:r>
              <a:rPr sz="1050" b="0">
                <a:solidFill>
                  <a:srgbClr val="6B7885"/>
                </a:solidFill>
                <a:latin typeface="Arial"/>
              </a:rPr>
              <a:t>One OTel trace spans the entire investigation — the agent is observable in the same stack it uses.</a:t>
            </a:r>
          </a:p>
        </p:txBody>
      </p:sp>
      <p:sp>
        <p:nvSpPr>
          <p:cNvPr id="57" name="TextBox 56"/>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58" name="TextBox 57"/>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17  /  48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LEVEL 0 · SHARED</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WSO2 Agent Manager's role</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74519"/>
            <a:ext cx="3472586" cy="246888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74519"/>
            <a:ext cx="347258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167127"/>
            <a:ext cx="3070250" cy="640080"/>
          </a:xfrm>
          <a:prstGeom prst="rect">
            <a:avLst/>
          </a:prstGeom>
          <a:noFill/>
        </p:spPr>
        <p:txBody>
          <a:bodyPr wrap="square" anchor="t" lIns="0" rIns="0" tIns="0" bIns="0">
            <a:noAutofit/>
          </a:bodyPr>
          <a:lstStyle/>
          <a:p>
            <a:pPr algn="l">
              <a:lnSpc>
                <a:spcPct val="100000"/>
              </a:lnSpc>
              <a:spcBef>
                <a:spcPts val="0"/>
              </a:spcBef>
              <a:spcAft>
                <a:spcPts val="600"/>
              </a:spcAft>
            </a:pPr>
            <a:r>
              <a:rPr sz="1400" b="1">
                <a:solidFill>
                  <a:srgbClr val="FF7300"/>
                </a:solidFill>
                <a:latin typeface="Arial"/>
              </a:rPr>
              <a:t>◆ Runtime &amp; governance</a:t>
            </a:r>
          </a:p>
        </p:txBody>
      </p:sp>
      <p:sp>
        <p:nvSpPr>
          <p:cNvPr id="10" name="TextBox 9"/>
          <p:cNvSpPr txBox="1"/>
          <p:nvPr/>
        </p:nvSpPr>
        <p:spPr>
          <a:xfrm>
            <a:off x="768096" y="2788920"/>
            <a:ext cx="3070250" cy="1417320"/>
          </a:xfrm>
          <a:prstGeom prst="rect">
            <a:avLst/>
          </a:prstGeom>
          <a:noFill/>
        </p:spPr>
        <p:txBody>
          <a:bodyPr wrap="square" anchor="t" lIns="0" rIns="0" tIns="0" bIns="0">
            <a:noAutofit/>
          </a:bodyPr>
          <a:lstStyle/>
          <a:p>
            <a:pPr algn="l">
              <a:lnSpc>
                <a:spcPct val="120000"/>
              </a:lnSpc>
              <a:spcBef>
                <a:spcPts val="0"/>
              </a:spcBef>
              <a:spcAft>
                <a:spcPts val="600"/>
              </a:spcAft>
            </a:pPr>
            <a:r>
              <a:rPr sz="1150" b="0">
                <a:solidFill>
                  <a:srgbClr val="3E4C59"/>
                </a:solidFill>
                <a:latin typeface="Arial"/>
              </a:rPr>
              <a:t>Hosts the agent as a platform-managed workload from a Git project. Lifecycle, identity, and policy live here.</a:t>
            </a:r>
          </a:p>
        </p:txBody>
      </p:sp>
      <p:sp>
        <p:nvSpPr>
          <p:cNvPr id="11" name="Rounded Rectangle 10"/>
          <p:cNvSpPr/>
          <p:nvPr/>
        </p:nvSpPr>
        <p:spPr>
          <a:xfrm>
            <a:off x="4359554" y="1874519"/>
            <a:ext cx="3472586" cy="246888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9554" y="1874519"/>
            <a:ext cx="3472586" cy="914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0722" y="2167127"/>
            <a:ext cx="3070250" cy="640080"/>
          </a:xfrm>
          <a:prstGeom prst="rect">
            <a:avLst/>
          </a:prstGeom>
          <a:noFill/>
        </p:spPr>
        <p:txBody>
          <a:bodyPr wrap="square" anchor="t" lIns="0" rIns="0" tIns="0" bIns="0">
            <a:noAutofit/>
          </a:bodyPr>
          <a:lstStyle/>
          <a:p>
            <a:pPr algn="l">
              <a:lnSpc>
                <a:spcPct val="100000"/>
              </a:lnSpc>
              <a:spcBef>
                <a:spcPts val="0"/>
              </a:spcBef>
              <a:spcAft>
                <a:spcPts val="600"/>
              </a:spcAft>
            </a:pPr>
            <a:r>
              <a:rPr sz="1400" b="1">
                <a:solidFill>
                  <a:srgbClr val="0E8FA8"/>
                </a:solidFill>
                <a:latin typeface="Arial"/>
              </a:rPr>
              <a:t>◆ AI gateway</a:t>
            </a:r>
          </a:p>
        </p:txBody>
      </p:sp>
      <p:sp>
        <p:nvSpPr>
          <p:cNvPr id="14" name="TextBox 13"/>
          <p:cNvSpPr txBox="1"/>
          <p:nvPr/>
        </p:nvSpPr>
        <p:spPr>
          <a:xfrm>
            <a:off x="4560722" y="2788920"/>
            <a:ext cx="3070250" cy="1417320"/>
          </a:xfrm>
          <a:prstGeom prst="rect">
            <a:avLst/>
          </a:prstGeom>
          <a:noFill/>
        </p:spPr>
        <p:txBody>
          <a:bodyPr wrap="square" anchor="t" lIns="0" rIns="0" tIns="0" bIns="0">
            <a:noAutofit/>
          </a:bodyPr>
          <a:lstStyle/>
          <a:p>
            <a:pPr algn="l">
              <a:lnSpc>
                <a:spcPct val="120000"/>
              </a:lnSpc>
              <a:spcBef>
                <a:spcPts val="0"/>
              </a:spcBef>
              <a:spcAft>
                <a:spcPts val="600"/>
              </a:spcAft>
            </a:pPr>
            <a:r>
              <a:rPr sz="1150" b="0">
                <a:solidFill>
                  <a:srgbClr val="3E4C59"/>
                </a:solidFill>
                <a:latin typeface="Arial"/>
              </a:rPr>
              <a:t>All LLM traffic can route through AMP for rate-limiting, quota, model routing, and model-level audit — injected by config.</a:t>
            </a:r>
          </a:p>
        </p:txBody>
      </p:sp>
      <p:sp>
        <p:nvSpPr>
          <p:cNvPr id="15" name="Rounded Rectangle 14"/>
          <p:cNvSpPr/>
          <p:nvPr/>
        </p:nvSpPr>
        <p:spPr>
          <a:xfrm>
            <a:off x="8152180" y="1874519"/>
            <a:ext cx="3472586" cy="246888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52180" y="1874519"/>
            <a:ext cx="3472586" cy="9144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3348" y="2167127"/>
            <a:ext cx="3070250" cy="640080"/>
          </a:xfrm>
          <a:prstGeom prst="rect">
            <a:avLst/>
          </a:prstGeom>
          <a:noFill/>
        </p:spPr>
        <p:txBody>
          <a:bodyPr wrap="square" anchor="t" lIns="0" rIns="0" tIns="0" bIns="0">
            <a:noAutofit/>
          </a:bodyPr>
          <a:lstStyle/>
          <a:p>
            <a:pPr algn="l">
              <a:lnSpc>
                <a:spcPct val="100000"/>
              </a:lnSpc>
              <a:spcBef>
                <a:spcPts val="0"/>
              </a:spcBef>
              <a:spcAft>
                <a:spcPts val="600"/>
              </a:spcAft>
            </a:pPr>
            <a:r>
              <a:rPr sz="1400" b="1">
                <a:solidFill>
                  <a:srgbClr val="6A4CE0"/>
                </a:solidFill>
                <a:latin typeface="Arial"/>
              </a:rPr>
              <a:t>◆ Self-observability</a:t>
            </a:r>
          </a:p>
        </p:txBody>
      </p:sp>
      <p:sp>
        <p:nvSpPr>
          <p:cNvPr id="18" name="TextBox 17"/>
          <p:cNvSpPr txBox="1"/>
          <p:nvPr/>
        </p:nvSpPr>
        <p:spPr>
          <a:xfrm>
            <a:off x="8353348" y="2788920"/>
            <a:ext cx="3070250" cy="1417320"/>
          </a:xfrm>
          <a:prstGeom prst="rect">
            <a:avLst/>
          </a:prstGeom>
          <a:noFill/>
        </p:spPr>
        <p:txBody>
          <a:bodyPr wrap="square" anchor="t" lIns="0" rIns="0" tIns="0" bIns="0">
            <a:noAutofit/>
          </a:bodyPr>
          <a:lstStyle/>
          <a:p>
            <a:pPr algn="l">
              <a:lnSpc>
                <a:spcPct val="120000"/>
              </a:lnSpc>
              <a:spcBef>
                <a:spcPts val="0"/>
              </a:spcBef>
              <a:spcAft>
                <a:spcPts val="600"/>
              </a:spcAft>
            </a:pPr>
            <a:r>
              <a:rPr sz="1150" b="0">
                <a:solidFill>
                  <a:srgbClr val="3E4C59"/>
                </a:solidFill>
                <a:latin typeface="Arial"/>
              </a:rPr>
              <a:t>The agent's own spans — reasoning, tool calls, token use, latency — flow through the same collector. Detect runaway agents.</a:t>
            </a:r>
          </a:p>
        </p:txBody>
      </p:sp>
      <p:sp>
        <p:nvSpPr>
          <p:cNvPr id="19" name="Rounded Rectangle 18"/>
          <p:cNvSpPr/>
          <p:nvPr/>
        </p:nvSpPr>
        <p:spPr>
          <a:xfrm>
            <a:off x="566928" y="4572000"/>
            <a:ext cx="11057839" cy="1051560"/>
          </a:xfrm>
          <a:prstGeom prst="roundRect">
            <a:avLst>
              <a:gd name="adj" fmla="val 45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572000"/>
            <a:ext cx="91440" cy="1051560"/>
          </a:xfrm>
          <a:prstGeom prst="rect">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700016"/>
            <a:ext cx="10673791" cy="795527"/>
          </a:xfrm>
          <a:prstGeom prst="rect">
            <a:avLst/>
          </a:prstGeom>
          <a:noFill/>
        </p:spPr>
        <p:txBody>
          <a:bodyPr wrap="square" anchor="ctr" lIns="0" rIns="0" tIns="0" bIns="0">
            <a:noAutofit/>
          </a:bodyPr>
          <a:lstStyle/>
          <a:p>
            <a:pPr algn="l">
              <a:lnSpc>
                <a:spcPct val="100000"/>
              </a:lnSpc>
              <a:spcBef>
                <a:spcPts val="0"/>
              </a:spcBef>
              <a:spcAft>
                <a:spcPts val="300"/>
              </a:spcAft>
            </a:pPr>
            <a:r>
              <a:rPr sz="1150" b="1">
                <a:solidFill>
                  <a:srgbClr val="1B2733"/>
                </a:solidFill>
                <a:latin typeface="Arial"/>
              </a:rPr>
              <a:t>◆  Honest scoping for tonight</a:t>
            </a:r>
          </a:p>
          <a:p>
            <a:pPr algn="l">
              <a:lnSpc>
                <a:spcPct val="112000"/>
              </a:lnSpc>
              <a:spcBef>
                <a:spcPts val="0"/>
              </a:spcBef>
              <a:spcAft>
                <a:spcPts val="0"/>
              </a:spcAft>
            </a:pPr>
            <a:r>
              <a:rPr sz="1050" b="0">
                <a:solidFill>
                  <a:srgbClr val="3E4C59"/>
                </a:solidFill>
                <a:latin typeface="Arial"/>
              </a:rPr>
              <a:t>In Solution 1 (Ballerina) AMP is the agent runtime. In Solution 2 (LangChain) the agents run as plain processes and AMP appears only as an optional LLM gateway. AMP is the enterprise governance plane — not a hard dependency of the POC.</a:t>
            </a:r>
          </a:p>
        </p:txBody>
      </p:sp>
      <p:sp>
        <p:nvSpPr>
          <p:cNvPr id="22" name="TextBox 21"/>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3" name="TextBox 22"/>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18  /  48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LEVEL 0 · SHARED</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No lock-in: the model is a config flag</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2558719" cy="2377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920240"/>
            <a:ext cx="2558719" cy="603504"/>
          </a:xfrm>
          <a:prstGeom prst="roundRect">
            <a:avLst>
              <a:gd name="adj" fmla="val 6000"/>
            </a:avLst>
          </a:prstGeom>
          <a:solidFill>
            <a:srgbClr val="E0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286000"/>
            <a:ext cx="2558719" cy="237744"/>
          </a:xfrm>
          <a:prstGeom prst="rect">
            <a:avLst/>
          </a:prstGeom>
          <a:solidFill>
            <a:srgbClr val="E0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975104"/>
            <a:ext cx="2266111" cy="548640"/>
          </a:xfrm>
          <a:prstGeom prst="rect">
            <a:avLst/>
          </a:prstGeom>
          <a:noFill/>
        </p:spPr>
        <p:txBody>
          <a:bodyPr wrap="square" anchor="ctr" lIns="0" rIns="0" tIns="0" bIns="0">
            <a:noAutofit/>
          </a:bodyPr>
          <a:lstStyle/>
          <a:p>
            <a:pPr algn="l">
              <a:lnSpc>
                <a:spcPct val="100000"/>
              </a:lnSpc>
              <a:spcBef>
                <a:spcPts val="0"/>
              </a:spcBef>
              <a:spcAft>
                <a:spcPts val="100"/>
              </a:spcAft>
            </a:pPr>
            <a:r>
              <a:rPr sz="1500" b="1">
                <a:solidFill>
                  <a:srgbClr val="1B2733"/>
                </a:solidFill>
                <a:latin typeface="Arial"/>
              </a:rPr>
              <a:t>Ollama</a:t>
            </a:r>
          </a:p>
          <a:p>
            <a:pPr algn="l">
              <a:lnSpc>
                <a:spcPct val="100000"/>
              </a:lnSpc>
              <a:spcBef>
                <a:spcPts val="0"/>
              </a:spcBef>
              <a:spcAft>
                <a:spcPts val="600"/>
              </a:spcAft>
            </a:pPr>
            <a:r>
              <a:rPr sz="750" b="1">
                <a:solidFill>
                  <a:srgbClr val="0E8FA8"/>
                </a:solidFill>
                <a:latin typeface="Arial"/>
              </a:rPr>
              <a:t>LOCAL · CREDS-FREE</a:t>
            </a:r>
          </a:p>
        </p:txBody>
      </p:sp>
      <p:sp>
        <p:nvSpPr>
          <p:cNvPr id="11" name="TextBox 10"/>
          <p:cNvSpPr txBox="1"/>
          <p:nvPr/>
        </p:nvSpPr>
        <p:spPr>
          <a:xfrm>
            <a:off x="713232" y="2697480"/>
            <a:ext cx="2266111" cy="1463040"/>
          </a:xfrm>
          <a:prstGeom prst="rect">
            <a:avLst/>
          </a:prstGeom>
          <a:noFill/>
        </p:spPr>
        <p:txBody>
          <a:bodyPr wrap="square" anchor="t" lIns="0" rIns="0" tIns="0" bIns="0">
            <a:noAutofit/>
          </a:bodyPr>
          <a:lstStyle/>
          <a:p>
            <a:pPr algn="l">
              <a:lnSpc>
                <a:spcPct val="100000"/>
              </a:lnSpc>
              <a:spcBef>
                <a:spcPts val="0"/>
              </a:spcBef>
              <a:spcAft>
                <a:spcPts val="600"/>
              </a:spcAft>
            </a:pPr>
            <a:r>
              <a:rPr sz="1100" b="1">
                <a:solidFill>
                  <a:srgbClr val="0E8FA8"/>
                </a:solidFill>
                <a:latin typeface="Consolas"/>
              </a:rPr>
              <a:t>qwen2.5 / qwen3.5 family</a:t>
            </a:r>
          </a:p>
          <a:p>
            <a:pPr algn="l">
              <a:lnSpc>
                <a:spcPct val="112000"/>
              </a:lnSpc>
              <a:spcBef>
                <a:spcPts val="0"/>
              </a:spcBef>
              <a:spcAft>
                <a:spcPts val="600"/>
              </a:spcAft>
            </a:pPr>
            <a:r>
              <a:rPr sz="1050" b="0">
                <a:solidFill>
                  <a:srgbClr val="3E4C59"/>
                </a:solidFill>
                <a:latin typeface="Arial"/>
              </a:rPr>
              <a:t>On-prem, zero cost, offline demo</a:t>
            </a:r>
          </a:p>
        </p:txBody>
      </p:sp>
      <p:sp>
        <p:nvSpPr>
          <p:cNvPr id="12" name="Rounded Rectangle 11"/>
          <p:cNvSpPr/>
          <p:nvPr/>
        </p:nvSpPr>
        <p:spPr>
          <a:xfrm>
            <a:off x="3399967" y="1920240"/>
            <a:ext cx="2558719" cy="2377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99967" y="1920240"/>
            <a:ext cx="2558719" cy="603504"/>
          </a:xfrm>
          <a:prstGeom prst="roundRect">
            <a:avLst>
              <a:gd name="adj" fmla="val 60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9967" y="2286000"/>
            <a:ext cx="2558719" cy="237744"/>
          </a:xfrm>
          <a:prstGeom prst="rect">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6271" y="1975104"/>
            <a:ext cx="2266111" cy="548640"/>
          </a:xfrm>
          <a:prstGeom prst="rect">
            <a:avLst/>
          </a:prstGeom>
          <a:noFill/>
        </p:spPr>
        <p:txBody>
          <a:bodyPr wrap="square" anchor="ctr" lIns="0" rIns="0" tIns="0" bIns="0">
            <a:noAutofit/>
          </a:bodyPr>
          <a:lstStyle/>
          <a:p>
            <a:pPr algn="l">
              <a:lnSpc>
                <a:spcPct val="100000"/>
              </a:lnSpc>
              <a:spcBef>
                <a:spcPts val="0"/>
              </a:spcBef>
              <a:spcAft>
                <a:spcPts val="100"/>
              </a:spcAft>
            </a:pPr>
            <a:r>
              <a:rPr sz="1500" b="1">
                <a:solidFill>
                  <a:srgbClr val="1B2733"/>
                </a:solidFill>
                <a:latin typeface="Arial"/>
              </a:rPr>
              <a:t>Anthropic</a:t>
            </a:r>
          </a:p>
          <a:p>
            <a:pPr algn="l">
              <a:lnSpc>
                <a:spcPct val="100000"/>
              </a:lnSpc>
              <a:spcBef>
                <a:spcPts val="0"/>
              </a:spcBef>
              <a:spcAft>
                <a:spcPts val="600"/>
              </a:spcAft>
            </a:pPr>
            <a:r>
              <a:rPr sz="750" b="1">
                <a:solidFill>
                  <a:srgbClr val="FF7300"/>
                </a:solidFill>
                <a:latin typeface="Arial"/>
              </a:rPr>
              <a:t>CLOUD</a:t>
            </a:r>
          </a:p>
        </p:txBody>
      </p:sp>
      <p:sp>
        <p:nvSpPr>
          <p:cNvPr id="16" name="TextBox 15"/>
          <p:cNvSpPr txBox="1"/>
          <p:nvPr/>
        </p:nvSpPr>
        <p:spPr>
          <a:xfrm>
            <a:off x="3546271" y="2697480"/>
            <a:ext cx="2266111" cy="1463040"/>
          </a:xfrm>
          <a:prstGeom prst="rect">
            <a:avLst/>
          </a:prstGeom>
          <a:noFill/>
        </p:spPr>
        <p:txBody>
          <a:bodyPr wrap="square" anchor="t" lIns="0" rIns="0" tIns="0" bIns="0">
            <a:noAutofit/>
          </a:bodyPr>
          <a:lstStyle/>
          <a:p>
            <a:pPr algn="l">
              <a:lnSpc>
                <a:spcPct val="100000"/>
              </a:lnSpc>
              <a:spcBef>
                <a:spcPts val="0"/>
              </a:spcBef>
              <a:spcAft>
                <a:spcPts val="600"/>
              </a:spcAft>
            </a:pPr>
            <a:r>
              <a:rPr sz="1100" b="1">
                <a:solidFill>
                  <a:srgbClr val="FF7300"/>
                </a:solidFill>
                <a:latin typeface="Consolas"/>
              </a:rPr>
              <a:t>claude-sonnet-4-6</a:t>
            </a:r>
          </a:p>
          <a:p>
            <a:pPr algn="l">
              <a:lnSpc>
                <a:spcPct val="112000"/>
              </a:lnSpc>
              <a:spcBef>
                <a:spcPts val="0"/>
              </a:spcBef>
              <a:spcAft>
                <a:spcPts val="600"/>
              </a:spcAft>
            </a:pPr>
            <a:r>
              <a:rPr sz="1050" b="0">
                <a:solidFill>
                  <a:srgbClr val="3E4C59"/>
                </a:solidFill>
                <a:latin typeface="Arial"/>
              </a:rPr>
              <a:t>Fastest, highest-quality tool use</a:t>
            </a:r>
          </a:p>
        </p:txBody>
      </p:sp>
      <p:sp>
        <p:nvSpPr>
          <p:cNvPr id="17" name="Rounded Rectangle 16"/>
          <p:cNvSpPr/>
          <p:nvPr/>
        </p:nvSpPr>
        <p:spPr>
          <a:xfrm>
            <a:off x="6233007" y="1920240"/>
            <a:ext cx="2558719" cy="2377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33007" y="1920240"/>
            <a:ext cx="2558719" cy="603504"/>
          </a:xfrm>
          <a:prstGeom prst="roundRect">
            <a:avLst>
              <a:gd name="adj" fmla="val 6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2286000"/>
            <a:ext cx="2558719" cy="237744"/>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9311" y="1975104"/>
            <a:ext cx="2266111" cy="548640"/>
          </a:xfrm>
          <a:prstGeom prst="rect">
            <a:avLst/>
          </a:prstGeom>
          <a:noFill/>
        </p:spPr>
        <p:txBody>
          <a:bodyPr wrap="square" anchor="ctr" lIns="0" rIns="0" tIns="0" bIns="0">
            <a:noAutofit/>
          </a:bodyPr>
          <a:lstStyle/>
          <a:p>
            <a:pPr algn="l">
              <a:lnSpc>
                <a:spcPct val="100000"/>
              </a:lnSpc>
              <a:spcBef>
                <a:spcPts val="0"/>
              </a:spcBef>
              <a:spcAft>
                <a:spcPts val="100"/>
              </a:spcAft>
            </a:pPr>
            <a:r>
              <a:rPr sz="1500" b="1">
                <a:solidFill>
                  <a:srgbClr val="1B2733"/>
                </a:solidFill>
                <a:latin typeface="Arial"/>
              </a:rPr>
              <a:t>OpenAI</a:t>
            </a:r>
          </a:p>
          <a:p>
            <a:pPr algn="l">
              <a:lnSpc>
                <a:spcPct val="100000"/>
              </a:lnSpc>
              <a:spcBef>
                <a:spcPts val="0"/>
              </a:spcBef>
              <a:spcAft>
                <a:spcPts val="600"/>
              </a:spcAft>
            </a:pPr>
            <a:r>
              <a:rPr sz="750" b="1">
                <a:solidFill>
                  <a:srgbClr val="1B2733"/>
                </a:solidFill>
                <a:latin typeface="Arial"/>
              </a:rPr>
              <a:t>CLOUD</a:t>
            </a:r>
          </a:p>
        </p:txBody>
      </p:sp>
      <p:sp>
        <p:nvSpPr>
          <p:cNvPr id="21" name="TextBox 20"/>
          <p:cNvSpPr txBox="1"/>
          <p:nvPr/>
        </p:nvSpPr>
        <p:spPr>
          <a:xfrm>
            <a:off x="6379311" y="2697480"/>
            <a:ext cx="2266111" cy="1463040"/>
          </a:xfrm>
          <a:prstGeom prst="rect">
            <a:avLst/>
          </a:prstGeom>
          <a:noFill/>
        </p:spPr>
        <p:txBody>
          <a:bodyPr wrap="square" anchor="t" lIns="0" rIns="0" tIns="0" bIns="0">
            <a:noAutofit/>
          </a:bodyPr>
          <a:lstStyle/>
          <a:p>
            <a:pPr algn="l">
              <a:lnSpc>
                <a:spcPct val="100000"/>
              </a:lnSpc>
              <a:spcBef>
                <a:spcPts val="0"/>
              </a:spcBef>
              <a:spcAft>
                <a:spcPts val="600"/>
              </a:spcAft>
            </a:pPr>
            <a:r>
              <a:rPr sz="1100" b="1">
                <a:solidFill>
                  <a:srgbClr val="1B2733"/>
                </a:solidFill>
                <a:latin typeface="Consolas"/>
              </a:rPr>
              <a:t>gpt-4o</a:t>
            </a:r>
          </a:p>
          <a:p>
            <a:pPr algn="l">
              <a:lnSpc>
                <a:spcPct val="112000"/>
              </a:lnSpc>
              <a:spcBef>
                <a:spcPts val="0"/>
              </a:spcBef>
              <a:spcAft>
                <a:spcPts val="600"/>
              </a:spcAft>
            </a:pPr>
            <a:r>
              <a:rPr sz="1050" b="0">
                <a:solidFill>
                  <a:srgbClr val="3E4C59"/>
                </a:solidFill>
                <a:latin typeface="Arial"/>
              </a:rPr>
              <a:t>Alternative managed provider</a:t>
            </a:r>
          </a:p>
        </p:txBody>
      </p:sp>
      <p:sp>
        <p:nvSpPr>
          <p:cNvPr id="22" name="Rounded Rectangle 21"/>
          <p:cNvSpPr/>
          <p:nvPr/>
        </p:nvSpPr>
        <p:spPr>
          <a:xfrm>
            <a:off x="9066047" y="1920240"/>
            <a:ext cx="2558719" cy="23774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66047" y="1920240"/>
            <a:ext cx="2558719" cy="603504"/>
          </a:xfrm>
          <a:prstGeom prst="roundRect">
            <a:avLst>
              <a:gd name="adj" fmla="val 6000"/>
            </a:avLst>
          </a:prstGeom>
          <a:solidFill>
            <a:srgbClr val="EC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66047" y="2286000"/>
            <a:ext cx="2558719" cy="237744"/>
          </a:xfrm>
          <a:prstGeom prst="rect">
            <a:avLst/>
          </a:prstGeom>
          <a:solidFill>
            <a:srgbClr val="EC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12351" y="1975104"/>
            <a:ext cx="2266111" cy="548640"/>
          </a:xfrm>
          <a:prstGeom prst="rect">
            <a:avLst/>
          </a:prstGeom>
          <a:noFill/>
        </p:spPr>
        <p:txBody>
          <a:bodyPr wrap="square" anchor="ctr" lIns="0" rIns="0" tIns="0" bIns="0">
            <a:noAutofit/>
          </a:bodyPr>
          <a:lstStyle/>
          <a:p>
            <a:pPr algn="l">
              <a:lnSpc>
                <a:spcPct val="100000"/>
              </a:lnSpc>
              <a:spcBef>
                <a:spcPts val="0"/>
              </a:spcBef>
              <a:spcAft>
                <a:spcPts val="100"/>
              </a:spcAft>
            </a:pPr>
            <a:r>
              <a:rPr sz="1500" b="1">
                <a:solidFill>
                  <a:srgbClr val="1B2733"/>
                </a:solidFill>
                <a:latin typeface="Arial"/>
              </a:rPr>
              <a:t>WSO2 AMP</a:t>
            </a:r>
          </a:p>
          <a:p>
            <a:pPr algn="l">
              <a:lnSpc>
                <a:spcPct val="100000"/>
              </a:lnSpc>
              <a:spcBef>
                <a:spcPts val="0"/>
              </a:spcBef>
              <a:spcAft>
                <a:spcPts val="600"/>
              </a:spcAft>
            </a:pPr>
            <a:r>
              <a:rPr sz="750" b="1">
                <a:solidFill>
                  <a:srgbClr val="6A4CE0"/>
                </a:solidFill>
                <a:latin typeface="Arial"/>
              </a:rPr>
              <a:t>ENTERPRISE GATEWAY</a:t>
            </a:r>
          </a:p>
        </p:txBody>
      </p:sp>
      <p:sp>
        <p:nvSpPr>
          <p:cNvPr id="26" name="TextBox 25"/>
          <p:cNvSpPr txBox="1"/>
          <p:nvPr/>
        </p:nvSpPr>
        <p:spPr>
          <a:xfrm>
            <a:off x="9212351" y="2697480"/>
            <a:ext cx="2266111" cy="1463040"/>
          </a:xfrm>
          <a:prstGeom prst="rect">
            <a:avLst/>
          </a:prstGeom>
          <a:noFill/>
        </p:spPr>
        <p:txBody>
          <a:bodyPr wrap="square" anchor="t" lIns="0" rIns="0" tIns="0" bIns="0">
            <a:noAutofit/>
          </a:bodyPr>
          <a:lstStyle/>
          <a:p>
            <a:pPr algn="l">
              <a:lnSpc>
                <a:spcPct val="100000"/>
              </a:lnSpc>
              <a:spcBef>
                <a:spcPts val="0"/>
              </a:spcBef>
              <a:spcAft>
                <a:spcPts val="600"/>
              </a:spcAft>
            </a:pPr>
            <a:r>
              <a:rPr sz="1100" b="1">
                <a:solidFill>
                  <a:srgbClr val="6A4CE0"/>
                </a:solidFill>
                <a:latin typeface="Consolas"/>
              </a:rPr>
              <a:t>OpenAI-compatible</a:t>
            </a:r>
          </a:p>
          <a:p>
            <a:pPr algn="l">
              <a:lnSpc>
                <a:spcPct val="112000"/>
              </a:lnSpc>
              <a:spcBef>
                <a:spcPts val="0"/>
              </a:spcBef>
              <a:spcAft>
                <a:spcPts val="600"/>
              </a:spcAft>
            </a:pPr>
            <a:r>
              <a:rPr sz="1050" b="0">
                <a:solidFill>
                  <a:srgbClr val="3E4C59"/>
                </a:solidFill>
                <a:latin typeface="Arial"/>
              </a:rPr>
              <a:t>Governed model access + audit</a:t>
            </a:r>
          </a:p>
        </p:txBody>
      </p:sp>
      <p:sp>
        <p:nvSpPr>
          <p:cNvPr id="27" name="TextBox 26"/>
          <p:cNvSpPr txBox="1"/>
          <p:nvPr/>
        </p:nvSpPr>
        <p:spPr>
          <a:xfrm>
            <a:off x="566928" y="4526280"/>
            <a:ext cx="11057839" cy="822960"/>
          </a:xfrm>
          <a:prstGeom prst="rect">
            <a:avLst/>
          </a:prstGeom>
          <a:noFill/>
        </p:spPr>
        <p:txBody>
          <a:bodyPr wrap="square" anchor="t" lIns="0" rIns="0" tIns="0" bIns="0">
            <a:noAutofit/>
          </a:bodyPr>
          <a:lstStyle/>
          <a:p>
            <a:pPr algn="ctr">
              <a:lnSpc>
                <a:spcPct val="100000"/>
              </a:lnSpc>
              <a:spcBef>
                <a:spcPts val="0"/>
              </a:spcBef>
              <a:spcAft>
                <a:spcPts val="600"/>
              </a:spcAft>
            </a:pPr>
            <a:r>
              <a:rPr sz="1300" b="1">
                <a:solidFill>
                  <a:srgbClr val="1B2733"/>
                </a:solidFill>
                <a:latin typeface="Arial"/>
              </a:rPr>
              <a:t>Switch with one variable:   </a:t>
            </a:r>
            <a:r>
              <a:rPr sz="1300" b="1">
                <a:solidFill>
                  <a:srgbClr val="C85A00"/>
                </a:solidFill>
                <a:latin typeface="Consolas"/>
              </a:rPr>
              <a:t>LLM_PROVIDER = ollama | anthropic | openai | amp</a:t>
            </a:r>
          </a:p>
          <a:p>
            <a:pPr algn="ctr">
              <a:lnSpc>
                <a:spcPct val="100000"/>
              </a:lnSpc>
              <a:spcBef>
                <a:spcPts val="400"/>
              </a:spcBef>
              <a:spcAft>
                <a:spcPts val="600"/>
              </a:spcAft>
            </a:pPr>
            <a:r>
              <a:rPr sz="1100" b="0">
                <a:solidFill>
                  <a:srgbClr val="6B7885"/>
                </a:solidFill>
                <a:latin typeface="Arial"/>
              </a:rPr>
              <a:t>The default demo runs fully offline on a local model — no vendor account required.</a:t>
            </a:r>
          </a:p>
        </p:txBody>
      </p:sp>
      <p:sp>
        <p:nvSpPr>
          <p:cNvPr id="28" name="TextBox 27"/>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9" name="TextBox 28"/>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19  /  48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685800"/>
            <a:ext cx="11057839" cy="457200"/>
          </a:xfrm>
          <a:prstGeom prst="rect">
            <a:avLst/>
          </a:prstGeom>
          <a:noFill/>
        </p:spPr>
        <p:txBody>
          <a:bodyPr wrap="square" anchor="t" lIns="0" rIns="0" tIns="0" bIns="0">
            <a:noAutofit/>
          </a:bodyPr>
          <a:lstStyle/>
          <a:p>
            <a:pPr algn="l">
              <a:lnSpc>
                <a:spcPct val="100000"/>
              </a:lnSpc>
              <a:spcBef>
                <a:spcPts val="0"/>
              </a:spcBef>
              <a:spcAft>
                <a:spcPts val="600"/>
              </a:spcAft>
            </a:pPr>
            <a:r>
              <a:rPr sz="1300" b="1">
                <a:solidFill>
                  <a:srgbClr val="FF7300"/>
                </a:solidFill>
                <a:latin typeface="Arial"/>
              </a:rPr>
              <a:t>THE FORK</a:t>
            </a:r>
          </a:p>
        </p:txBody>
      </p:sp>
      <p:sp>
        <p:nvSpPr>
          <p:cNvPr id="4" name="TextBox 3"/>
          <p:cNvSpPr txBox="1"/>
          <p:nvPr/>
        </p:nvSpPr>
        <p:spPr>
          <a:xfrm>
            <a:off x="566928" y="1051560"/>
            <a:ext cx="11057839" cy="914400"/>
          </a:xfrm>
          <a:prstGeom prst="rect">
            <a:avLst/>
          </a:prstGeom>
          <a:noFill/>
        </p:spPr>
        <p:txBody>
          <a:bodyPr wrap="square" anchor="t" lIns="0" rIns="0" tIns="0" bIns="0">
            <a:noAutofit/>
          </a:bodyPr>
          <a:lstStyle/>
          <a:p>
            <a:pPr algn="l">
              <a:lnSpc>
                <a:spcPct val="100000"/>
              </a:lnSpc>
              <a:spcBef>
                <a:spcPts val="0"/>
              </a:spcBef>
              <a:spcAft>
                <a:spcPts val="600"/>
              </a:spcAft>
            </a:pPr>
            <a:r>
              <a:rPr sz="3200" b="1">
                <a:solidFill>
                  <a:srgbClr val="FFFFFF"/>
                </a:solidFill>
                <a:latin typeface="Arial"/>
              </a:rPr>
              <a:t>Two roads to the same goal</a:t>
            </a:r>
          </a:p>
        </p:txBody>
      </p:sp>
      <p:sp>
        <p:nvSpPr>
          <p:cNvPr id="5" name="TextBox 4"/>
          <p:cNvSpPr txBox="1"/>
          <p:nvPr/>
        </p:nvSpPr>
        <p:spPr>
          <a:xfrm>
            <a:off x="566928" y="1874519"/>
            <a:ext cx="11057839" cy="548640"/>
          </a:xfrm>
          <a:prstGeom prst="rect">
            <a:avLst/>
          </a:prstGeom>
          <a:noFill/>
        </p:spPr>
        <p:txBody>
          <a:bodyPr wrap="square" anchor="t" lIns="0" rIns="0" tIns="0" bIns="0">
            <a:noAutofit/>
          </a:bodyPr>
          <a:lstStyle/>
          <a:p>
            <a:pPr algn="l">
              <a:lnSpc>
                <a:spcPct val="120000"/>
              </a:lnSpc>
              <a:spcBef>
                <a:spcPts val="0"/>
              </a:spcBef>
              <a:spcAft>
                <a:spcPts val="600"/>
              </a:spcAft>
            </a:pPr>
            <a:r>
              <a:rPr sz="1400" b="0">
                <a:solidFill>
                  <a:srgbClr val="AEBECD"/>
                </a:solidFill>
                <a:latin typeface="Arial"/>
              </a:rPr>
              <a:t>Everything so far is shared. Here's where the two solutions diverge — and it comes down to one question:</a:t>
            </a:r>
          </a:p>
        </p:txBody>
      </p:sp>
      <p:sp>
        <p:nvSpPr>
          <p:cNvPr id="6" name="Rounded Rectangle 5"/>
          <p:cNvSpPr/>
          <p:nvPr/>
        </p:nvSpPr>
        <p:spPr>
          <a:xfrm>
            <a:off x="566928" y="2606040"/>
            <a:ext cx="11057839" cy="777240"/>
          </a:xfrm>
          <a:prstGeom prst="roundRect">
            <a:avLst>
              <a:gd name="adj" fmla="val 6000"/>
            </a:avLst>
          </a:prstGeom>
          <a:solidFill>
            <a:srgbClr val="2037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06040"/>
            <a:ext cx="10509199" cy="777240"/>
          </a:xfrm>
          <a:prstGeom prst="rect">
            <a:avLst/>
          </a:prstGeom>
          <a:noFill/>
        </p:spPr>
        <p:txBody>
          <a:bodyPr wrap="square" anchor="ctr" lIns="0" rIns="0" tIns="0" bIns="0">
            <a:noAutofit/>
          </a:bodyPr>
          <a:lstStyle/>
          <a:p>
            <a:pPr algn="ctr">
              <a:lnSpc>
                <a:spcPct val="100000"/>
              </a:lnSpc>
              <a:spcBef>
                <a:spcPts val="0"/>
              </a:spcBef>
              <a:spcAft>
                <a:spcPts val="600"/>
              </a:spcAft>
            </a:pPr>
            <a:r>
              <a:rPr sz="1500" b="1">
                <a:solidFill>
                  <a:srgbClr val="FFFFFF"/>
                </a:solidFill>
                <a:latin typeface="Arial"/>
              </a:rPr>
              <a:t>Where do the topology/correlation tools live, and how do we keep the agent's context small?</a:t>
            </a:r>
          </a:p>
        </p:txBody>
      </p:sp>
      <p:sp>
        <p:nvSpPr>
          <p:cNvPr id="8" name="Rounded Rectangle 7"/>
          <p:cNvSpPr/>
          <p:nvPr/>
        </p:nvSpPr>
        <p:spPr>
          <a:xfrm>
            <a:off x="566928" y="3703320"/>
            <a:ext cx="5300319" cy="2331720"/>
          </a:xfrm>
          <a:prstGeom prst="roundRect">
            <a:avLst>
              <a:gd name="adj" fmla="val 4500"/>
            </a:avLst>
          </a:prstGeom>
          <a:solidFill>
            <a:srgbClr val="10333B"/>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5528" y="3904487"/>
            <a:ext cx="1554480" cy="274320"/>
          </a:xfrm>
          <a:prstGeom prst="roundRect">
            <a:avLst>
              <a:gd name="adj" fmla="val 50000"/>
            </a:avLst>
          </a:prstGeom>
          <a:solidFill>
            <a:srgbClr val="0A2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3904487"/>
            <a:ext cx="155448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0E8FA8"/>
                </a:solidFill>
                <a:latin typeface="Arial"/>
              </a:rPr>
              <a:t>SOLUTION 1</a:t>
            </a:r>
          </a:p>
        </p:txBody>
      </p:sp>
      <p:sp>
        <p:nvSpPr>
          <p:cNvPr id="11" name="TextBox 10"/>
          <p:cNvSpPr txBox="1"/>
          <p:nvPr/>
        </p:nvSpPr>
        <p:spPr>
          <a:xfrm>
            <a:off x="795528" y="4343400"/>
            <a:ext cx="4843119" cy="1554479"/>
          </a:xfrm>
          <a:prstGeom prst="rect">
            <a:avLst/>
          </a:prstGeom>
          <a:noFill/>
        </p:spPr>
        <p:txBody>
          <a:bodyPr wrap="square" anchor="t" lIns="0" rIns="0" tIns="0" bIns="0">
            <a:noAutofit/>
          </a:bodyPr>
          <a:lstStyle/>
          <a:p>
            <a:pPr algn="l">
              <a:lnSpc>
                <a:spcPct val="100000"/>
              </a:lnSpc>
              <a:spcBef>
                <a:spcPts val="0"/>
              </a:spcBef>
              <a:spcAft>
                <a:spcPts val="600"/>
              </a:spcAft>
            </a:pPr>
            <a:r>
              <a:rPr sz="1800" b="1">
                <a:solidFill>
                  <a:srgbClr val="FFFFFF"/>
                </a:solidFill>
                <a:latin typeface="Arial"/>
              </a:rPr>
              <a:t>Ballerina + MCP Proxy</a:t>
            </a:r>
          </a:p>
          <a:p>
            <a:pPr algn="l">
              <a:lnSpc>
                <a:spcPct val="125000"/>
              </a:lnSpc>
              <a:spcBef>
                <a:spcPts val="0"/>
              </a:spcBef>
              <a:spcAft>
                <a:spcPts val="600"/>
              </a:spcAft>
            </a:pPr>
            <a:r>
              <a:rPr sz="1200" b="0">
                <a:solidFill>
                  <a:srgbClr val="BFE3EA"/>
                </a:solidFill>
                <a:latin typeface="Arial"/>
              </a:rPr>
              <a:t>One agent talks to one MCP Proxy that federates the backends and lazy-loads their tools. Low-context by a server-side registry.</a:t>
            </a:r>
          </a:p>
        </p:txBody>
      </p:sp>
      <p:sp>
        <p:nvSpPr>
          <p:cNvPr id="12" name="Rounded Rectangle 11"/>
          <p:cNvSpPr/>
          <p:nvPr/>
        </p:nvSpPr>
        <p:spPr>
          <a:xfrm>
            <a:off x="6324447" y="3703320"/>
            <a:ext cx="5300319" cy="2331720"/>
          </a:xfrm>
          <a:prstGeom prst="roundRect">
            <a:avLst>
              <a:gd name="adj" fmla="val 4500"/>
            </a:avLst>
          </a:prstGeom>
          <a:solidFill>
            <a:srgbClr val="241E52"/>
          </a:solidFill>
          <a:ln w="1778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53047" y="3904487"/>
            <a:ext cx="1554480" cy="274320"/>
          </a:xfrm>
          <a:prstGeom prst="roundRect">
            <a:avLst>
              <a:gd name="adj" fmla="val 50000"/>
            </a:avLst>
          </a:prstGeom>
          <a:solidFill>
            <a:srgbClr val="1B1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3047" y="3904487"/>
            <a:ext cx="155448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B7A9F5"/>
                </a:solidFill>
                <a:latin typeface="Arial"/>
              </a:rPr>
              <a:t>SOLUTION 2</a:t>
            </a:r>
          </a:p>
        </p:txBody>
      </p:sp>
      <p:sp>
        <p:nvSpPr>
          <p:cNvPr id="15" name="TextBox 14"/>
          <p:cNvSpPr txBox="1"/>
          <p:nvPr/>
        </p:nvSpPr>
        <p:spPr>
          <a:xfrm>
            <a:off x="6553047" y="4343400"/>
            <a:ext cx="4843119" cy="1554479"/>
          </a:xfrm>
          <a:prstGeom prst="rect">
            <a:avLst/>
          </a:prstGeom>
          <a:noFill/>
        </p:spPr>
        <p:txBody>
          <a:bodyPr wrap="square" anchor="t" lIns="0" rIns="0" tIns="0" bIns="0">
            <a:noAutofit/>
          </a:bodyPr>
          <a:lstStyle/>
          <a:p>
            <a:pPr algn="l">
              <a:lnSpc>
                <a:spcPct val="100000"/>
              </a:lnSpc>
              <a:spcBef>
                <a:spcPts val="0"/>
              </a:spcBef>
              <a:spcAft>
                <a:spcPts val="600"/>
              </a:spcAft>
            </a:pPr>
            <a:r>
              <a:rPr sz="1800" b="1">
                <a:solidFill>
                  <a:srgbClr val="FFFFFF"/>
                </a:solidFill>
                <a:latin typeface="Arial"/>
              </a:rPr>
              <a:t>LangChain + A2A</a:t>
            </a:r>
          </a:p>
          <a:p>
            <a:pPr algn="l">
              <a:lnSpc>
                <a:spcPct val="125000"/>
              </a:lnSpc>
              <a:spcBef>
                <a:spcPts val="0"/>
              </a:spcBef>
              <a:spcAft>
                <a:spcPts val="600"/>
              </a:spcAft>
            </a:pPr>
            <a:r>
              <a:rPr sz="1200" b="0">
                <a:solidFill>
                  <a:srgbClr val="D6CEFB"/>
                </a:solidFill>
                <a:latin typeface="Arial"/>
              </a:rPr>
              <a:t>An orchestrator delegates to specialist agents over A2A. Low-context by decomposition — each specialist owns only its own small toolset.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53935" y="-320040"/>
            <a:ext cx="4572000" cy="3840480"/>
          </a:xfrm>
          <a:prstGeom prst="rect">
            <a:avLst/>
          </a:prstGeom>
          <a:noFill/>
        </p:spPr>
        <p:txBody>
          <a:bodyPr wrap="square" anchor="t" lIns="0" rIns="0" tIns="0" bIns="0">
            <a:noAutofit/>
          </a:bodyPr>
          <a:lstStyle/>
          <a:p>
            <a:pPr algn="r">
              <a:lnSpc>
                <a:spcPct val="100000"/>
              </a:lnSpc>
              <a:spcBef>
                <a:spcPts val="0"/>
              </a:spcBef>
              <a:spcAft>
                <a:spcPts val="600"/>
              </a:spcAft>
            </a:pPr>
            <a:r>
              <a:rPr sz="21000" b="1">
                <a:solidFill>
                  <a:srgbClr val="20374A"/>
                </a:solidFill>
                <a:latin typeface="Arial"/>
              </a:rPr>
              <a:t>03</a:t>
            </a:r>
          </a:p>
        </p:txBody>
      </p:sp>
      <p:sp>
        <p:nvSpPr>
          <p:cNvPr id="4" name="Rectangle 3"/>
          <p:cNvSpPr/>
          <p:nvPr/>
        </p:nvSpPr>
        <p:spPr>
          <a:xfrm>
            <a:off x="566928" y="2761488"/>
            <a:ext cx="822960" cy="100584"/>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99232"/>
            <a:ext cx="9601200" cy="365760"/>
          </a:xfrm>
          <a:prstGeom prst="rect">
            <a:avLst/>
          </a:prstGeom>
          <a:noFill/>
        </p:spPr>
        <p:txBody>
          <a:bodyPr wrap="square" anchor="t" lIns="0" rIns="0" tIns="0" bIns="0">
            <a:noAutofit/>
          </a:bodyPr>
          <a:lstStyle/>
          <a:p>
            <a:pPr algn="l">
              <a:lnSpc>
                <a:spcPct val="100000"/>
              </a:lnSpc>
              <a:spcBef>
                <a:spcPts val="0"/>
              </a:spcBef>
              <a:spcAft>
                <a:spcPts val="600"/>
              </a:spcAft>
            </a:pPr>
            <a:r>
              <a:rPr sz="1250" b="1">
                <a:solidFill>
                  <a:srgbClr val="0E8FA8"/>
                </a:solidFill>
                <a:latin typeface="Arial"/>
              </a:rPr>
              <a:t>SECTION</a:t>
            </a:r>
          </a:p>
        </p:txBody>
      </p:sp>
      <p:sp>
        <p:nvSpPr>
          <p:cNvPr id="6" name="TextBox 5"/>
          <p:cNvSpPr txBox="1"/>
          <p:nvPr/>
        </p:nvSpPr>
        <p:spPr>
          <a:xfrm>
            <a:off x="566928" y="3346704"/>
            <a:ext cx="10241280" cy="1554480"/>
          </a:xfrm>
          <a:prstGeom prst="rect">
            <a:avLst/>
          </a:prstGeom>
          <a:noFill/>
        </p:spPr>
        <p:txBody>
          <a:bodyPr wrap="square" anchor="t" lIns="0" rIns="0" tIns="0" bIns="0">
            <a:noAutofit/>
          </a:bodyPr>
          <a:lstStyle/>
          <a:p>
            <a:pPr algn="l">
              <a:lnSpc>
                <a:spcPct val="102000"/>
              </a:lnSpc>
              <a:spcBef>
                <a:spcPts val="0"/>
              </a:spcBef>
              <a:spcAft>
                <a:spcPts val="600"/>
              </a:spcAft>
            </a:pPr>
            <a:r>
              <a:rPr sz="4000" b="1">
                <a:solidFill>
                  <a:srgbClr val="FFFFFF"/>
                </a:solidFill>
                <a:latin typeface="Arial"/>
              </a:rPr>
              <a:t>Ballerina + MCP Proxy</a:t>
            </a:r>
          </a:p>
        </p:txBody>
      </p:sp>
      <p:sp>
        <p:nvSpPr>
          <p:cNvPr id="7" name="TextBox 6"/>
          <p:cNvSpPr txBox="1"/>
          <p:nvPr/>
        </p:nvSpPr>
        <p:spPr>
          <a:xfrm>
            <a:off x="566928" y="4937760"/>
            <a:ext cx="9692640" cy="1005840"/>
          </a:xfrm>
          <a:prstGeom prst="rect">
            <a:avLst/>
          </a:prstGeom>
          <a:noFill/>
        </p:spPr>
        <p:txBody>
          <a:bodyPr wrap="square" anchor="t" lIns="0" rIns="0" tIns="0" bIns="0">
            <a:noAutofit/>
          </a:bodyPr>
          <a:lstStyle/>
          <a:p>
            <a:pPr algn="l">
              <a:lnSpc>
                <a:spcPct val="115000"/>
              </a:lnSpc>
              <a:spcBef>
                <a:spcPts val="0"/>
              </a:spcBef>
              <a:spcAft>
                <a:spcPts val="600"/>
              </a:spcAft>
            </a:pPr>
            <a:r>
              <a:rPr sz="1500" b="0">
                <a:solidFill>
                  <a:srgbClr val="AEBECD"/>
                </a:solidFill>
                <a:latin typeface="Arial"/>
              </a:rPr>
              <a:t>One agent, one MCP endpoint that federates Splunk &amp; Datadog behind lazy-loaded tools.</a:t>
            </a:r>
          </a:p>
        </p:txBody>
      </p:sp>
      <p:sp>
        <p:nvSpPr>
          <p:cNvPr id="8" name="TextBox 7"/>
          <p:cNvSpPr txBox="1"/>
          <p:nvPr/>
        </p:nvSpPr>
        <p:spPr>
          <a:xfrm>
            <a:off x="566928" y="6272784"/>
            <a:ext cx="2194560" cy="457200"/>
          </a:xfrm>
          <a:prstGeom prst="rect">
            <a:avLst/>
          </a:prstGeom>
          <a:noFill/>
        </p:spPr>
        <p:txBody>
          <a:bodyPr wrap="square" anchor="ctr" lIns="0" rIns="0" tIns="0" bIns="0">
            <a:noAutofit/>
          </a:bodyPr>
          <a:lstStyle/>
          <a:p>
            <a:pPr algn="l">
              <a:lnSpc>
                <a:spcPct val="100000"/>
              </a:lnSpc>
              <a:spcBef>
                <a:spcPts val="0"/>
              </a:spcBef>
              <a:spcAft>
                <a:spcPts val="600"/>
              </a:spcAft>
            </a:pPr>
            <a:r>
              <a:rPr sz="1600" b="1">
                <a:solidFill>
                  <a:srgbClr val="FFFFFF"/>
                </a:solidFill>
                <a:latin typeface="Arial"/>
              </a:rPr>
              <a:t>wso</a:t>
            </a:r>
            <a:r>
              <a:rPr sz="1600" b="1">
                <a:solidFill>
                  <a:srgbClr val="FF7300"/>
                </a:solidFill>
                <a:latin typeface="Arial"/>
              </a:rPr>
              <a:t>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0E8FA8"/>
                </a:solidFill>
                <a:latin typeface="Arial"/>
              </a:rPr>
              <a:t>SOLUTION 1 · BALLERINA + MCP PROXY</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core idea</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5943600" cy="3474720"/>
          </a:xfrm>
          <a:prstGeom prst="rect">
            <a:avLst/>
          </a:prstGeom>
          <a:noFill/>
        </p:spPr>
        <p:txBody>
          <a:bodyPr wrap="square" anchor="t" lIns="0" rIns="0" tIns="0" bIns="0">
            <a:noAutofit/>
          </a:bodyPr>
          <a:lstStyle/>
          <a:p>
            <a:pPr algn="l" marL="256032" indent="-256032">
              <a:lnSpc>
                <a:spcPct val="106000"/>
              </a:lnSpc>
              <a:spcBef>
                <a:spcPts val="0"/>
              </a:spcBef>
              <a:spcAft>
                <a:spcPts val="1100"/>
              </a:spcAft>
              <a:buClr>
                <a:srgbClr val="0E8FA8"/>
              </a:buClr>
              <a:buFont typeface="Arial"/>
              <a:buChar char="▪"/>
            </a:pPr>
            <a:r>
              <a:rPr sz="1250" b="1">
                <a:solidFill>
                  <a:srgbClr val="0A6E82"/>
                </a:solidFill>
                <a:latin typeface="Arial"/>
              </a:rPr>
              <a:t>One agent, one endpoint.  </a:t>
            </a:r>
            <a:r>
              <a:rPr sz="1250" b="0">
                <a:solidFill>
                  <a:srgbClr val="1B2733"/>
                </a:solidFill>
                <a:latin typeface="Arial"/>
              </a:rPr>
              <a:t>The Ballerina agent connects to exactly one MCP server — the MCP Proxy on :8290. It never touches Splunk or Datadog directly.</a:t>
            </a:r>
          </a:p>
          <a:p>
            <a:pPr algn="l" marL="256032" indent="-256032">
              <a:lnSpc>
                <a:spcPct val="106000"/>
              </a:lnSpc>
              <a:spcBef>
                <a:spcPts val="0"/>
              </a:spcBef>
              <a:spcAft>
                <a:spcPts val="1100"/>
              </a:spcAft>
              <a:buClr>
                <a:srgbClr val="0E8FA8"/>
              </a:buClr>
              <a:buFont typeface="Arial"/>
              <a:buChar char="▪"/>
            </a:pPr>
            <a:r>
              <a:rPr sz="1250" b="1">
                <a:solidFill>
                  <a:srgbClr val="0A6E82"/>
                </a:solidFill>
                <a:latin typeface="Arial"/>
              </a:rPr>
              <a:t>The proxy federates.  </a:t>
            </a:r>
            <a:r>
              <a:rPr sz="1250" b="0">
                <a:solidFill>
                  <a:srgbClr val="1B2733"/>
                </a:solidFill>
                <a:latin typeface="Arial"/>
              </a:rPr>
              <a:t>Behind that one endpoint it fans out to the Splunk and Datadog MCP backends and adds local topology, correlation, and runbook tools.</a:t>
            </a:r>
          </a:p>
          <a:p>
            <a:pPr algn="l" marL="256032" indent="-256032">
              <a:lnSpc>
                <a:spcPct val="106000"/>
              </a:lnSpc>
              <a:spcBef>
                <a:spcPts val="0"/>
              </a:spcBef>
              <a:spcAft>
                <a:spcPts val="1100"/>
              </a:spcAft>
              <a:buClr>
                <a:srgbClr val="0E8FA8"/>
              </a:buClr>
              <a:buFont typeface="Arial"/>
              <a:buChar char="▪"/>
            </a:pPr>
            <a:r>
              <a:rPr sz="1250" b="1">
                <a:solidFill>
                  <a:srgbClr val="0A6E82"/>
                </a:solidFill>
                <a:latin typeface="Arial"/>
              </a:rPr>
              <a:t>Small context by lazy loading.  </a:t>
            </a:r>
            <a:r>
              <a:rPr sz="1250" b="0">
                <a:solidFill>
                  <a:srgbClr val="1B2733"/>
                </a:solidFill>
                <a:latin typeface="Arial"/>
              </a:rPr>
              <a:t>The proxy hides the big vendor tool manifests in a server-side registry and reveals only what the agent asks for.</a:t>
            </a:r>
          </a:p>
          <a:p>
            <a:pPr algn="l" marL="256032" indent="-256032">
              <a:lnSpc>
                <a:spcPct val="106000"/>
              </a:lnSpc>
              <a:spcBef>
                <a:spcPts val="0"/>
              </a:spcBef>
              <a:spcAft>
                <a:spcPts val="1100"/>
              </a:spcAft>
              <a:buClr>
                <a:srgbClr val="0E8FA8"/>
              </a:buClr>
              <a:buFont typeface="Arial"/>
              <a:buChar char="▪"/>
            </a:pPr>
            <a:r>
              <a:rPr sz="1250" b="1">
                <a:solidFill>
                  <a:srgbClr val="0A6E82"/>
                </a:solidFill>
                <a:latin typeface="Arial"/>
              </a:rPr>
              <a:t>Full-stack Ballerina.  </a:t>
            </a:r>
            <a:r>
              <a:rPr sz="1250" b="0">
                <a:solidFill>
                  <a:srgbClr val="1B2733"/>
                </a:solidFill>
                <a:latin typeface="Arial"/>
              </a:rPr>
              <a:t>Agent, proxy, mock backends, and the 7-service mesh are all Ballerina 2201.13.3 — one language, one build.</a:t>
            </a:r>
          </a:p>
        </p:txBody>
      </p:sp>
      <p:sp>
        <p:nvSpPr>
          <p:cNvPr id="8" name="Rounded Rectangle 7"/>
          <p:cNvSpPr/>
          <p:nvPr/>
        </p:nvSpPr>
        <p:spPr>
          <a:xfrm>
            <a:off x="6922008" y="1828800"/>
            <a:ext cx="4702759" cy="1371600"/>
          </a:xfrm>
          <a:prstGeom prst="roundRect">
            <a:avLst>
              <a:gd name="adj" fmla="val 4500"/>
            </a:avLst>
          </a:prstGeom>
          <a:solidFill>
            <a:srgbClr val="E0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22008" y="1828800"/>
            <a:ext cx="91440" cy="137160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59752" y="1956816"/>
            <a:ext cx="4318711" cy="1115568"/>
          </a:xfrm>
          <a:prstGeom prst="rect">
            <a:avLst/>
          </a:prstGeom>
          <a:noFill/>
        </p:spPr>
        <p:txBody>
          <a:bodyPr wrap="square" anchor="ctr" lIns="0" rIns="0" tIns="0" bIns="0">
            <a:noAutofit/>
          </a:bodyPr>
          <a:lstStyle/>
          <a:p>
            <a:pPr algn="l">
              <a:lnSpc>
                <a:spcPct val="100000"/>
              </a:lnSpc>
              <a:spcBef>
                <a:spcPts val="0"/>
              </a:spcBef>
              <a:spcAft>
                <a:spcPts val="300"/>
              </a:spcAft>
            </a:pPr>
            <a:r>
              <a:rPr sz="1250" b="1">
                <a:solidFill>
                  <a:srgbClr val="0E8FA8"/>
                </a:solidFill>
                <a:latin typeface="Arial"/>
              </a:rPr>
              <a:t>◆  The best-practice claim</a:t>
            </a:r>
          </a:p>
          <a:p>
            <a:pPr algn="l">
              <a:lnSpc>
                <a:spcPct val="112000"/>
              </a:lnSpc>
              <a:spcBef>
                <a:spcPts val="0"/>
              </a:spcBef>
              <a:spcAft>
                <a:spcPts val="0"/>
              </a:spcAft>
            </a:pPr>
            <a:r>
              <a:rPr sz="1050" b="0">
                <a:solidFill>
                  <a:srgbClr val="3E4C59"/>
                </a:solidFill>
                <a:latin typeface="Arial"/>
              </a:rPr>
              <a:t>Cross-system correlation is a single-context reasoning task. Keep it in ONE agent — federate the tools, don't fragment the reasoning.</a:t>
            </a:r>
          </a:p>
        </p:txBody>
      </p:sp>
      <p:sp>
        <p:nvSpPr>
          <p:cNvPr id="11" name="Rounded Rectangle 10"/>
          <p:cNvSpPr/>
          <p:nvPr/>
        </p:nvSpPr>
        <p:spPr>
          <a:xfrm>
            <a:off x="6922008" y="3429000"/>
            <a:ext cx="4702759" cy="105156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31736" y="3538728"/>
            <a:ext cx="4483303" cy="832103"/>
          </a:xfrm>
          <a:prstGeom prst="rect">
            <a:avLst/>
          </a:prstGeom>
          <a:noFill/>
        </p:spPr>
        <p:txBody>
          <a:bodyPr wrap="square" anchor="ctr" lIns="0" rIns="0" tIns="0" bIns="0">
            <a:noAutofit/>
          </a:bodyPr>
          <a:lstStyle/>
          <a:p>
            <a:pPr algn="ctr">
              <a:lnSpc>
                <a:spcPct val="100000"/>
              </a:lnSpc>
              <a:spcBef>
                <a:spcPts val="0"/>
              </a:spcBef>
              <a:spcAft>
                <a:spcPts val="200"/>
              </a:spcAft>
            </a:pPr>
            <a:r>
              <a:rPr sz="4000" b="1">
                <a:solidFill>
                  <a:srgbClr val="0E8FA8"/>
                </a:solidFill>
                <a:latin typeface="Arial"/>
              </a:rPr>
              <a:t>1</a:t>
            </a:r>
          </a:p>
          <a:p>
            <a:pPr algn="ctr">
              <a:lnSpc>
                <a:spcPct val="102000"/>
              </a:lnSpc>
              <a:spcBef>
                <a:spcPts val="0"/>
              </a:spcBef>
              <a:spcAft>
                <a:spcPts val="0"/>
              </a:spcAft>
            </a:pPr>
            <a:r>
              <a:rPr sz="1100" b="1">
                <a:solidFill>
                  <a:srgbClr val="1B2733"/>
                </a:solidFill>
                <a:latin typeface="Arial"/>
              </a:rPr>
              <a:t>MCP endpoint the agent sees</a:t>
            </a:r>
          </a:p>
        </p:txBody>
      </p:sp>
      <p:sp>
        <p:nvSpPr>
          <p:cNvPr id="13" name="Rounded Rectangle 12"/>
          <p:cNvSpPr/>
          <p:nvPr/>
        </p:nvSpPr>
        <p:spPr>
          <a:xfrm>
            <a:off x="6922008" y="4663440"/>
            <a:ext cx="2237079" cy="100584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31736" y="4773168"/>
            <a:ext cx="2017623" cy="786384"/>
          </a:xfrm>
          <a:prstGeom prst="rect">
            <a:avLst/>
          </a:prstGeom>
          <a:noFill/>
        </p:spPr>
        <p:txBody>
          <a:bodyPr wrap="square" anchor="ctr" lIns="0" rIns="0" tIns="0" bIns="0">
            <a:noAutofit/>
          </a:bodyPr>
          <a:lstStyle/>
          <a:p>
            <a:pPr algn="ctr">
              <a:lnSpc>
                <a:spcPct val="100000"/>
              </a:lnSpc>
              <a:spcBef>
                <a:spcPts val="0"/>
              </a:spcBef>
              <a:spcAft>
                <a:spcPts val="200"/>
              </a:spcAft>
            </a:pPr>
            <a:r>
              <a:rPr sz="2600" b="1">
                <a:solidFill>
                  <a:srgbClr val="1B2733"/>
                </a:solidFill>
                <a:latin typeface="Arial"/>
              </a:rPr>
              <a:t>12</a:t>
            </a:r>
          </a:p>
          <a:p>
            <a:pPr algn="ctr">
              <a:lnSpc>
                <a:spcPct val="102000"/>
              </a:lnSpc>
              <a:spcBef>
                <a:spcPts val="0"/>
              </a:spcBef>
              <a:spcAft>
                <a:spcPts val="0"/>
              </a:spcAft>
            </a:pPr>
            <a:r>
              <a:rPr sz="950" b="1">
                <a:solidFill>
                  <a:srgbClr val="1B2733"/>
                </a:solidFill>
                <a:latin typeface="Arial"/>
              </a:rPr>
              <a:t>topology tools</a:t>
            </a:r>
          </a:p>
        </p:txBody>
      </p:sp>
      <p:sp>
        <p:nvSpPr>
          <p:cNvPr id="15" name="Rounded Rectangle 14"/>
          <p:cNvSpPr/>
          <p:nvPr/>
        </p:nvSpPr>
        <p:spPr>
          <a:xfrm>
            <a:off x="9387687" y="4663440"/>
            <a:ext cx="2237079" cy="100584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97415" y="4773168"/>
            <a:ext cx="2017623" cy="786384"/>
          </a:xfrm>
          <a:prstGeom prst="rect">
            <a:avLst/>
          </a:prstGeom>
          <a:noFill/>
        </p:spPr>
        <p:txBody>
          <a:bodyPr wrap="square" anchor="ctr" lIns="0" rIns="0" tIns="0" bIns="0">
            <a:noAutofit/>
          </a:bodyPr>
          <a:lstStyle/>
          <a:p>
            <a:pPr algn="ctr">
              <a:lnSpc>
                <a:spcPct val="100000"/>
              </a:lnSpc>
              <a:spcBef>
                <a:spcPts val="0"/>
              </a:spcBef>
              <a:spcAft>
                <a:spcPts val="200"/>
              </a:spcAft>
            </a:pPr>
            <a:r>
              <a:rPr sz="2600" b="1">
                <a:solidFill>
                  <a:srgbClr val="1B2733"/>
                </a:solidFill>
                <a:latin typeface="Arial"/>
              </a:rPr>
              <a:t>1</a:t>
            </a:r>
          </a:p>
          <a:p>
            <a:pPr algn="ctr">
              <a:lnSpc>
                <a:spcPct val="102000"/>
              </a:lnSpc>
              <a:spcBef>
                <a:spcPts val="0"/>
              </a:spcBef>
              <a:spcAft>
                <a:spcPts val="0"/>
              </a:spcAft>
            </a:pPr>
            <a:r>
              <a:rPr sz="950" b="1">
                <a:solidFill>
                  <a:srgbClr val="1B2733"/>
                </a:solidFill>
                <a:latin typeface="Arial"/>
              </a:rPr>
              <a:t>language</a:t>
            </a:r>
          </a:p>
        </p:txBody>
      </p:sp>
      <p:sp>
        <p:nvSpPr>
          <p:cNvPr id="17" name="TextBox 16"/>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18" name="TextBox 17"/>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22  /  48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0E8FA8"/>
                </a:solidFill>
                <a:latin typeface="Arial"/>
              </a:rPr>
              <a:t>SOLUTION 1 · BALLERINA + MCP PROXY</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Architecture</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2926080"/>
            <a:ext cx="2286000" cy="1005840"/>
          </a:xfrm>
          <a:prstGeom prst="roundRect">
            <a:avLst>
              <a:gd name="adj" fmla="val 10000"/>
            </a:avLst>
          </a:prstGeom>
          <a:solidFill>
            <a:srgbClr val="1B2733"/>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62656"/>
            <a:ext cx="2139696" cy="932688"/>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FFFFFF"/>
                </a:solidFill>
                <a:latin typeface="Arial"/>
              </a:rPr>
              <a:t>DevOps Agent</a:t>
            </a:r>
          </a:p>
          <a:p>
            <a:pPr algn="ctr">
              <a:lnSpc>
                <a:spcPct val="102000"/>
              </a:lnSpc>
              <a:spcBef>
                <a:spcPts val="0"/>
              </a:spcBef>
              <a:spcAft>
                <a:spcPts val="0"/>
              </a:spcAft>
            </a:pPr>
            <a:r>
              <a:rPr sz="900" b="0">
                <a:solidFill>
                  <a:srgbClr val="AEBECD"/>
                </a:solidFill>
                <a:latin typeface="Arial"/>
              </a:rPr>
              <a:t>Ballerina · :8092</a:t>
            </a:r>
          </a:p>
        </p:txBody>
      </p:sp>
      <p:sp>
        <p:nvSpPr>
          <p:cNvPr id="9" name="Rounded Rectangle 8"/>
          <p:cNvSpPr/>
          <p:nvPr/>
        </p:nvSpPr>
        <p:spPr>
          <a:xfrm>
            <a:off x="3767328" y="2103120"/>
            <a:ext cx="3291840" cy="3108960"/>
          </a:xfrm>
          <a:prstGeom prst="roundRect">
            <a:avLst>
              <a:gd name="adj" fmla="val 4500"/>
            </a:avLst>
          </a:prstGeom>
          <a:solidFill>
            <a:srgbClr val="E0F1F5"/>
          </a:solidFill>
          <a:ln w="2032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950208" y="2267712"/>
            <a:ext cx="246888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50208" y="2267712"/>
            <a:ext cx="246888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0A6E82"/>
                </a:solidFill>
                <a:latin typeface="Arial"/>
              </a:rPr>
              <a:t>MCP PROXY  ·  :8290</a:t>
            </a:r>
          </a:p>
        </p:txBody>
      </p:sp>
      <p:sp>
        <p:nvSpPr>
          <p:cNvPr id="12" name="Rounded Rectangle 11"/>
          <p:cNvSpPr/>
          <p:nvPr/>
        </p:nvSpPr>
        <p:spPr>
          <a:xfrm>
            <a:off x="3995928" y="2697480"/>
            <a:ext cx="2834640" cy="566928"/>
          </a:xfrm>
          <a:prstGeom prst="roundRect">
            <a:avLst>
              <a:gd name="adj" fmla="val 10000"/>
            </a:avLst>
          </a:prstGeom>
          <a:solidFill>
            <a:srgbClr val="FFFFFF"/>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69080" y="2734056"/>
            <a:ext cx="2688336" cy="493776"/>
          </a:xfrm>
          <a:prstGeom prst="rect">
            <a:avLst/>
          </a:prstGeom>
          <a:noFill/>
        </p:spPr>
        <p:txBody>
          <a:bodyPr wrap="square" anchor="ctr" lIns="0" rIns="0" tIns="0" bIns="0">
            <a:noAutofit/>
          </a:bodyPr>
          <a:lstStyle/>
          <a:p>
            <a:pPr algn="ctr">
              <a:lnSpc>
                <a:spcPct val="100000"/>
              </a:lnSpc>
              <a:spcBef>
                <a:spcPts val="0"/>
              </a:spcBef>
              <a:spcAft>
                <a:spcPts val="0"/>
              </a:spcAft>
            </a:pPr>
            <a:r>
              <a:rPr sz="1100" b="1">
                <a:solidFill>
                  <a:srgbClr val="1B2733"/>
                </a:solidFill>
                <a:latin typeface="Arial"/>
              </a:rPr>
              <a:t>Federation + routing</a:t>
            </a:r>
          </a:p>
        </p:txBody>
      </p:sp>
      <p:sp>
        <p:nvSpPr>
          <p:cNvPr id="14" name="Rounded Rectangle 13"/>
          <p:cNvSpPr/>
          <p:nvPr/>
        </p:nvSpPr>
        <p:spPr>
          <a:xfrm>
            <a:off x="3995928" y="3355848"/>
            <a:ext cx="2834640" cy="566928"/>
          </a:xfrm>
          <a:prstGeom prst="roundRect">
            <a:avLst>
              <a:gd name="adj" fmla="val 10000"/>
            </a:avLst>
          </a:prstGeom>
          <a:solidFill>
            <a:srgbClr val="FFFFFF"/>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9080" y="3392424"/>
            <a:ext cx="2688336" cy="493776"/>
          </a:xfrm>
          <a:prstGeom prst="rect">
            <a:avLst/>
          </a:prstGeom>
          <a:noFill/>
        </p:spPr>
        <p:txBody>
          <a:bodyPr wrap="square" anchor="ctr" lIns="0" rIns="0" tIns="0" bIns="0">
            <a:noAutofit/>
          </a:bodyPr>
          <a:lstStyle/>
          <a:p>
            <a:pPr algn="ctr">
              <a:lnSpc>
                <a:spcPct val="100000"/>
              </a:lnSpc>
              <a:spcBef>
                <a:spcPts val="0"/>
              </a:spcBef>
              <a:spcAft>
                <a:spcPts val="0"/>
              </a:spcAft>
            </a:pPr>
            <a:r>
              <a:rPr sz="1100" b="1">
                <a:solidFill>
                  <a:srgbClr val="1B2733"/>
                </a:solidFill>
                <a:latin typeface="Arial"/>
              </a:rPr>
              <a:t>discover_tools (lazy)</a:t>
            </a:r>
          </a:p>
        </p:txBody>
      </p:sp>
      <p:sp>
        <p:nvSpPr>
          <p:cNvPr id="16" name="Rounded Rectangle 15"/>
          <p:cNvSpPr/>
          <p:nvPr/>
        </p:nvSpPr>
        <p:spPr>
          <a:xfrm>
            <a:off x="3995928" y="4014216"/>
            <a:ext cx="2834640" cy="566928"/>
          </a:xfrm>
          <a:prstGeom prst="roundRect">
            <a:avLst>
              <a:gd name="adj" fmla="val 10000"/>
            </a:avLst>
          </a:prstGeom>
          <a:solidFill>
            <a:srgbClr val="FFFFFF"/>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69080" y="4050792"/>
            <a:ext cx="2688336" cy="493776"/>
          </a:xfrm>
          <a:prstGeom prst="rect">
            <a:avLst/>
          </a:prstGeom>
          <a:noFill/>
        </p:spPr>
        <p:txBody>
          <a:bodyPr wrap="square" anchor="ctr" lIns="0" rIns="0" tIns="0" bIns="0">
            <a:noAutofit/>
          </a:bodyPr>
          <a:lstStyle/>
          <a:p>
            <a:pPr algn="ctr">
              <a:lnSpc>
                <a:spcPct val="100000"/>
              </a:lnSpc>
              <a:spcBef>
                <a:spcPts val="0"/>
              </a:spcBef>
              <a:spcAft>
                <a:spcPts val="0"/>
              </a:spcAft>
            </a:pPr>
            <a:r>
              <a:rPr sz="1000" b="1">
                <a:solidFill>
                  <a:srgbClr val="1B2733"/>
                </a:solidFill>
                <a:latin typeface="Arial"/>
              </a:rPr>
              <a:t>topology · correlation · runbooks</a:t>
            </a:r>
          </a:p>
        </p:txBody>
      </p:sp>
      <p:cxnSp>
        <p:nvCxnSpPr>
          <p:cNvPr id="18" name="Connector 17"/>
          <p:cNvCxnSpPr/>
          <p:nvPr/>
        </p:nvCxnSpPr>
        <p:spPr>
          <a:xfrm>
            <a:off x="2852928" y="3429000"/>
            <a:ext cx="914400" cy="0"/>
          </a:xfrm>
          <a:prstGeom prst="line">
            <a:avLst/>
          </a:prstGeom>
          <a:ln w="25400">
            <a:solidFill>
              <a:srgbClr val="1B2733"/>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852928" y="3035808"/>
            <a:ext cx="914400" cy="237744"/>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52928" y="3035808"/>
            <a:ext cx="914400" cy="237744"/>
          </a:xfrm>
          <a:prstGeom prst="rect">
            <a:avLst/>
          </a:prstGeom>
          <a:noFill/>
        </p:spPr>
        <p:txBody>
          <a:bodyPr wrap="square" anchor="ctr" lIns="0" rIns="0" tIns="0" bIns="0">
            <a:noAutofit/>
          </a:bodyPr>
          <a:lstStyle/>
          <a:p>
            <a:pPr algn="ctr">
              <a:lnSpc>
                <a:spcPct val="100000"/>
              </a:lnSpc>
              <a:spcBef>
                <a:spcPts val="0"/>
              </a:spcBef>
              <a:spcAft>
                <a:spcPts val="600"/>
              </a:spcAft>
            </a:pPr>
            <a:r>
              <a:rPr sz="850" b="1">
                <a:solidFill>
                  <a:srgbClr val="3E4C59"/>
                </a:solidFill>
                <a:latin typeface="Arial"/>
              </a:rPr>
              <a:t>one MCP
hop</a:t>
            </a:r>
          </a:p>
        </p:txBody>
      </p:sp>
      <p:sp>
        <p:nvSpPr>
          <p:cNvPr id="21" name="Rounded Rectangle 20"/>
          <p:cNvSpPr/>
          <p:nvPr/>
        </p:nvSpPr>
        <p:spPr>
          <a:xfrm>
            <a:off x="7607808" y="2423160"/>
            <a:ext cx="4016959" cy="914400"/>
          </a:xfrm>
          <a:prstGeom prst="roundRect">
            <a:avLst>
              <a:gd name="adj" fmla="val 10000"/>
            </a:avLst>
          </a:prstGeom>
          <a:solidFill>
            <a:srgbClr val="EAF4E1"/>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2459736"/>
            <a:ext cx="3870655" cy="841248"/>
          </a:xfrm>
          <a:prstGeom prst="rect">
            <a:avLst/>
          </a:prstGeom>
          <a:noFill/>
        </p:spPr>
        <p:txBody>
          <a:bodyPr wrap="square" anchor="ctr" lIns="0" rIns="0" tIns="0" bIns="0">
            <a:noAutofit/>
          </a:bodyPr>
          <a:lstStyle/>
          <a:p>
            <a:pPr algn="ctr">
              <a:lnSpc>
                <a:spcPct val="100000"/>
              </a:lnSpc>
              <a:spcBef>
                <a:spcPts val="0"/>
              </a:spcBef>
              <a:spcAft>
                <a:spcPts val="200"/>
              </a:spcAft>
            </a:pPr>
            <a:r>
              <a:rPr sz="750" b="1">
                <a:solidFill>
                  <a:srgbClr val="5AA82B"/>
                </a:solidFill>
                <a:latin typeface="Arial"/>
              </a:rPr>
              <a:t>SPLUNK BACKEND</a:t>
            </a:r>
          </a:p>
          <a:p>
            <a:pPr algn="ctr">
              <a:lnSpc>
                <a:spcPct val="100000"/>
              </a:lnSpc>
              <a:spcBef>
                <a:spcPts val="0"/>
              </a:spcBef>
              <a:spcAft>
                <a:spcPts val="200"/>
              </a:spcAft>
            </a:pPr>
            <a:r>
              <a:rPr sz="1200" b="1">
                <a:solidFill>
                  <a:srgbClr val="1B2733"/>
                </a:solidFill>
                <a:latin typeface="Arial"/>
              </a:rPr>
              <a:t>splunk-mock-mcp</a:t>
            </a:r>
          </a:p>
          <a:p>
            <a:pPr algn="ctr">
              <a:lnSpc>
                <a:spcPct val="102000"/>
              </a:lnSpc>
              <a:spcBef>
                <a:spcPts val="0"/>
              </a:spcBef>
              <a:spcAft>
                <a:spcPts val="0"/>
              </a:spcAft>
            </a:pPr>
            <a:r>
              <a:rPr sz="850" b="0">
                <a:solidFill>
                  <a:srgbClr val="6B7885"/>
                </a:solidFill>
                <a:latin typeface="Arial"/>
              </a:rPr>
              <a:t>logs · :8400  ·  4 tools</a:t>
            </a:r>
          </a:p>
        </p:txBody>
      </p:sp>
      <p:sp>
        <p:nvSpPr>
          <p:cNvPr id="23" name="Rounded Rectangle 22"/>
          <p:cNvSpPr/>
          <p:nvPr/>
        </p:nvSpPr>
        <p:spPr>
          <a:xfrm>
            <a:off x="7607808" y="3931920"/>
            <a:ext cx="4016959" cy="914400"/>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3968496"/>
            <a:ext cx="3870655" cy="841248"/>
          </a:xfrm>
          <a:prstGeom prst="rect">
            <a:avLst/>
          </a:prstGeom>
          <a:noFill/>
        </p:spPr>
        <p:txBody>
          <a:bodyPr wrap="square" anchor="ctr" lIns="0" rIns="0" tIns="0" bIns="0">
            <a:noAutofit/>
          </a:bodyPr>
          <a:lstStyle/>
          <a:p>
            <a:pPr algn="ctr">
              <a:lnSpc>
                <a:spcPct val="100000"/>
              </a:lnSpc>
              <a:spcBef>
                <a:spcPts val="0"/>
              </a:spcBef>
              <a:spcAft>
                <a:spcPts val="200"/>
              </a:spcAft>
            </a:pPr>
            <a:r>
              <a:rPr sz="750" b="1">
                <a:solidFill>
                  <a:srgbClr val="7A3FE4"/>
                </a:solidFill>
                <a:latin typeface="Arial"/>
              </a:rPr>
              <a:t>DATADOG BACKEND</a:t>
            </a:r>
          </a:p>
          <a:p>
            <a:pPr algn="ctr">
              <a:lnSpc>
                <a:spcPct val="100000"/>
              </a:lnSpc>
              <a:spcBef>
                <a:spcPts val="0"/>
              </a:spcBef>
              <a:spcAft>
                <a:spcPts val="200"/>
              </a:spcAft>
            </a:pPr>
            <a:r>
              <a:rPr sz="1200" b="1">
                <a:solidFill>
                  <a:srgbClr val="1B2733"/>
                </a:solidFill>
                <a:latin typeface="Arial"/>
              </a:rPr>
              <a:t>datadog-mock-mcp</a:t>
            </a:r>
          </a:p>
          <a:p>
            <a:pPr algn="ctr">
              <a:lnSpc>
                <a:spcPct val="102000"/>
              </a:lnSpc>
              <a:spcBef>
                <a:spcPts val="0"/>
              </a:spcBef>
              <a:spcAft>
                <a:spcPts val="0"/>
              </a:spcAft>
            </a:pPr>
            <a:r>
              <a:rPr sz="850" b="0">
                <a:solidFill>
                  <a:srgbClr val="6B7885"/>
                </a:solidFill>
                <a:latin typeface="Arial"/>
              </a:rPr>
              <a:t>metrics/traces · :8401  ·  8 tools</a:t>
            </a:r>
          </a:p>
        </p:txBody>
      </p:sp>
      <p:cxnSp>
        <p:nvCxnSpPr>
          <p:cNvPr id="25" name="Connector 24"/>
          <p:cNvCxnSpPr/>
          <p:nvPr/>
        </p:nvCxnSpPr>
        <p:spPr>
          <a:xfrm flipV="1">
            <a:off x="7059168" y="2880360"/>
            <a:ext cx="548640" cy="320040"/>
          </a:xfrm>
          <a:prstGeom prst="line">
            <a:avLst/>
          </a:prstGeom>
          <a:ln w="22860">
            <a:solidFill>
              <a:srgbClr val="5AA82B"/>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59168" y="4114800"/>
            <a:ext cx="548640" cy="274320"/>
          </a:xfrm>
          <a:prstGeom prst="line">
            <a:avLst/>
          </a:prstGeom>
          <a:ln w="22860">
            <a:solidFill>
              <a:srgbClr val="7A3FE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56248" y="3410712"/>
            <a:ext cx="1554480" cy="457200"/>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56248" y="3410712"/>
            <a:ext cx="1554480" cy="457200"/>
          </a:xfrm>
          <a:prstGeom prst="rect">
            <a:avLst/>
          </a:prstGeom>
          <a:noFill/>
        </p:spPr>
        <p:txBody>
          <a:bodyPr wrap="square" anchor="ctr" lIns="0" rIns="0" tIns="0" bIns="0">
            <a:noAutofit/>
          </a:bodyPr>
          <a:lstStyle/>
          <a:p>
            <a:pPr algn="ctr">
              <a:lnSpc>
                <a:spcPct val="100000"/>
              </a:lnSpc>
              <a:spcBef>
                <a:spcPts val="0"/>
              </a:spcBef>
              <a:spcAft>
                <a:spcPts val="600"/>
              </a:spcAft>
            </a:pPr>
            <a:r>
              <a:rPr sz="850" b="1">
                <a:solidFill>
                  <a:srgbClr val="3E4C59"/>
                </a:solidFill>
                <a:latin typeface="Arial"/>
              </a:rPr>
              <a:t>swap → live
vendor MCPs</a:t>
            </a:r>
          </a:p>
        </p:txBody>
      </p:sp>
      <p:sp>
        <p:nvSpPr>
          <p:cNvPr id="29" name="TextBox 28"/>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30" name="TextBox 29"/>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23  /  48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0E8FA8"/>
                </a:solidFill>
                <a:latin typeface="Arial"/>
              </a:rPr>
              <a:t>SOLUTION 1 · BALLERINA + MCP PROXY</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Why a proxy?</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74519"/>
            <a:ext cx="5391759" cy="155448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74519"/>
            <a:ext cx="91440" cy="155448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4934559" cy="1234440"/>
          </a:xfrm>
          <a:prstGeom prst="rect">
            <a:avLst/>
          </a:prstGeom>
          <a:noFill/>
        </p:spPr>
        <p:txBody>
          <a:bodyPr wrap="square" anchor="t" lIns="0" rIns="0" tIns="0" bIns="0">
            <a:noAutofit/>
          </a:bodyPr>
          <a:lstStyle/>
          <a:p>
            <a:pPr algn="l">
              <a:lnSpc>
                <a:spcPct val="100000"/>
              </a:lnSpc>
              <a:spcBef>
                <a:spcPts val="0"/>
              </a:spcBef>
              <a:spcAft>
                <a:spcPts val="500"/>
              </a:spcAft>
            </a:pPr>
            <a:r>
              <a:rPr sz="1450" b="1">
                <a:solidFill>
                  <a:srgbClr val="1B2733"/>
                </a:solidFill>
                <a:latin typeface="Arial"/>
              </a:rPr>
              <a:t>Small agent context</a:t>
            </a:r>
          </a:p>
          <a:p>
            <a:pPr algn="l">
              <a:lnSpc>
                <a:spcPct val="118000"/>
              </a:lnSpc>
              <a:spcBef>
                <a:spcPts val="0"/>
              </a:spcBef>
              <a:spcAft>
                <a:spcPts val="600"/>
              </a:spcAft>
            </a:pPr>
            <a:r>
              <a:rPr sz="1150" b="0">
                <a:solidFill>
                  <a:srgbClr val="3E4C59"/>
                </a:solidFill>
                <a:latin typeface="Arial"/>
              </a:rPr>
              <a:t>The vendor MCPs expose 50+ tools each. Injecting all of them would blow the context window. The proxy keeps them server-side.</a:t>
            </a:r>
          </a:p>
        </p:txBody>
      </p:sp>
      <p:sp>
        <p:nvSpPr>
          <p:cNvPr id="10" name="Rounded Rectangle 9"/>
          <p:cNvSpPr/>
          <p:nvPr/>
        </p:nvSpPr>
        <p:spPr>
          <a:xfrm>
            <a:off x="6233007" y="1874519"/>
            <a:ext cx="5391759" cy="155448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3007" y="1874519"/>
            <a:ext cx="91440" cy="155448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9039" y="2057400"/>
            <a:ext cx="4934559" cy="1234440"/>
          </a:xfrm>
          <a:prstGeom prst="rect">
            <a:avLst/>
          </a:prstGeom>
          <a:noFill/>
        </p:spPr>
        <p:txBody>
          <a:bodyPr wrap="square" anchor="t" lIns="0" rIns="0" tIns="0" bIns="0">
            <a:noAutofit/>
          </a:bodyPr>
          <a:lstStyle/>
          <a:p>
            <a:pPr algn="l">
              <a:lnSpc>
                <a:spcPct val="100000"/>
              </a:lnSpc>
              <a:spcBef>
                <a:spcPts val="0"/>
              </a:spcBef>
              <a:spcAft>
                <a:spcPts val="500"/>
              </a:spcAft>
            </a:pPr>
            <a:r>
              <a:rPr sz="1450" b="1">
                <a:solidFill>
                  <a:srgbClr val="1B2733"/>
                </a:solidFill>
                <a:latin typeface="Arial"/>
              </a:rPr>
              <a:t>Mock ⇄ live isolation</a:t>
            </a:r>
          </a:p>
          <a:p>
            <a:pPr algn="l">
              <a:lnSpc>
                <a:spcPct val="118000"/>
              </a:lnSpc>
              <a:spcBef>
                <a:spcPts val="0"/>
              </a:spcBef>
              <a:spcAft>
                <a:spcPts val="600"/>
              </a:spcAft>
            </a:pPr>
            <a:r>
              <a:rPr sz="1150" b="0">
                <a:solidFill>
                  <a:srgbClr val="3E4C59"/>
                </a:solidFill>
                <a:latin typeface="Arial"/>
              </a:rPr>
              <a:t>One env var on the proxy switches mock to SaaS. The agent is untouched, so you can stage a rollout safely.</a:t>
            </a:r>
          </a:p>
        </p:txBody>
      </p:sp>
      <p:sp>
        <p:nvSpPr>
          <p:cNvPr id="13" name="Rounded Rectangle 12"/>
          <p:cNvSpPr/>
          <p:nvPr/>
        </p:nvSpPr>
        <p:spPr>
          <a:xfrm>
            <a:off x="566928" y="3703320"/>
            <a:ext cx="5391759" cy="155448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703320"/>
            <a:ext cx="91440" cy="155448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886200"/>
            <a:ext cx="4934559" cy="1234440"/>
          </a:xfrm>
          <a:prstGeom prst="rect">
            <a:avLst/>
          </a:prstGeom>
          <a:noFill/>
        </p:spPr>
        <p:txBody>
          <a:bodyPr wrap="square" anchor="t" lIns="0" rIns="0" tIns="0" bIns="0">
            <a:noAutofit/>
          </a:bodyPr>
          <a:lstStyle/>
          <a:p>
            <a:pPr algn="l">
              <a:lnSpc>
                <a:spcPct val="100000"/>
              </a:lnSpc>
              <a:spcBef>
                <a:spcPts val="0"/>
              </a:spcBef>
              <a:spcAft>
                <a:spcPts val="500"/>
              </a:spcAft>
            </a:pPr>
            <a:r>
              <a:rPr sz="1450" b="1">
                <a:solidFill>
                  <a:srgbClr val="1B2733"/>
                </a:solidFill>
                <a:latin typeface="Arial"/>
              </a:rPr>
              <a:t>Single policy chokepoint</a:t>
            </a:r>
          </a:p>
          <a:p>
            <a:pPr algn="l">
              <a:lnSpc>
                <a:spcPct val="118000"/>
              </a:lnSpc>
              <a:spcBef>
                <a:spcPts val="0"/>
              </a:spcBef>
              <a:spcAft>
                <a:spcPts val="600"/>
              </a:spcAft>
            </a:pPr>
            <a:r>
              <a:rPr sz="1150" b="0">
                <a:solidFill>
                  <a:srgbClr val="3E4C59"/>
                </a:solidFill>
                <a:latin typeface="Arial"/>
              </a:rPr>
              <a:t>Routing, auth (via a gateway), and result hygiene get exactly one home instead of being smeared across the agent.</a:t>
            </a:r>
          </a:p>
        </p:txBody>
      </p:sp>
      <p:sp>
        <p:nvSpPr>
          <p:cNvPr id="16" name="Rounded Rectangle 15"/>
          <p:cNvSpPr/>
          <p:nvPr/>
        </p:nvSpPr>
        <p:spPr>
          <a:xfrm>
            <a:off x="6233007" y="3703320"/>
            <a:ext cx="5391759" cy="155448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3703320"/>
            <a:ext cx="91440" cy="1554480"/>
          </a:xfrm>
          <a:prstGeom prst="rect">
            <a:avLst/>
          </a:prstGeom>
          <a:solidFill>
            <a:srgbClr val="5A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9039" y="3886200"/>
            <a:ext cx="4934559" cy="1234440"/>
          </a:xfrm>
          <a:prstGeom prst="rect">
            <a:avLst/>
          </a:prstGeom>
          <a:noFill/>
        </p:spPr>
        <p:txBody>
          <a:bodyPr wrap="square" anchor="t" lIns="0" rIns="0" tIns="0" bIns="0">
            <a:noAutofit/>
          </a:bodyPr>
          <a:lstStyle/>
          <a:p>
            <a:pPr algn="l">
              <a:lnSpc>
                <a:spcPct val="100000"/>
              </a:lnSpc>
              <a:spcBef>
                <a:spcPts val="0"/>
              </a:spcBef>
              <a:spcAft>
                <a:spcPts val="500"/>
              </a:spcAft>
            </a:pPr>
            <a:r>
              <a:rPr sz="1450" b="1">
                <a:solidFill>
                  <a:srgbClr val="1B2733"/>
                </a:solidFill>
                <a:latin typeface="Arial"/>
              </a:rPr>
              <a:t>Fills the vendor gap</a:t>
            </a:r>
          </a:p>
          <a:p>
            <a:pPr algn="l">
              <a:lnSpc>
                <a:spcPct val="118000"/>
              </a:lnSpc>
              <a:spcBef>
                <a:spcPts val="0"/>
              </a:spcBef>
              <a:spcAft>
                <a:spcPts val="600"/>
              </a:spcAft>
            </a:pPr>
            <a:r>
              <a:rPr sz="1150" b="0">
                <a:solidFill>
                  <a:srgbClr val="3E4C59"/>
                </a:solidFill>
                <a:latin typeface="Arial"/>
              </a:rPr>
              <a:t>It's Ballerina, so it can also ACT — hit chaos endpoints, run runbooks — and it owns the catalog the vendors don't have.</a:t>
            </a:r>
          </a:p>
        </p:txBody>
      </p:sp>
      <p:sp>
        <p:nvSpPr>
          <p:cNvPr id="19" name="TextBox 18"/>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0" name="TextBox 19"/>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24  /  48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0E8FA8"/>
                </a:solidFill>
                <a:latin typeface="Arial"/>
              </a:rPr>
              <a:t>SOLUTION 1 · BALLERINA + MCP PROXY</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Lazy tool loading — the low-context pattern</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2057400"/>
            <a:ext cx="2468880" cy="960120"/>
          </a:xfrm>
          <a:prstGeom prst="roundRect">
            <a:avLst>
              <a:gd name="adj" fmla="val 10000"/>
            </a:avLst>
          </a:prstGeom>
          <a:solidFill>
            <a:srgbClr val="1B2733"/>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93976"/>
            <a:ext cx="2322576" cy="886968"/>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FFFFFF"/>
                </a:solidFill>
                <a:latin typeface="Arial"/>
              </a:rPr>
              <a:t>Agent</a:t>
            </a:r>
          </a:p>
          <a:p>
            <a:pPr algn="ctr">
              <a:lnSpc>
                <a:spcPct val="102000"/>
              </a:lnSpc>
              <a:spcBef>
                <a:spcPts val="0"/>
              </a:spcBef>
              <a:spcAft>
                <a:spcPts val="0"/>
              </a:spcAft>
            </a:pPr>
            <a:r>
              <a:rPr sz="900" b="0">
                <a:solidFill>
                  <a:srgbClr val="AEBECD"/>
                </a:solidFill>
                <a:latin typeface="Arial"/>
              </a:rPr>
              <a:t>tools/list</a:t>
            </a:r>
          </a:p>
        </p:txBody>
      </p:sp>
      <p:sp>
        <p:nvSpPr>
          <p:cNvPr id="9" name="Rounded Rectangle 8"/>
          <p:cNvSpPr/>
          <p:nvPr/>
        </p:nvSpPr>
        <p:spPr>
          <a:xfrm>
            <a:off x="3584448" y="2057400"/>
            <a:ext cx="3108960" cy="960120"/>
          </a:xfrm>
          <a:prstGeom prst="roundRect">
            <a:avLst>
              <a:gd name="adj" fmla="val 10000"/>
            </a:avLst>
          </a:prstGeom>
          <a:solidFill>
            <a:srgbClr val="E0F1F5"/>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2093976"/>
            <a:ext cx="2962656" cy="886968"/>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1B2733"/>
                </a:solidFill>
                <a:latin typeface="Arial"/>
              </a:rPr>
              <a:t>Proxy returns 12 tools</a:t>
            </a:r>
          </a:p>
          <a:p>
            <a:pPr algn="ctr">
              <a:lnSpc>
                <a:spcPct val="102000"/>
              </a:lnSpc>
              <a:spcBef>
                <a:spcPts val="0"/>
              </a:spcBef>
              <a:spcAft>
                <a:spcPts val="0"/>
              </a:spcAft>
            </a:pPr>
            <a:r>
              <a:rPr sz="850" b="0">
                <a:solidFill>
                  <a:srgbClr val="6B7885"/>
                </a:solidFill>
                <a:latin typeface="Arial"/>
              </a:rPr>
              <a:t>discover_tools + 11 topology</a:t>
            </a:r>
          </a:p>
        </p:txBody>
      </p:sp>
      <p:sp>
        <p:nvSpPr>
          <p:cNvPr id="11" name="Rounded Rectangle 10"/>
          <p:cNvSpPr/>
          <p:nvPr/>
        </p:nvSpPr>
        <p:spPr>
          <a:xfrm>
            <a:off x="7242048" y="2057400"/>
            <a:ext cx="4382719" cy="960120"/>
          </a:xfrm>
          <a:prstGeom prst="roundRect">
            <a:avLst>
              <a:gd name="adj" fmla="val 10000"/>
            </a:avLst>
          </a:prstGeom>
          <a:solidFill>
            <a:srgbClr val="F6F8FA"/>
          </a:solidFill>
          <a:ln w="17780">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2093976"/>
            <a:ext cx="4236415" cy="886968"/>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1B2733"/>
                </a:solidFill>
                <a:latin typeface="Arial"/>
              </a:rPr>
              <a:t>Registry (hidden)</a:t>
            </a:r>
          </a:p>
          <a:p>
            <a:pPr algn="ctr">
              <a:lnSpc>
                <a:spcPct val="102000"/>
              </a:lnSpc>
              <a:spcBef>
                <a:spcPts val="0"/>
              </a:spcBef>
              <a:spcAft>
                <a:spcPts val="0"/>
              </a:spcAft>
            </a:pPr>
            <a:r>
              <a:rPr sz="850" b="0">
                <a:solidFill>
                  <a:srgbClr val="6B7885"/>
                </a:solidFill>
                <a:latin typeface="Arial"/>
              </a:rPr>
              <a:t>21+ vendor tools, server-side</a:t>
            </a:r>
          </a:p>
        </p:txBody>
      </p:sp>
      <p:cxnSp>
        <p:nvCxnSpPr>
          <p:cNvPr id="13" name="Connector 12"/>
          <p:cNvCxnSpPr/>
          <p:nvPr/>
        </p:nvCxnSpPr>
        <p:spPr>
          <a:xfrm>
            <a:off x="3035808" y="2532888"/>
            <a:ext cx="548640" cy="0"/>
          </a:xfrm>
          <a:prstGeom prst="line">
            <a:avLst/>
          </a:prstGeom>
          <a:ln w="20320">
            <a:solidFill>
              <a:srgbClr val="1B2733"/>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693408" y="2532888"/>
            <a:ext cx="548640" cy="0"/>
          </a:xfrm>
          <a:prstGeom prst="line">
            <a:avLst/>
          </a:prstGeom>
          <a:ln w="20320">
            <a:solidFill>
              <a:srgbClr val="9AA5B1"/>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66928" y="3566160"/>
            <a:ext cx="2468880" cy="960120"/>
          </a:xfrm>
          <a:prstGeom prst="roundRect">
            <a:avLst>
              <a:gd name="adj" fmla="val 10000"/>
            </a:avLst>
          </a:prstGeom>
          <a:solidFill>
            <a:srgbClr val="1B2733"/>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02736"/>
            <a:ext cx="2322576" cy="886968"/>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FFFFFF"/>
                </a:solidFill>
                <a:latin typeface="Arial"/>
              </a:rPr>
              <a:t>Agent</a:t>
            </a:r>
          </a:p>
          <a:p>
            <a:pPr algn="ctr">
              <a:lnSpc>
                <a:spcPct val="102000"/>
              </a:lnSpc>
              <a:spcBef>
                <a:spcPts val="0"/>
              </a:spcBef>
              <a:spcAft>
                <a:spcPts val="0"/>
              </a:spcAft>
            </a:pPr>
            <a:r>
              <a:rPr sz="800" b="0">
                <a:solidFill>
                  <a:srgbClr val="AEBECD"/>
                </a:solidFill>
                <a:latin typeface="Arial"/>
              </a:rPr>
              <a:t>discover_tools("DD metric")</a:t>
            </a:r>
          </a:p>
        </p:txBody>
      </p:sp>
      <p:sp>
        <p:nvSpPr>
          <p:cNvPr id="17" name="Rounded Rectangle 16"/>
          <p:cNvSpPr/>
          <p:nvPr/>
        </p:nvSpPr>
        <p:spPr>
          <a:xfrm>
            <a:off x="3584448" y="3566160"/>
            <a:ext cx="3108960" cy="960120"/>
          </a:xfrm>
          <a:prstGeom prst="roundRect">
            <a:avLst>
              <a:gd name="adj" fmla="val 10000"/>
            </a:avLst>
          </a:prstGeom>
          <a:solidFill>
            <a:srgbClr val="FFEBDA"/>
          </a:solidFill>
          <a:ln w="1778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0" y="3602736"/>
            <a:ext cx="2962656" cy="886968"/>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1B2733"/>
                </a:solidFill>
                <a:latin typeface="Arial"/>
              </a:rPr>
              <a:t>Keyword scorer</a:t>
            </a:r>
          </a:p>
          <a:p>
            <a:pPr algn="ctr">
              <a:lnSpc>
                <a:spcPct val="102000"/>
              </a:lnSpc>
              <a:spcBef>
                <a:spcPts val="0"/>
              </a:spcBef>
              <a:spcAft>
                <a:spcPts val="0"/>
              </a:spcAft>
            </a:pPr>
            <a:r>
              <a:rPr sz="850" b="0">
                <a:solidFill>
                  <a:srgbClr val="6B7885"/>
                </a:solidFill>
                <a:latin typeface="Arial"/>
              </a:rPr>
              <a:t>top-5 matching manifests</a:t>
            </a:r>
          </a:p>
        </p:txBody>
      </p:sp>
      <p:sp>
        <p:nvSpPr>
          <p:cNvPr id="19" name="Rounded Rectangle 18"/>
          <p:cNvSpPr/>
          <p:nvPr/>
        </p:nvSpPr>
        <p:spPr>
          <a:xfrm>
            <a:off x="7242048" y="3566160"/>
            <a:ext cx="4382719" cy="960120"/>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3602736"/>
            <a:ext cx="4236415" cy="886968"/>
          </a:xfrm>
          <a:prstGeom prst="rect">
            <a:avLst/>
          </a:prstGeom>
          <a:noFill/>
        </p:spPr>
        <p:txBody>
          <a:bodyPr wrap="square" anchor="ctr" lIns="0" rIns="0" tIns="0" bIns="0">
            <a:noAutofit/>
          </a:bodyPr>
          <a:lstStyle/>
          <a:p>
            <a:pPr algn="ctr">
              <a:lnSpc>
                <a:spcPct val="100000"/>
              </a:lnSpc>
              <a:spcBef>
                <a:spcPts val="0"/>
              </a:spcBef>
              <a:spcAft>
                <a:spcPts val="200"/>
              </a:spcAft>
            </a:pPr>
            <a:r>
              <a:rPr sz="1150" b="1">
                <a:solidFill>
                  <a:srgbClr val="1B2733"/>
                </a:solidFill>
                <a:latin typeface="Arial"/>
              </a:rPr>
              <a:t>Agent absorbs schemas</a:t>
            </a:r>
          </a:p>
          <a:p>
            <a:pPr algn="ctr">
              <a:lnSpc>
                <a:spcPct val="102000"/>
              </a:lnSpc>
              <a:spcBef>
                <a:spcPts val="0"/>
              </a:spcBef>
              <a:spcAft>
                <a:spcPts val="0"/>
              </a:spcAft>
            </a:pPr>
            <a:r>
              <a:rPr sz="800" b="0">
                <a:solidFill>
                  <a:srgbClr val="6B7885"/>
                </a:solidFill>
                <a:latin typeface="Arial"/>
              </a:rPr>
              <a:t>calls datadog__get_datadog_metric</a:t>
            </a:r>
          </a:p>
        </p:txBody>
      </p:sp>
      <p:cxnSp>
        <p:nvCxnSpPr>
          <p:cNvPr id="21" name="Connector 20"/>
          <p:cNvCxnSpPr/>
          <p:nvPr/>
        </p:nvCxnSpPr>
        <p:spPr>
          <a:xfrm>
            <a:off x="3035808" y="4041648"/>
            <a:ext cx="548640" cy="0"/>
          </a:xfrm>
          <a:prstGeom prst="line">
            <a:avLst/>
          </a:prstGeom>
          <a:ln w="20320">
            <a:solidFill>
              <a:srgbClr val="1B2733"/>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693408" y="4041648"/>
            <a:ext cx="548640" cy="0"/>
          </a:xfrm>
          <a:prstGeom prst="line">
            <a:avLst/>
          </a:prstGeom>
          <a:ln w="20320">
            <a:solidFill>
              <a:srgbClr val="FF730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66928" y="4937760"/>
            <a:ext cx="11057839" cy="960120"/>
          </a:xfrm>
          <a:prstGeom prst="roundRect">
            <a:avLst>
              <a:gd name="adj" fmla="val 4500"/>
            </a:avLst>
          </a:prstGeom>
          <a:solidFill>
            <a:srgbClr val="FB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937760"/>
            <a:ext cx="91440" cy="960120"/>
          </a:xfrm>
          <a:prstGeom prst="rect">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5065776"/>
            <a:ext cx="10673791" cy="704088"/>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D98B22"/>
                </a:solidFill>
                <a:latin typeface="Arial"/>
              </a:rPr>
              <a:t>◆  POC honesty</a:t>
            </a:r>
          </a:p>
          <a:p>
            <a:pPr algn="l">
              <a:lnSpc>
                <a:spcPct val="112000"/>
              </a:lnSpc>
              <a:spcBef>
                <a:spcPts val="0"/>
              </a:spcBef>
              <a:spcAft>
                <a:spcPts val="0"/>
              </a:spcAft>
            </a:pPr>
            <a:r>
              <a:rPr sz="1050" b="0">
                <a:solidFill>
                  <a:srgbClr val="3E4C59"/>
                </a:solidFill>
                <a:latin typeface="Arial"/>
              </a:rPr>
              <a:t>Today the router is a keyword scorer — accurate enough at ~21 tools. Production swaps in a pgvector + embedding semantic router when the live MCPs bring 50+ tools each.</a:t>
            </a:r>
          </a:p>
        </p:txBody>
      </p:sp>
      <p:sp>
        <p:nvSpPr>
          <p:cNvPr id="26" name="TextBox 25"/>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7" name="TextBox 26"/>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25  /  48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0E8FA8"/>
                </a:solidFill>
                <a:latin typeface="Arial"/>
              </a:rPr>
              <a:t>SOLUTION 1 · BALLERINA + MCP PROXY</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Prefix routing keeps it simple</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632807" y="2011679"/>
            <a:ext cx="2926080" cy="868680"/>
          </a:xfrm>
          <a:prstGeom prst="roundRect">
            <a:avLst>
              <a:gd name="adj" fmla="val 10000"/>
            </a:avLst>
          </a:prstGeom>
          <a:solidFill>
            <a:srgbClr val="E0F1F5"/>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5959" y="2048255"/>
            <a:ext cx="2779776" cy="795528"/>
          </a:xfrm>
          <a:prstGeom prst="rect">
            <a:avLst/>
          </a:prstGeom>
          <a:noFill/>
        </p:spPr>
        <p:txBody>
          <a:bodyPr wrap="square" anchor="ctr" lIns="0" rIns="0" tIns="0" bIns="0">
            <a:noAutofit/>
          </a:bodyPr>
          <a:lstStyle/>
          <a:p>
            <a:pPr algn="ctr">
              <a:lnSpc>
                <a:spcPct val="100000"/>
              </a:lnSpc>
              <a:spcBef>
                <a:spcPts val="0"/>
              </a:spcBef>
              <a:spcAft>
                <a:spcPts val="200"/>
              </a:spcAft>
            </a:pPr>
            <a:r>
              <a:rPr sz="1400" b="1">
                <a:solidFill>
                  <a:srgbClr val="1B2733"/>
                </a:solidFill>
                <a:latin typeface="Arial"/>
              </a:rPr>
              <a:t>routeToolCall()</a:t>
            </a:r>
          </a:p>
          <a:p>
            <a:pPr algn="ctr">
              <a:lnSpc>
                <a:spcPct val="102000"/>
              </a:lnSpc>
              <a:spcBef>
                <a:spcPts val="0"/>
              </a:spcBef>
              <a:spcAft>
                <a:spcPts val="0"/>
              </a:spcAft>
            </a:pPr>
            <a:r>
              <a:rPr sz="900" b="0">
                <a:solidFill>
                  <a:srgbClr val="6B7885"/>
                </a:solidFill>
                <a:latin typeface="Arial"/>
              </a:rPr>
              <a:t>split on "__"</a:t>
            </a:r>
          </a:p>
        </p:txBody>
      </p:sp>
      <p:sp>
        <p:nvSpPr>
          <p:cNvPr id="9" name="Rounded Rectangle 8"/>
          <p:cNvSpPr/>
          <p:nvPr/>
        </p:nvSpPr>
        <p:spPr>
          <a:xfrm>
            <a:off x="566928" y="3474720"/>
            <a:ext cx="3472586" cy="1097280"/>
          </a:xfrm>
          <a:prstGeom prst="roundRect">
            <a:avLst>
              <a:gd name="adj" fmla="val 10000"/>
            </a:avLst>
          </a:prstGeom>
          <a:solidFill>
            <a:srgbClr val="EAF4E1"/>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511296"/>
            <a:ext cx="3326282" cy="1024127"/>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1B2733"/>
                </a:solidFill>
                <a:latin typeface="Arial"/>
              </a:rPr>
              <a:t>→ Splunk backend</a:t>
            </a:r>
          </a:p>
          <a:p>
            <a:pPr algn="ctr">
              <a:lnSpc>
                <a:spcPct val="102000"/>
              </a:lnSpc>
              <a:spcBef>
                <a:spcPts val="0"/>
              </a:spcBef>
              <a:spcAft>
                <a:spcPts val="0"/>
              </a:spcAft>
            </a:pPr>
            <a:r>
              <a:rPr sz="900" b="0">
                <a:solidFill>
                  <a:srgbClr val="6B7885"/>
                </a:solidFill>
                <a:latin typeface="Arial"/>
              </a:rPr>
              <a:t>de-prefixed &amp; forwarded</a:t>
            </a:r>
          </a:p>
        </p:txBody>
      </p:sp>
      <p:cxnSp>
        <p:nvCxnSpPr>
          <p:cNvPr id="11" name="Connector 10"/>
          <p:cNvCxnSpPr/>
          <p:nvPr/>
        </p:nvCxnSpPr>
        <p:spPr>
          <a:xfrm flipH="1">
            <a:off x="2303221" y="2880360"/>
            <a:ext cx="3792626" cy="594360"/>
          </a:xfrm>
          <a:prstGeom prst="line">
            <a:avLst/>
          </a:prstGeom>
          <a:ln w="20320">
            <a:solidFill>
              <a:srgbClr val="5AA82B"/>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480261" y="3090672"/>
            <a:ext cx="16459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0261" y="3090672"/>
            <a:ext cx="164592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5AA82B"/>
                </a:solidFill>
                <a:latin typeface="Arial"/>
              </a:rPr>
              <a:t>splunk__*</a:t>
            </a:r>
          </a:p>
        </p:txBody>
      </p:sp>
      <p:sp>
        <p:nvSpPr>
          <p:cNvPr id="14" name="Rounded Rectangle 13"/>
          <p:cNvSpPr/>
          <p:nvPr/>
        </p:nvSpPr>
        <p:spPr>
          <a:xfrm>
            <a:off x="4359554" y="3474720"/>
            <a:ext cx="3472586" cy="1097280"/>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2706" y="3511296"/>
            <a:ext cx="3326282" cy="1024127"/>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1B2733"/>
                </a:solidFill>
                <a:latin typeface="Arial"/>
              </a:rPr>
              <a:t>→ Datadog backend</a:t>
            </a:r>
          </a:p>
          <a:p>
            <a:pPr algn="ctr">
              <a:lnSpc>
                <a:spcPct val="102000"/>
              </a:lnSpc>
              <a:spcBef>
                <a:spcPts val="0"/>
              </a:spcBef>
              <a:spcAft>
                <a:spcPts val="0"/>
              </a:spcAft>
            </a:pPr>
            <a:r>
              <a:rPr sz="900" b="0">
                <a:solidFill>
                  <a:srgbClr val="6B7885"/>
                </a:solidFill>
                <a:latin typeface="Arial"/>
              </a:rPr>
              <a:t>de-prefixed &amp; forwarded</a:t>
            </a:r>
          </a:p>
        </p:txBody>
      </p:sp>
      <p:cxnSp>
        <p:nvCxnSpPr>
          <p:cNvPr id="16" name="Connector 15"/>
          <p:cNvCxnSpPr/>
          <p:nvPr/>
        </p:nvCxnSpPr>
        <p:spPr>
          <a:xfrm>
            <a:off x="6095847" y="2880360"/>
            <a:ext cx="0" cy="594360"/>
          </a:xfrm>
          <a:prstGeom prst="line">
            <a:avLst/>
          </a:prstGeom>
          <a:ln w="20320">
            <a:solidFill>
              <a:srgbClr val="7A3FE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272887" y="3090672"/>
            <a:ext cx="16459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72887" y="3090672"/>
            <a:ext cx="164592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7A3FE4"/>
                </a:solidFill>
                <a:latin typeface="Arial"/>
              </a:rPr>
              <a:t>datadog__*</a:t>
            </a:r>
          </a:p>
        </p:txBody>
      </p:sp>
      <p:sp>
        <p:nvSpPr>
          <p:cNvPr id="19" name="Rounded Rectangle 18"/>
          <p:cNvSpPr/>
          <p:nvPr/>
        </p:nvSpPr>
        <p:spPr>
          <a:xfrm>
            <a:off x="8152180" y="3474720"/>
            <a:ext cx="3472586" cy="1097280"/>
          </a:xfrm>
          <a:prstGeom prst="roundRect">
            <a:avLst>
              <a:gd name="adj" fmla="val 10000"/>
            </a:avLst>
          </a:prstGeom>
          <a:solidFill>
            <a:srgbClr val="E0F1F5"/>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5332" y="3511296"/>
            <a:ext cx="3326282" cy="1024127"/>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1B2733"/>
                </a:solidFill>
                <a:latin typeface="Arial"/>
              </a:rPr>
              <a:t>→ local dispatch</a:t>
            </a:r>
          </a:p>
          <a:p>
            <a:pPr algn="ctr">
              <a:lnSpc>
                <a:spcPct val="102000"/>
              </a:lnSpc>
              <a:spcBef>
                <a:spcPts val="0"/>
              </a:spcBef>
              <a:spcAft>
                <a:spcPts val="0"/>
              </a:spcAft>
            </a:pPr>
            <a:r>
              <a:rPr sz="900" b="0">
                <a:solidFill>
                  <a:srgbClr val="6B7885"/>
                </a:solidFill>
                <a:latin typeface="Arial"/>
              </a:rPr>
              <a:t>handled in the proxy</a:t>
            </a:r>
          </a:p>
        </p:txBody>
      </p:sp>
      <p:cxnSp>
        <p:nvCxnSpPr>
          <p:cNvPr id="21" name="Connector 20"/>
          <p:cNvCxnSpPr/>
          <p:nvPr/>
        </p:nvCxnSpPr>
        <p:spPr>
          <a:xfrm>
            <a:off x="6095847" y="2880360"/>
            <a:ext cx="3792627" cy="594360"/>
          </a:xfrm>
          <a:prstGeom prst="line">
            <a:avLst/>
          </a:prstGeom>
          <a:ln w="20320">
            <a:solidFill>
              <a:srgbClr val="0E8FA8"/>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065514" y="3090672"/>
            <a:ext cx="164592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65514" y="3090672"/>
            <a:ext cx="164592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0E8FA8"/>
                </a:solidFill>
                <a:latin typeface="Arial"/>
              </a:rPr>
              <a:t>topology__* / discover</a:t>
            </a:r>
          </a:p>
        </p:txBody>
      </p:sp>
      <p:sp>
        <p:nvSpPr>
          <p:cNvPr id="24" name="Rounded Rectangle 23"/>
          <p:cNvSpPr/>
          <p:nvPr/>
        </p:nvSpPr>
        <p:spPr>
          <a:xfrm>
            <a:off x="566928" y="4983479"/>
            <a:ext cx="11057839" cy="100584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5111495"/>
            <a:ext cx="10600639" cy="777240"/>
          </a:xfrm>
          <a:prstGeom prst="rect">
            <a:avLst/>
          </a:prstGeom>
          <a:noFill/>
        </p:spPr>
        <p:txBody>
          <a:bodyPr wrap="square" anchor="ctr" lIns="0" rIns="0" tIns="0" bIns="0">
            <a:noAutofit/>
          </a:bodyPr>
          <a:lstStyle/>
          <a:p>
            <a:pPr algn="l">
              <a:lnSpc>
                <a:spcPct val="120000"/>
              </a:lnSpc>
              <a:spcBef>
                <a:spcPts val="0"/>
              </a:spcBef>
              <a:spcAft>
                <a:spcPts val="600"/>
              </a:spcAft>
            </a:pPr>
            <a:r>
              <a:rPr sz="1150" b="1">
                <a:solidFill>
                  <a:srgbClr val="1B2733"/>
                </a:solidFill>
                <a:latin typeface="Arial"/>
              </a:rPr>
              <a:t>What the agent can reach:  </a:t>
            </a:r>
            <a:r>
              <a:rPr sz="1150" b="1">
                <a:solidFill>
                  <a:srgbClr val="0A6E82"/>
                </a:solidFill>
                <a:latin typeface="Consolas"/>
              </a:rPr>
              <a:t>11 topology__ </a:t>
            </a:r>
            <a:r>
              <a:rPr sz="1050" b="0">
                <a:solidFill>
                  <a:srgbClr val="3E4C59"/>
                </a:solidFill>
                <a:latin typeface="Arial"/>
              </a:rPr>
              <a:t>(lookup / dependencies / health / correlate_trace / deploys / incidents / runbooks / audit)   +   </a:t>
            </a:r>
            <a:r>
              <a:rPr sz="1150" b="1">
                <a:solidFill>
                  <a:srgbClr val="5AA82B"/>
                </a:solidFill>
                <a:latin typeface="Consolas"/>
              </a:rPr>
              <a:t>4 splunk__ </a:t>
            </a:r>
            <a:r>
              <a:rPr sz="1150" b="0">
                <a:solidFill>
                  <a:srgbClr val="3E4C59"/>
                </a:solidFill>
                <a:latin typeface="Arial"/>
              </a:rPr>
              <a:t>+   </a:t>
            </a:r>
            <a:r>
              <a:rPr sz="1150" b="1">
                <a:solidFill>
                  <a:srgbClr val="7A3FE4"/>
                </a:solidFill>
                <a:latin typeface="Consolas"/>
              </a:rPr>
              <a:t>8 datadog__</a:t>
            </a:r>
          </a:p>
        </p:txBody>
      </p:sp>
      <p:sp>
        <p:nvSpPr>
          <p:cNvPr id="26" name="TextBox 25"/>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7" name="TextBox 26"/>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26  /  48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0E8FA8"/>
                </a:solidFill>
                <a:latin typeface="Arial"/>
              </a:rPr>
              <a:t>SOLUTION 1 · BALLERINA + MCP PROXY</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investigation loop in action</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66928" y="1828800"/>
            <a:ext cx="329184" cy="329184"/>
          </a:xfrm>
          <a:prstGeom prst="ellipse">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28800"/>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1</a:t>
            </a:r>
          </a:p>
        </p:txBody>
      </p:sp>
      <p:sp>
        <p:nvSpPr>
          <p:cNvPr id="9" name="TextBox 8"/>
          <p:cNvSpPr txBox="1"/>
          <p:nvPr/>
        </p:nvSpPr>
        <p:spPr>
          <a:xfrm>
            <a:off x="1024128" y="1792224"/>
            <a:ext cx="512064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discover_tools("Datadog metric")</a:t>
            </a:r>
          </a:p>
        </p:txBody>
      </p:sp>
      <p:sp>
        <p:nvSpPr>
          <p:cNvPr id="10" name="TextBox 9"/>
          <p:cNvSpPr txBox="1"/>
          <p:nvPr/>
        </p:nvSpPr>
        <p:spPr>
          <a:xfrm>
            <a:off x="6327648" y="1792224"/>
            <a:ext cx="529711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0">
                <a:solidFill>
                  <a:srgbClr val="3E4C59"/>
                </a:solidFill>
                <a:latin typeface="Arial"/>
              </a:rPr>
              <a:t>→ reveal the metric tools</a:t>
            </a:r>
          </a:p>
        </p:txBody>
      </p:sp>
      <p:cxnSp>
        <p:nvCxnSpPr>
          <p:cNvPr id="11" name="Connector 10"/>
          <p:cNvCxnSpPr/>
          <p:nvPr/>
        </p:nvCxnSpPr>
        <p:spPr>
          <a:xfrm>
            <a:off x="731520" y="2157984"/>
            <a:ext cx="0" cy="20116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66928" y="2359152"/>
            <a:ext cx="329184" cy="329184"/>
          </a:xfrm>
          <a:prstGeom prst="ellipse">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359152"/>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2</a:t>
            </a:r>
          </a:p>
        </p:txBody>
      </p:sp>
      <p:sp>
        <p:nvSpPr>
          <p:cNvPr id="14" name="TextBox 13"/>
          <p:cNvSpPr txBox="1"/>
          <p:nvPr/>
        </p:nvSpPr>
        <p:spPr>
          <a:xfrm>
            <a:off x="1024128" y="2322576"/>
            <a:ext cx="512064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datadog__get_datadog_metric</a:t>
            </a:r>
          </a:p>
        </p:txBody>
      </p:sp>
      <p:sp>
        <p:nvSpPr>
          <p:cNvPr id="15" name="TextBox 14"/>
          <p:cNvSpPr txBox="1"/>
          <p:nvPr/>
        </p:nvSpPr>
        <p:spPr>
          <a:xfrm>
            <a:off x="6327648" y="2322576"/>
            <a:ext cx="529711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0">
                <a:solidFill>
                  <a:srgbClr val="3E4C59"/>
                </a:solidFill>
                <a:latin typeface="Arial"/>
              </a:rPr>
              <a:t>→ error-rate spike → payment-service</a:t>
            </a:r>
          </a:p>
        </p:txBody>
      </p:sp>
      <p:cxnSp>
        <p:nvCxnSpPr>
          <p:cNvPr id="16" name="Connector 15"/>
          <p:cNvCxnSpPr/>
          <p:nvPr/>
        </p:nvCxnSpPr>
        <p:spPr>
          <a:xfrm>
            <a:off x="731520" y="2688336"/>
            <a:ext cx="0" cy="20116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66928" y="2889504"/>
            <a:ext cx="329184" cy="329184"/>
          </a:xfrm>
          <a:prstGeom prst="ellipse">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889504"/>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3</a:t>
            </a:r>
          </a:p>
        </p:txBody>
      </p:sp>
      <p:sp>
        <p:nvSpPr>
          <p:cNvPr id="19" name="TextBox 18"/>
          <p:cNvSpPr txBox="1"/>
          <p:nvPr/>
        </p:nvSpPr>
        <p:spPr>
          <a:xfrm>
            <a:off x="1024128" y="2852928"/>
            <a:ext cx="512064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topology__get_dependencies</a:t>
            </a:r>
          </a:p>
        </p:txBody>
      </p:sp>
      <p:sp>
        <p:nvSpPr>
          <p:cNvPr id="20" name="TextBox 19"/>
          <p:cNvSpPr txBox="1"/>
          <p:nvPr/>
        </p:nvSpPr>
        <p:spPr>
          <a:xfrm>
            <a:off x="6327648" y="2852928"/>
            <a:ext cx="529711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0">
                <a:solidFill>
                  <a:srgbClr val="3E4C59"/>
                </a:solidFill>
                <a:latin typeface="Arial"/>
              </a:rPr>
              <a:t>→ blast radius → order-service affected</a:t>
            </a:r>
          </a:p>
        </p:txBody>
      </p:sp>
      <p:cxnSp>
        <p:nvCxnSpPr>
          <p:cNvPr id="21" name="Connector 20"/>
          <p:cNvCxnSpPr/>
          <p:nvPr/>
        </p:nvCxnSpPr>
        <p:spPr>
          <a:xfrm>
            <a:off x="731520" y="3218688"/>
            <a:ext cx="0" cy="20116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566928" y="3419856"/>
            <a:ext cx="329184" cy="329184"/>
          </a:xfrm>
          <a:prstGeom prst="ellipse">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419856"/>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4</a:t>
            </a:r>
          </a:p>
        </p:txBody>
      </p:sp>
      <p:sp>
        <p:nvSpPr>
          <p:cNvPr id="24" name="TextBox 23"/>
          <p:cNvSpPr txBox="1"/>
          <p:nvPr/>
        </p:nvSpPr>
        <p:spPr>
          <a:xfrm>
            <a:off x="1024128" y="3383279"/>
            <a:ext cx="512064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datadog__get_datadog_trace</a:t>
            </a:r>
          </a:p>
        </p:txBody>
      </p:sp>
      <p:sp>
        <p:nvSpPr>
          <p:cNvPr id="25" name="TextBox 24"/>
          <p:cNvSpPr txBox="1"/>
          <p:nvPr/>
        </p:nvSpPr>
        <p:spPr>
          <a:xfrm>
            <a:off x="6327648" y="3383279"/>
            <a:ext cx="529711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0">
                <a:solidFill>
                  <a:srgbClr val="3E4C59"/>
                </a:solidFill>
                <a:latin typeface="Arial"/>
              </a:rPr>
              <a:t>→ grab a failing trace</a:t>
            </a:r>
          </a:p>
        </p:txBody>
      </p:sp>
      <p:cxnSp>
        <p:nvCxnSpPr>
          <p:cNvPr id="26" name="Connector 25"/>
          <p:cNvCxnSpPr/>
          <p:nvPr/>
        </p:nvCxnSpPr>
        <p:spPr>
          <a:xfrm>
            <a:off x="731520" y="3749039"/>
            <a:ext cx="0" cy="20116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66928" y="3950208"/>
            <a:ext cx="329184" cy="329184"/>
          </a:xfrm>
          <a:prstGeom prst="ellipse">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3950208"/>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5</a:t>
            </a:r>
          </a:p>
        </p:txBody>
      </p:sp>
      <p:sp>
        <p:nvSpPr>
          <p:cNvPr id="29" name="TextBox 28"/>
          <p:cNvSpPr txBox="1"/>
          <p:nvPr/>
        </p:nvSpPr>
        <p:spPr>
          <a:xfrm>
            <a:off x="1024128" y="3913632"/>
            <a:ext cx="512064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topology__correlate_trace</a:t>
            </a:r>
          </a:p>
        </p:txBody>
      </p:sp>
      <p:sp>
        <p:nvSpPr>
          <p:cNvPr id="30" name="TextBox 29"/>
          <p:cNvSpPr txBox="1"/>
          <p:nvPr/>
        </p:nvSpPr>
        <p:spPr>
          <a:xfrm>
            <a:off x="6327648" y="3913632"/>
            <a:ext cx="529711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0">
                <a:solidFill>
                  <a:srgbClr val="3E4C59"/>
                </a:solidFill>
                <a:latin typeface="Arial"/>
              </a:rPr>
              <a:t>→ build the Splunk query + links</a:t>
            </a:r>
          </a:p>
        </p:txBody>
      </p:sp>
      <p:cxnSp>
        <p:nvCxnSpPr>
          <p:cNvPr id="31" name="Connector 30"/>
          <p:cNvCxnSpPr/>
          <p:nvPr/>
        </p:nvCxnSpPr>
        <p:spPr>
          <a:xfrm>
            <a:off x="731520" y="4279392"/>
            <a:ext cx="0" cy="20116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566928" y="4480560"/>
            <a:ext cx="329184" cy="329184"/>
          </a:xfrm>
          <a:prstGeom prst="ellipse">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480560"/>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6</a:t>
            </a:r>
          </a:p>
        </p:txBody>
      </p:sp>
      <p:sp>
        <p:nvSpPr>
          <p:cNvPr id="34" name="TextBox 33"/>
          <p:cNvSpPr txBox="1"/>
          <p:nvPr/>
        </p:nvSpPr>
        <p:spPr>
          <a:xfrm>
            <a:off x="1024128" y="4443984"/>
            <a:ext cx="512064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splunk__splunk_run_query</a:t>
            </a:r>
          </a:p>
        </p:txBody>
      </p:sp>
      <p:sp>
        <p:nvSpPr>
          <p:cNvPr id="35" name="TextBox 34"/>
          <p:cNvSpPr txBox="1"/>
          <p:nvPr/>
        </p:nvSpPr>
        <p:spPr>
          <a:xfrm>
            <a:off x="6327648" y="4443984"/>
            <a:ext cx="529711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0">
                <a:solidFill>
                  <a:srgbClr val="3E4C59"/>
                </a:solidFill>
                <a:latin typeface="Arial"/>
              </a:rPr>
              <a:t>→ logs show mock-bank timeouts</a:t>
            </a:r>
          </a:p>
        </p:txBody>
      </p:sp>
      <p:cxnSp>
        <p:nvCxnSpPr>
          <p:cNvPr id="36" name="Connector 35"/>
          <p:cNvCxnSpPr/>
          <p:nvPr/>
        </p:nvCxnSpPr>
        <p:spPr>
          <a:xfrm>
            <a:off x="731520" y="4809744"/>
            <a:ext cx="0" cy="20116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566928" y="5010912"/>
            <a:ext cx="329184" cy="329184"/>
          </a:xfrm>
          <a:prstGeom prst="ellipse">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5010912"/>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7</a:t>
            </a:r>
          </a:p>
        </p:txBody>
      </p:sp>
      <p:sp>
        <p:nvSpPr>
          <p:cNvPr id="39" name="TextBox 38"/>
          <p:cNvSpPr txBox="1"/>
          <p:nvPr/>
        </p:nvSpPr>
        <p:spPr>
          <a:xfrm>
            <a:off x="1024128" y="4974336"/>
            <a:ext cx="512064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topology__find_recent_deploys</a:t>
            </a:r>
          </a:p>
        </p:txBody>
      </p:sp>
      <p:sp>
        <p:nvSpPr>
          <p:cNvPr id="40" name="TextBox 39"/>
          <p:cNvSpPr txBox="1"/>
          <p:nvPr/>
        </p:nvSpPr>
        <p:spPr>
          <a:xfrm>
            <a:off x="6327648" y="4974336"/>
            <a:ext cx="529711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0">
                <a:solidFill>
                  <a:srgbClr val="3E4C59"/>
                </a:solidFill>
                <a:latin typeface="Arial"/>
              </a:rPr>
              <a:t>→ nothing → rule out a deploy</a:t>
            </a:r>
          </a:p>
        </p:txBody>
      </p:sp>
      <p:cxnSp>
        <p:nvCxnSpPr>
          <p:cNvPr id="41" name="Connector 40"/>
          <p:cNvCxnSpPr/>
          <p:nvPr/>
        </p:nvCxnSpPr>
        <p:spPr>
          <a:xfrm>
            <a:off x="731520" y="5340096"/>
            <a:ext cx="0" cy="20116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566928" y="5541264"/>
            <a:ext cx="329184" cy="329184"/>
          </a:xfrm>
          <a:prstGeom prst="ellipse">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5541264"/>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8</a:t>
            </a:r>
          </a:p>
        </p:txBody>
      </p:sp>
      <p:sp>
        <p:nvSpPr>
          <p:cNvPr id="44" name="TextBox 43"/>
          <p:cNvSpPr txBox="1"/>
          <p:nvPr/>
        </p:nvSpPr>
        <p:spPr>
          <a:xfrm>
            <a:off x="1024128" y="5504688"/>
            <a:ext cx="512064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C85A00"/>
                </a:solidFill>
                <a:latin typeface="Consolas"/>
              </a:rPr>
              <a:t>topology__list_runbooks → PROPOSE</a:t>
            </a:r>
          </a:p>
        </p:txBody>
      </p:sp>
      <p:sp>
        <p:nvSpPr>
          <p:cNvPr id="45" name="TextBox 44"/>
          <p:cNvSpPr txBox="1"/>
          <p:nvPr/>
        </p:nvSpPr>
        <p:spPr>
          <a:xfrm>
            <a:off x="6327648" y="5504688"/>
            <a:ext cx="529711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0">
                <a:solidFill>
                  <a:srgbClr val="3E4C59"/>
                </a:solidFill>
                <a:latin typeface="Arial"/>
              </a:rPr>
              <a:t>→ disable-chaos, then WAIT</a:t>
            </a:r>
          </a:p>
        </p:txBody>
      </p:sp>
      <p:sp>
        <p:nvSpPr>
          <p:cNvPr id="46" name="TextBox 45"/>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47" name="TextBox 46"/>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27  /  48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0E8FA8"/>
                </a:solidFill>
                <a:latin typeface="Arial"/>
              </a:rPr>
              <a:t>SOLUTION 1 · BALLERINA + MCP PROXY</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Stack, tools &amp; runbooks</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828800"/>
          <a:ext cx="5943600" cy="2980944"/>
        </p:xfrm>
        <a:graphic>
          <a:graphicData uri="http://schemas.openxmlformats.org/drawingml/2006/table">
            <a:tbl>
              <a:tblPr firstRow="0" bandRow="0">
                <a:tableStyleId>{2D5ABB26-0587-4C30-8999-92F81FD0307C}</a:tableStyleId>
              </a:tblPr>
              <a:tblGrid>
                <a:gridCol w="2377440"/>
                <a:gridCol w="3566160"/>
              </a:tblGrid>
              <a:tr h="420624">
                <a:tc>
                  <a:txBody>
                    <a:bodyPr wrap="square"/>
                    <a:lstStyle/>
                    <a:p>
                      <a:pPr algn="l">
                        <a:lnSpc>
                          <a:spcPct val="100000"/>
                        </a:lnSpc>
                      </a:pPr>
                      <a:r>
                        <a:rPr sz="1050" b="1">
                          <a:solidFill>
                            <a:srgbClr val="FFFFFF"/>
                          </a:solidFill>
                          <a:latin typeface="Arial"/>
                        </a:rPr>
                        <a:t>Layer</a:t>
                      </a:r>
                    </a:p>
                  </a:txBody>
                  <a:tcPr anchor="ctr" marL="91440" marR="73152" marT="18288" marB="18288">
                    <a:solidFill>
                      <a:srgbClr val="0A6E82"/>
                    </a:solidFill>
                  </a:tcPr>
                </a:tc>
                <a:tc>
                  <a:txBody>
                    <a:bodyPr wrap="square"/>
                    <a:lstStyle/>
                    <a:p>
                      <a:pPr algn="l">
                        <a:lnSpc>
                          <a:spcPct val="100000"/>
                        </a:lnSpc>
                      </a:pPr>
                      <a:r>
                        <a:rPr sz="1050" b="1">
                          <a:solidFill>
                            <a:srgbClr val="FFFFFF"/>
                          </a:solidFill>
                          <a:latin typeface="Arial"/>
                        </a:rPr>
                        <a:t>Choice</a:t>
                      </a:r>
                    </a:p>
                  </a:txBody>
                  <a:tcPr anchor="ctr" marL="91440" marR="73152" marT="18288" marB="18288">
                    <a:solidFill>
                      <a:srgbClr val="0A6E82"/>
                    </a:solidFill>
                  </a:tcPr>
                </a:tc>
              </a:tr>
              <a:tr h="512064">
                <a:tc>
                  <a:txBody>
                    <a:bodyPr wrap="square"/>
                    <a:lstStyle/>
                    <a:p>
                      <a:pPr algn="l">
                        <a:lnSpc>
                          <a:spcPct val="100000"/>
                        </a:lnSpc>
                      </a:pPr>
                      <a:r>
                        <a:rPr sz="1050" b="1">
                          <a:solidFill>
                            <a:srgbClr val="1B2733"/>
                          </a:solidFill>
                          <a:latin typeface="Arial"/>
                        </a:rPr>
                        <a:t>Language / runtime</a:t>
                      </a:r>
                    </a:p>
                  </a:txBody>
                  <a:tcPr anchor="ctr" marL="91440" marR="73152" marT="18288" marB="18288">
                    <a:solidFill>
                      <a:srgbClr val="F6F8FA"/>
                    </a:solidFill>
                  </a:tcPr>
                </a:tc>
                <a:tc>
                  <a:txBody>
                    <a:bodyPr wrap="square"/>
                    <a:lstStyle/>
                    <a:p>
                      <a:pPr algn="l">
                        <a:lnSpc>
                          <a:spcPct val="100000"/>
                        </a:lnSpc>
                      </a:pPr>
                      <a:r>
                        <a:rPr sz="1050" b="0">
                          <a:solidFill>
                            <a:srgbClr val="1B2733"/>
                          </a:solidFill>
                          <a:latin typeface="Arial"/>
                        </a:rPr>
                        <a:t>Ballerina Swan Lake 2201.13.3</a:t>
                      </a:r>
                    </a:p>
                  </a:txBody>
                  <a:tcPr anchor="ctr" marL="91440" marR="73152" marT="18288" marB="18288">
                    <a:solidFill>
                      <a:srgbClr val="F6F8FA"/>
                    </a:solidFill>
                  </a:tcPr>
                </a:tc>
              </a:tr>
              <a:tr h="512064">
                <a:tc>
                  <a:txBody>
                    <a:bodyPr wrap="square"/>
                    <a:lstStyle/>
                    <a:p>
                      <a:pPr algn="l">
                        <a:lnSpc>
                          <a:spcPct val="100000"/>
                        </a:lnSpc>
                      </a:pPr>
                      <a:r>
                        <a:rPr sz="1050" b="1">
                          <a:solidFill>
                            <a:srgbClr val="1B2733"/>
                          </a:solidFill>
                          <a:latin typeface="Arial"/>
                        </a:rPr>
                        <a:t>MCP transport</a:t>
                      </a:r>
                    </a:p>
                  </a:txBody>
                  <a:tcPr anchor="ctr" marL="91440" marR="73152" marT="18288" marB="18288">
                    <a:solidFill>
                      <a:srgbClr val="FFFFFF"/>
                    </a:solidFill>
                  </a:tcPr>
                </a:tc>
                <a:tc>
                  <a:txBody>
                    <a:bodyPr wrap="square"/>
                    <a:lstStyle/>
                    <a:p>
                      <a:pPr algn="l">
                        <a:lnSpc>
                          <a:spcPct val="100000"/>
                        </a:lnSpc>
                      </a:pPr>
                      <a:r>
                        <a:rPr sz="1050" b="0">
                          <a:solidFill>
                            <a:srgbClr val="1B2733"/>
                          </a:solidFill>
                          <a:latin typeface="Arial"/>
                        </a:rPr>
                        <a:t>Streamable HTTP · JSON-RPC 2.0</a:t>
                      </a:r>
                    </a:p>
                  </a:txBody>
                  <a:tcPr anchor="ctr" marL="91440" marR="73152" marT="18288" marB="18288">
                    <a:solidFill>
                      <a:srgbClr val="FFFFFF"/>
                    </a:solidFill>
                  </a:tcPr>
                </a:tc>
              </a:tr>
              <a:tr h="512064">
                <a:tc>
                  <a:txBody>
                    <a:bodyPr wrap="square"/>
                    <a:lstStyle/>
                    <a:p>
                      <a:pPr algn="l">
                        <a:lnSpc>
                          <a:spcPct val="100000"/>
                        </a:lnSpc>
                      </a:pPr>
                      <a:r>
                        <a:rPr sz="1050" b="1">
                          <a:solidFill>
                            <a:srgbClr val="1B2733"/>
                          </a:solidFill>
                          <a:latin typeface="Arial"/>
                        </a:rPr>
                        <a:t>Telemetry</a:t>
                      </a:r>
                    </a:p>
                  </a:txBody>
                  <a:tcPr anchor="ctr" marL="91440" marR="73152" marT="18288" marB="18288">
                    <a:solidFill>
                      <a:srgbClr val="F6F8FA"/>
                    </a:solidFill>
                  </a:tcPr>
                </a:tc>
                <a:tc>
                  <a:txBody>
                    <a:bodyPr wrap="square"/>
                    <a:lstStyle/>
                    <a:p>
                      <a:pPr algn="l">
                        <a:lnSpc>
                          <a:spcPct val="100000"/>
                        </a:lnSpc>
                      </a:pPr>
                      <a:r>
                        <a:rPr sz="1050" b="0">
                          <a:solidFill>
                            <a:srgbClr val="1B2733"/>
                          </a:solidFill>
                          <a:latin typeface="Arial"/>
                        </a:rPr>
                        <a:t>ballerinax/jaeger (OTLP) + prometheus</a:t>
                      </a:r>
                    </a:p>
                  </a:txBody>
                  <a:tcPr anchor="ctr" marL="91440" marR="73152" marT="18288" marB="18288">
                    <a:solidFill>
                      <a:srgbClr val="F6F8FA"/>
                    </a:solidFill>
                  </a:tcPr>
                </a:tc>
              </a:tr>
              <a:tr h="512064">
                <a:tc>
                  <a:txBody>
                    <a:bodyPr wrap="square"/>
                    <a:lstStyle/>
                    <a:p>
                      <a:pPr algn="l">
                        <a:lnSpc>
                          <a:spcPct val="100000"/>
                        </a:lnSpc>
                      </a:pPr>
                      <a:r>
                        <a:rPr sz="1050" b="1">
                          <a:solidFill>
                            <a:srgbClr val="1B2733"/>
                          </a:solidFill>
                          <a:latin typeface="Arial"/>
                        </a:rPr>
                        <a:t>LLM loop</a:t>
                      </a:r>
                    </a:p>
                  </a:txBody>
                  <a:tcPr anchor="ctr" marL="91440" marR="73152" marT="18288" marB="18288">
                    <a:solidFill>
                      <a:srgbClr val="FFFFFF"/>
                    </a:solidFill>
                  </a:tcPr>
                </a:tc>
                <a:tc>
                  <a:txBody>
                    <a:bodyPr wrap="square"/>
                    <a:lstStyle/>
                    <a:p>
                      <a:pPr algn="l">
                        <a:lnSpc>
                          <a:spcPct val="100000"/>
                        </a:lnSpc>
                      </a:pPr>
                      <a:r>
                        <a:rPr sz="1050" b="0">
                          <a:solidFill>
                            <a:srgbClr val="1B2733"/>
                          </a:solidFill>
                          <a:latin typeface="Arial"/>
                        </a:rPr>
                        <a:t>native tool-use, no SDK · maxTurns 30</a:t>
                      </a:r>
                    </a:p>
                  </a:txBody>
                  <a:tcPr anchor="ctr" marL="91440" marR="73152" marT="18288" marB="18288">
                    <a:solidFill>
                      <a:srgbClr val="FFFFFF"/>
                    </a:solidFill>
                  </a:tcPr>
                </a:tc>
              </a:tr>
              <a:tr h="512064">
                <a:tc>
                  <a:txBody>
                    <a:bodyPr wrap="square"/>
                    <a:lstStyle/>
                    <a:p>
                      <a:pPr algn="l">
                        <a:lnSpc>
                          <a:spcPct val="100000"/>
                        </a:lnSpc>
                      </a:pPr>
                      <a:r>
                        <a:rPr sz="1050" b="1">
                          <a:solidFill>
                            <a:srgbClr val="1B2733"/>
                          </a:solidFill>
                          <a:latin typeface="Arial"/>
                        </a:rPr>
                        <a:t>Default model</a:t>
                      </a:r>
                    </a:p>
                  </a:txBody>
                  <a:tcPr anchor="ctr" marL="91440" marR="73152" marT="18288" marB="18288">
                    <a:solidFill>
                      <a:srgbClr val="F6F8FA"/>
                    </a:solidFill>
                  </a:tcPr>
                </a:tc>
                <a:tc>
                  <a:txBody>
                    <a:bodyPr wrap="square"/>
                    <a:lstStyle/>
                    <a:p>
                      <a:pPr algn="l">
                        <a:lnSpc>
                          <a:spcPct val="100000"/>
                        </a:lnSpc>
                      </a:pPr>
                      <a:r>
                        <a:rPr sz="1050" b="0">
                          <a:solidFill>
                            <a:srgbClr val="1B2733"/>
                          </a:solidFill>
                          <a:latin typeface="Arial"/>
                        </a:rPr>
                        <a:t>Ollama qwen (local) / claude-sonnet-4-6</a:t>
                      </a:r>
                    </a:p>
                  </a:txBody>
                  <a:tcPr anchor="ctr" marL="91440" marR="73152" marT="18288" marB="18288">
                    <a:solidFill>
                      <a:srgbClr val="F6F8FA"/>
                    </a:solidFill>
                  </a:tcPr>
                </a:tc>
              </a:tr>
            </a:tbl>
          </a:graphicData>
        </a:graphic>
      </p:graphicFrame>
      <p:sp>
        <p:nvSpPr>
          <p:cNvPr id="8" name="Rounded Rectangle 7"/>
          <p:cNvSpPr/>
          <p:nvPr/>
        </p:nvSpPr>
        <p:spPr>
          <a:xfrm>
            <a:off x="6876288" y="1828800"/>
            <a:ext cx="4748479" cy="338328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59168" y="2029967"/>
            <a:ext cx="82296" cy="237744"/>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0336" y="1993391"/>
            <a:ext cx="4181551"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Runbooks — the fixed allowlist</a:t>
            </a:r>
          </a:p>
        </p:txBody>
      </p:sp>
      <p:sp>
        <p:nvSpPr>
          <p:cNvPr id="11" name="Rounded Rectangle 10"/>
          <p:cNvSpPr/>
          <p:nvPr/>
        </p:nvSpPr>
        <p:spPr>
          <a:xfrm>
            <a:off x="7077456" y="2514600"/>
            <a:ext cx="169164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77456" y="2514600"/>
            <a:ext cx="169164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2E9E5B"/>
                </a:solidFill>
                <a:latin typeface="Arial"/>
              </a:rPr>
              <a:t>disable-chaos</a:t>
            </a:r>
          </a:p>
        </p:txBody>
      </p:sp>
      <p:sp>
        <p:nvSpPr>
          <p:cNvPr id="13" name="TextBox 12"/>
          <p:cNvSpPr txBox="1"/>
          <p:nvPr/>
        </p:nvSpPr>
        <p:spPr>
          <a:xfrm>
            <a:off x="8887968" y="2487168"/>
            <a:ext cx="2553919" cy="457200"/>
          </a:xfrm>
          <a:prstGeom prst="rect">
            <a:avLst/>
          </a:prstGeom>
          <a:noFill/>
        </p:spPr>
        <p:txBody>
          <a:bodyPr wrap="square" anchor="ctr" lIns="0" rIns="0" tIns="0" bIns="0">
            <a:noAutofit/>
          </a:bodyPr>
          <a:lstStyle/>
          <a:p>
            <a:pPr algn="l">
              <a:lnSpc>
                <a:spcPct val="105000"/>
              </a:lnSpc>
              <a:spcBef>
                <a:spcPts val="0"/>
              </a:spcBef>
              <a:spcAft>
                <a:spcPts val="600"/>
              </a:spcAft>
            </a:pPr>
            <a:r>
              <a:rPr sz="1000" b="0">
                <a:solidFill>
                  <a:srgbClr val="3E4C59"/>
                </a:solidFill>
                <a:latin typeface="Arial"/>
              </a:rPr>
              <a:t>LIVE — POST /chaos/reset. The demo's recovery lever.</a:t>
            </a:r>
          </a:p>
        </p:txBody>
      </p:sp>
      <p:sp>
        <p:nvSpPr>
          <p:cNvPr id="14" name="Rounded Rectangle 13"/>
          <p:cNvSpPr/>
          <p:nvPr/>
        </p:nvSpPr>
        <p:spPr>
          <a:xfrm>
            <a:off x="7077456" y="3081528"/>
            <a:ext cx="169164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77456" y="3081528"/>
            <a:ext cx="169164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6B7885"/>
                </a:solidFill>
                <a:latin typeface="Arial"/>
              </a:rPr>
              <a:t>restart-service</a:t>
            </a:r>
          </a:p>
        </p:txBody>
      </p:sp>
      <p:sp>
        <p:nvSpPr>
          <p:cNvPr id="16" name="TextBox 15"/>
          <p:cNvSpPr txBox="1"/>
          <p:nvPr/>
        </p:nvSpPr>
        <p:spPr>
          <a:xfrm>
            <a:off x="8887968" y="3054096"/>
            <a:ext cx="2553919" cy="457200"/>
          </a:xfrm>
          <a:prstGeom prst="rect">
            <a:avLst/>
          </a:prstGeom>
          <a:noFill/>
        </p:spPr>
        <p:txBody>
          <a:bodyPr wrap="square" anchor="ctr" lIns="0" rIns="0" tIns="0" bIns="0">
            <a:noAutofit/>
          </a:bodyPr>
          <a:lstStyle/>
          <a:p>
            <a:pPr algn="l">
              <a:lnSpc>
                <a:spcPct val="105000"/>
              </a:lnSpc>
              <a:spcBef>
                <a:spcPts val="0"/>
              </a:spcBef>
              <a:spcAft>
                <a:spcPts val="600"/>
              </a:spcAft>
            </a:pPr>
            <a:r>
              <a:rPr sz="1000" b="0">
                <a:solidFill>
                  <a:srgbClr val="3E4C59"/>
                </a:solidFill>
                <a:latin typeface="Arial"/>
              </a:rPr>
              <a:t>stub — kubectl rollout restart</a:t>
            </a:r>
          </a:p>
        </p:txBody>
      </p:sp>
      <p:sp>
        <p:nvSpPr>
          <p:cNvPr id="17" name="Rounded Rectangle 16"/>
          <p:cNvSpPr/>
          <p:nvPr/>
        </p:nvSpPr>
        <p:spPr>
          <a:xfrm>
            <a:off x="7077456" y="3648456"/>
            <a:ext cx="169164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77456" y="3648456"/>
            <a:ext cx="169164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6B7885"/>
                </a:solidFill>
                <a:latin typeface="Arial"/>
              </a:rPr>
              <a:t>clear-cache</a:t>
            </a:r>
          </a:p>
        </p:txBody>
      </p:sp>
      <p:sp>
        <p:nvSpPr>
          <p:cNvPr id="19" name="TextBox 18"/>
          <p:cNvSpPr txBox="1"/>
          <p:nvPr/>
        </p:nvSpPr>
        <p:spPr>
          <a:xfrm>
            <a:off x="8887968" y="3621024"/>
            <a:ext cx="2553919" cy="457200"/>
          </a:xfrm>
          <a:prstGeom prst="rect">
            <a:avLst/>
          </a:prstGeom>
          <a:noFill/>
        </p:spPr>
        <p:txBody>
          <a:bodyPr wrap="square" anchor="ctr" lIns="0" rIns="0" tIns="0" bIns="0">
            <a:noAutofit/>
          </a:bodyPr>
          <a:lstStyle/>
          <a:p>
            <a:pPr algn="l">
              <a:lnSpc>
                <a:spcPct val="105000"/>
              </a:lnSpc>
              <a:spcBef>
                <a:spcPts val="0"/>
              </a:spcBef>
              <a:spcAft>
                <a:spcPts val="600"/>
              </a:spcAft>
            </a:pPr>
            <a:r>
              <a:rPr sz="1000" b="0">
                <a:solidFill>
                  <a:srgbClr val="3E4C59"/>
                </a:solidFill>
                <a:latin typeface="Arial"/>
              </a:rPr>
              <a:t>stub — Redis FLUSHDB on inventory</a:t>
            </a:r>
          </a:p>
        </p:txBody>
      </p:sp>
      <p:sp>
        <p:nvSpPr>
          <p:cNvPr id="20" name="Rounded Rectangle 19"/>
          <p:cNvSpPr/>
          <p:nvPr/>
        </p:nvSpPr>
        <p:spPr>
          <a:xfrm>
            <a:off x="7077456" y="4215384"/>
            <a:ext cx="169164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77456" y="4215384"/>
            <a:ext cx="169164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6B7885"/>
                </a:solidFill>
                <a:latin typeface="Arial"/>
              </a:rPr>
              <a:t>freeze-deploys</a:t>
            </a:r>
          </a:p>
        </p:txBody>
      </p:sp>
      <p:sp>
        <p:nvSpPr>
          <p:cNvPr id="22" name="TextBox 21"/>
          <p:cNvSpPr txBox="1"/>
          <p:nvPr/>
        </p:nvSpPr>
        <p:spPr>
          <a:xfrm>
            <a:off x="8887968" y="4187952"/>
            <a:ext cx="2553919" cy="457200"/>
          </a:xfrm>
          <a:prstGeom prst="rect">
            <a:avLst/>
          </a:prstGeom>
          <a:noFill/>
        </p:spPr>
        <p:txBody>
          <a:bodyPr wrap="square" anchor="ctr" lIns="0" rIns="0" tIns="0" bIns="0">
            <a:noAutofit/>
          </a:bodyPr>
          <a:lstStyle/>
          <a:p>
            <a:pPr algn="l">
              <a:lnSpc>
                <a:spcPct val="105000"/>
              </a:lnSpc>
              <a:spcBef>
                <a:spcPts val="0"/>
              </a:spcBef>
              <a:spcAft>
                <a:spcPts val="600"/>
              </a:spcAft>
            </a:pPr>
            <a:r>
              <a:rPr sz="1000" b="0">
                <a:solidFill>
                  <a:srgbClr val="3E4C59"/>
                </a:solidFill>
                <a:latin typeface="Arial"/>
              </a:rPr>
              <a:t>stub — sets an in-memory flag</a:t>
            </a:r>
          </a:p>
        </p:txBody>
      </p:sp>
      <p:sp>
        <p:nvSpPr>
          <p:cNvPr id="23" name="TextBox 22"/>
          <p:cNvSpPr txBox="1"/>
          <p:nvPr/>
        </p:nvSpPr>
        <p:spPr>
          <a:xfrm>
            <a:off x="7077456" y="4828032"/>
            <a:ext cx="4346143" cy="640080"/>
          </a:xfrm>
          <a:prstGeom prst="rect">
            <a:avLst/>
          </a:prstGeom>
          <a:noFill/>
        </p:spPr>
        <p:txBody>
          <a:bodyPr wrap="square" anchor="t" lIns="0" rIns="0" tIns="0" bIns="0">
            <a:noAutofit/>
          </a:bodyPr>
          <a:lstStyle/>
          <a:p>
            <a:pPr algn="l">
              <a:lnSpc>
                <a:spcPct val="110000"/>
              </a:lnSpc>
              <a:spcBef>
                <a:spcPts val="0"/>
              </a:spcBef>
              <a:spcAft>
                <a:spcPts val="600"/>
              </a:spcAft>
            </a:pPr>
            <a:r>
              <a:rPr sz="1000" b="0">
                <a:solidFill>
                  <a:srgbClr val="6B7885"/>
                </a:solidFill>
                <a:latin typeface="Arial"/>
              </a:rPr>
              <a:t>Every execution appends to an in-memory audit log. No run_cli, ever.</a:t>
            </a:r>
          </a:p>
        </p:txBody>
      </p:sp>
      <p:sp>
        <p:nvSpPr>
          <p:cNvPr id="24" name="TextBox 23"/>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5" name="TextBox 24"/>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28  /  48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0E8FA8"/>
                </a:solidFill>
                <a:latin typeface="Arial"/>
              </a:rPr>
              <a:t>SOLUTION 1 · BALLERINA + MCP PROXY</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Strengths &amp; honest limits</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28800"/>
            <a:ext cx="5346039" cy="3977639"/>
          </a:xfrm>
          <a:prstGeom prst="roundRect">
            <a:avLst>
              <a:gd name="adj" fmla="val 4500"/>
            </a:avLst>
          </a:prstGeom>
          <a:solidFill>
            <a:srgbClr val="E0F1F5"/>
          </a:solidFill>
          <a:ln w="1270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48255"/>
            <a:ext cx="82296" cy="237744"/>
          </a:xfrm>
          <a:prstGeom prst="rect">
            <a:avLst/>
          </a:prstGeom>
          <a:solidFill>
            <a:srgbClr val="0A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11679"/>
            <a:ext cx="4742535"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  Strengths</a:t>
            </a:r>
          </a:p>
        </p:txBody>
      </p:sp>
      <p:sp>
        <p:nvSpPr>
          <p:cNvPr id="10" name="TextBox 9"/>
          <p:cNvSpPr txBox="1"/>
          <p:nvPr/>
        </p:nvSpPr>
        <p:spPr>
          <a:xfrm>
            <a:off x="822960" y="2514600"/>
            <a:ext cx="4843119" cy="3108960"/>
          </a:xfrm>
          <a:prstGeom prst="rect">
            <a:avLst/>
          </a:prstGeom>
          <a:noFill/>
        </p:spPr>
        <p:txBody>
          <a:bodyPr wrap="square" anchor="t" lIns="0" rIns="0" tIns="0" bIns="0">
            <a:noAutofit/>
          </a:bodyPr>
          <a:lstStyle/>
          <a:p>
            <a:pPr algn="l" marL="256032" indent="-256032">
              <a:lnSpc>
                <a:spcPct val="106000"/>
              </a:lnSpc>
              <a:spcBef>
                <a:spcPts val="0"/>
              </a:spcBef>
              <a:spcAft>
                <a:spcPts val="800"/>
              </a:spcAft>
              <a:buClr>
                <a:srgbClr val="0E8FA8"/>
              </a:buClr>
              <a:buFont typeface="Arial"/>
              <a:buChar char="▪"/>
            </a:pPr>
            <a:r>
              <a:rPr sz="1100" b="1">
                <a:solidFill>
                  <a:srgbClr val="1B2733"/>
                </a:solidFill>
                <a:latin typeface="Arial"/>
              </a:rPr>
              <a:t>Small, stable context  </a:t>
            </a:r>
            <a:r>
              <a:rPr sz="1100" b="0">
                <a:solidFill>
                  <a:srgbClr val="1B2733"/>
                </a:solidFill>
                <a:latin typeface="Arial"/>
              </a:rPr>
              <a:t>no matter how many tools the real MCPs expose.</a:t>
            </a:r>
          </a:p>
          <a:p>
            <a:pPr algn="l" marL="256032" indent="-256032">
              <a:lnSpc>
                <a:spcPct val="106000"/>
              </a:lnSpc>
              <a:spcBef>
                <a:spcPts val="0"/>
              </a:spcBef>
              <a:spcAft>
                <a:spcPts val="800"/>
              </a:spcAft>
              <a:buClr>
                <a:srgbClr val="0E8FA8"/>
              </a:buClr>
              <a:buFont typeface="Arial"/>
              <a:buChar char="▪"/>
            </a:pPr>
            <a:r>
              <a:rPr sz="1100" b="1">
                <a:solidFill>
                  <a:srgbClr val="1B2733"/>
                </a:solidFill>
                <a:latin typeface="Arial"/>
              </a:rPr>
              <a:t>Correlation in one context  </a:t>
            </a:r>
            <a:r>
              <a:rPr sz="1100" b="0">
                <a:solidFill>
                  <a:srgbClr val="1B2733"/>
                </a:solidFill>
                <a:latin typeface="Arial"/>
              </a:rPr>
              <a:t>logs + spans + topology join in one working set.</a:t>
            </a:r>
          </a:p>
          <a:p>
            <a:pPr algn="l" marL="256032" indent="-256032">
              <a:lnSpc>
                <a:spcPct val="106000"/>
              </a:lnSpc>
              <a:spcBef>
                <a:spcPts val="0"/>
              </a:spcBef>
              <a:spcAft>
                <a:spcPts val="800"/>
              </a:spcAft>
              <a:buClr>
                <a:srgbClr val="0E8FA8"/>
              </a:buClr>
              <a:buFont typeface="Arial"/>
              <a:buChar char="▪"/>
            </a:pPr>
            <a:r>
              <a:rPr sz="1100" b="1">
                <a:solidFill>
                  <a:srgbClr val="1B2733"/>
                </a:solidFill>
                <a:latin typeface="Arial"/>
              </a:rPr>
              <a:t>Mock ⇄ live is config  </a:t>
            </a:r>
            <a:r>
              <a:rPr sz="1100" b="0">
                <a:solidFill>
                  <a:srgbClr val="1B2733"/>
                </a:solidFill>
                <a:latin typeface="Arial"/>
              </a:rPr>
              <a:t>one env var, proxy-side.</a:t>
            </a:r>
          </a:p>
          <a:p>
            <a:pPr algn="l" marL="256032" indent="-256032">
              <a:lnSpc>
                <a:spcPct val="106000"/>
              </a:lnSpc>
              <a:spcBef>
                <a:spcPts val="0"/>
              </a:spcBef>
              <a:spcAft>
                <a:spcPts val="800"/>
              </a:spcAft>
              <a:buClr>
                <a:srgbClr val="0E8FA8"/>
              </a:buClr>
              <a:buFont typeface="Arial"/>
              <a:buChar char="▪"/>
            </a:pPr>
            <a:r>
              <a:rPr sz="1100" b="1">
                <a:solidFill>
                  <a:srgbClr val="1B2733"/>
                </a:solidFill>
                <a:latin typeface="Arial"/>
              </a:rPr>
              <a:t>Single policy chokepoint  </a:t>
            </a:r>
            <a:r>
              <a:rPr sz="1100" b="0">
                <a:solidFill>
                  <a:srgbClr val="1B2733"/>
                </a:solidFill>
                <a:latin typeface="Arial"/>
              </a:rPr>
              <a:t>routing, auth, hygiene in one place.</a:t>
            </a:r>
          </a:p>
          <a:p>
            <a:pPr algn="l" marL="256032" indent="-256032">
              <a:lnSpc>
                <a:spcPct val="106000"/>
              </a:lnSpc>
              <a:spcBef>
                <a:spcPts val="0"/>
              </a:spcBef>
              <a:spcAft>
                <a:spcPts val="800"/>
              </a:spcAft>
              <a:buClr>
                <a:srgbClr val="0E8FA8"/>
              </a:buClr>
              <a:buFont typeface="Arial"/>
              <a:buChar char="▪"/>
            </a:pPr>
            <a:r>
              <a:rPr sz="1100" b="1">
                <a:solidFill>
                  <a:srgbClr val="1B2733"/>
                </a:solidFill>
                <a:latin typeface="Arial"/>
              </a:rPr>
              <a:t>Bounded remediation  </a:t>
            </a:r>
            <a:r>
              <a:rPr sz="1100" b="0">
                <a:solidFill>
                  <a:srgbClr val="1B2733"/>
                </a:solidFill>
                <a:latin typeface="Arial"/>
              </a:rPr>
              <a:t>typed runbook allowlist + approval gate.</a:t>
            </a:r>
          </a:p>
          <a:p>
            <a:pPr algn="l" marL="256032" indent="-256032">
              <a:lnSpc>
                <a:spcPct val="106000"/>
              </a:lnSpc>
              <a:spcBef>
                <a:spcPts val="0"/>
              </a:spcBef>
              <a:spcAft>
                <a:spcPts val="800"/>
              </a:spcAft>
              <a:buClr>
                <a:srgbClr val="0E8FA8"/>
              </a:buClr>
              <a:buFont typeface="Arial"/>
              <a:buChar char="▪"/>
            </a:pPr>
            <a:r>
              <a:rPr sz="1100" b="1">
                <a:solidFill>
                  <a:srgbClr val="1B2733"/>
                </a:solidFill>
                <a:latin typeface="Arial"/>
              </a:rPr>
              <a:t>Clean migration path  </a:t>
            </a:r>
            <a:r>
              <a:rPr sz="1100" b="0">
                <a:solidFill>
                  <a:srgbClr val="1B2733"/>
                </a:solidFill>
                <a:latin typeface="Arial"/>
              </a:rPr>
              <a:t>wrap with A2A at org boundaries later.</a:t>
            </a:r>
          </a:p>
        </p:txBody>
      </p:sp>
      <p:sp>
        <p:nvSpPr>
          <p:cNvPr id="11" name="Rounded Rectangle 10"/>
          <p:cNvSpPr/>
          <p:nvPr/>
        </p:nvSpPr>
        <p:spPr>
          <a:xfrm>
            <a:off x="6278727" y="1828800"/>
            <a:ext cx="5346039" cy="3977639"/>
          </a:xfrm>
          <a:prstGeom prst="roundRect">
            <a:avLst>
              <a:gd name="adj" fmla="val 4500"/>
            </a:avLst>
          </a:prstGeom>
          <a:solidFill>
            <a:srgbClr val="FBEFD9"/>
          </a:solidFill>
          <a:ln w="12700">
            <a:solidFill>
              <a:srgbClr val="D98B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79895" y="2048255"/>
            <a:ext cx="82296" cy="237744"/>
          </a:xfrm>
          <a:prstGeom prst="rect">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1063" y="2011679"/>
            <a:ext cx="4742535"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  Known limits (POC)</a:t>
            </a:r>
          </a:p>
        </p:txBody>
      </p:sp>
      <p:sp>
        <p:nvSpPr>
          <p:cNvPr id="14" name="TextBox 13"/>
          <p:cNvSpPr txBox="1"/>
          <p:nvPr/>
        </p:nvSpPr>
        <p:spPr>
          <a:xfrm>
            <a:off x="6534759" y="2514600"/>
            <a:ext cx="4843119" cy="3108960"/>
          </a:xfrm>
          <a:prstGeom prst="rect">
            <a:avLst/>
          </a:prstGeom>
          <a:noFill/>
        </p:spPr>
        <p:txBody>
          <a:bodyPr wrap="square" anchor="t" lIns="0" rIns="0" tIns="0" bIns="0">
            <a:noAutofit/>
          </a:bodyPr>
          <a:lstStyle/>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Keyword router  </a:t>
            </a:r>
            <a:r>
              <a:rPr sz="1100" b="0">
                <a:solidFill>
                  <a:srgbClr val="1B2733"/>
                </a:solidFill>
                <a:latin typeface="Arial"/>
              </a:rPr>
              <a:t>not vector-based; fine at ~21 tools, upgrade for 50+.</a:t>
            </a:r>
          </a:p>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No result hygiene  </a:t>
            </a:r>
            <a:r>
              <a:rPr sz="1100" b="0">
                <a:solidFill>
                  <a:srgbClr val="1B2733"/>
                </a:solidFill>
                <a:latin typeface="Arial"/>
              </a:rPr>
              <a:t>live payloads need truncation/neutralization.</a:t>
            </a:r>
          </a:p>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No endpoint auth  </a:t>
            </a:r>
            <a:r>
              <a:rPr sz="1100" b="0">
                <a:solidFill>
                  <a:srgbClr val="1B2733"/>
                </a:solidFill>
                <a:latin typeface="Arial"/>
              </a:rPr>
              <a:t>trusted local net; prod defers to the WSO2 gateway.</a:t>
            </a:r>
          </a:p>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Static catalog  </a:t>
            </a:r>
            <a:r>
              <a:rPr sz="1100" b="0">
                <a:solidFill>
                  <a:srgbClr val="1B2733"/>
                </a:solidFill>
                <a:latin typeface="Arial"/>
              </a:rPr>
              <a:t>in-code map today; production reads a CMDB.</a:t>
            </a:r>
          </a:p>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Stub runbooks  </a:t>
            </a:r>
            <a:r>
              <a:rPr sz="1100" b="0">
                <a:solidFill>
                  <a:srgbClr val="1B2733"/>
                </a:solidFill>
                <a:latin typeface="Arial"/>
              </a:rPr>
              <a:t>only disable-chaos is wired to a real action.</a:t>
            </a:r>
          </a:p>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SSE buffering risk  </a:t>
            </a:r>
            <a:r>
              <a:rPr sz="1100" b="0">
                <a:solidFill>
                  <a:srgbClr val="1B2733"/>
                </a:solidFill>
                <a:latin typeface="Arial"/>
              </a:rPr>
              <a:t>a buffering gateway breaks streaming run_runbook.</a:t>
            </a:r>
          </a:p>
        </p:txBody>
      </p:sp>
      <p:sp>
        <p:nvSpPr>
          <p:cNvPr id="15" name="TextBox 14"/>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16" name="TextBox 15"/>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29  /  48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53935" y="-320040"/>
            <a:ext cx="4572000" cy="3840480"/>
          </a:xfrm>
          <a:prstGeom prst="rect">
            <a:avLst/>
          </a:prstGeom>
          <a:noFill/>
        </p:spPr>
        <p:txBody>
          <a:bodyPr wrap="square" anchor="t" lIns="0" rIns="0" tIns="0" bIns="0">
            <a:noAutofit/>
          </a:bodyPr>
          <a:lstStyle/>
          <a:p>
            <a:pPr algn="r">
              <a:lnSpc>
                <a:spcPct val="100000"/>
              </a:lnSpc>
              <a:spcBef>
                <a:spcPts val="0"/>
              </a:spcBef>
              <a:spcAft>
                <a:spcPts val="600"/>
              </a:spcAft>
            </a:pPr>
            <a:r>
              <a:rPr sz="21000" b="1">
                <a:solidFill>
                  <a:srgbClr val="20374A"/>
                </a:solidFill>
                <a:latin typeface="Arial"/>
              </a:rPr>
              <a:t>04</a:t>
            </a:r>
          </a:p>
        </p:txBody>
      </p:sp>
      <p:sp>
        <p:nvSpPr>
          <p:cNvPr id="4" name="Rectangle 3"/>
          <p:cNvSpPr/>
          <p:nvPr/>
        </p:nvSpPr>
        <p:spPr>
          <a:xfrm>
            <a:off x="566928" y="2761488"/>
            <a:ext cx="822960" cy="100584"/>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99232"/>
            <a:ext cx="9601200" cy="365760"/>
          </a:xfrm>
          <a:prstGeom prst="rect">
            <a:avLst/>
          </a:prstGeom>
          <a:noFill/>
        </p:spPr>
        <p:txBody>
          <a:bodyPr wrap="square" anchor="t" lIns="0" rIns="0" tIns="0" bIns="0">
            <a:noAutofit/>
          </a:bodyPr>
          <a:lstStyle/>
          <a:p>
            <a:pPr algn="l">
              <a:lnSpc>
                <a:spcPct val="100000"/>
              </a:lnSpc>
              <a:spcBef>
                <a:spcPts val="0"/>
              </a:spcBef>
              <a:spcAft>
                <a:spcPts val="600"/>
              </a:spcAft>
            </a:pPr>
            <a:r>
              <a:rPr sz="1250" b="1">
                <a:solidFill>
                  <a:srgbClr val="6A4CE0"/>
                </a:solidFill>
                <a:latin typeface="Arial"/>
              </a:rPr>
              <a:t>SECTION</a:t>
            </a:r>
          </a:p>
        </p:txBody>
      </p:sp>
      <p:sp>
        <p:nvSpPr>
          <p:cNvPr id="6" name="TextBox 5"/>
          <p:cNvSpPr txBox="1"/>
          <p:nvPr/>
        </p:nvSpPr>
        <p:spPr>
          <a:xfrm>
            <a:off x="566928" y="3346704"/>
            <a:ext cx="10241280" cy="1554480"/>
          </a:xfrm>
          <a:prstGeom prst="rect">
            <a:avLst/>
          </a:prstGeom>
          <a:noFill/>
        </p:spPr>
        <p:txBody>
          <a:bodyPr wrap="square" anchor="t" lIns="0" rIns="0" tIns="0" bIns="0">
            <a:noAutofit/>
          </a:bodyPr>
          <a:lstStyle/>
          <a:p>
            <a:pPr algn="l">
              <a:lnSpc>
                <a:spcPct val="102000"/>
              </a:lnSpc>
              <a:spcBef>
                <a:spcPts val="0"/>
              </a:spcBef>
              <a:spcAft>
                <a:spcPts val="600"/>
              </a:spcAft>
            </a:pPr>
            <a:r>
              <a:rPr sz="4000" b="1">
                <a:solidFill>
                  <a:srgbClr val="FFFFFF"/>
                </a:solidFill>
                <a:latin typeface="Arial"/>
              </a:rPr>
              <a:t>LangChain + A2A</a:t>
            </a:r>
          </a:p>
        </p:txBody>
      </p:sp>
      <p:sp>
        <p:nvSpPr>
          <p:cNvPr id="7" name="TextBox 6"/>
          <p:cNvSpPr txBox="1"/>
          <p:nvPr/>
        </p:nvSpPr>
        <p:spPr>
          <a:xfrm>
            <a:off x="566928" y="4937760"/>
            <a:ext cx="9692640" cy="1005840"/>
          </a:xfrm>
          <a:prstGeom prst="rect">
            <a:avLst/>
          </a:prstGeom>
          <a:noFill/>
        </p:spPr>
        <p:txBody>
          <a:bodyPr wrap="square" anchor="t" lIns="0" rIns="0" tIns="0" bIns="0">
            <a:noAutofit/>
          </a:bodyPr>
          <a:lstStyle/>
          <a:p>
            <a:pPr algn="l">
              <a:lnSpc>
                <a:spcPct val="115000"/>
              </a:lnSpc>
              <a:spcBef>
                <a:spcPts val="0"/>
              </a:spcBef>
              <a:spcAft>
                <a:spcPts val="600"/>
              </a:spcAft>
            </a:pPr>
            <a:r>
              <a:rPr sz="1500" b="0">
                <a:solidFill>
                  <a:srgbClr val="AEBECD"/>
                </a:solidFill>
                <a:latin typeface="Arial"/>
              </a:rPr>
              <a:t>An orchestrator that delegates to Datadog &amp; Splunk specialist agents over the A2A protocol.</a:t>
            </a:r>
          </a:p>
        </p:txBody>
      </p:sp>
      <p:sp>
        <p:nvSpPr>
          <p:cNvPr id="8" name="TextBox 7"/>
          <p:cNvSpPr txBox="1"/>
          <p:nvPr/>
        </p:nvSpPr>
        <p:spPr>
          <a:xfrm>
            <a:off x="566928" y="6272784"/>
            <a:ext cx="2194560" cy="457200"/>
          </a:xfrm>
          <a:prstGeom prst="rect">
            <a:avLst/>
          </a:prstGeom>
          <a:noFill/>
        </p:spPr>
        <p:txBody>
          <a:bodyPr wrap="square" anchor="ctr" lIns="0" rIns="0" tIns="0" bIns="0">
            <a:noAutofit/>
          </a:bodyPr>
          <a:lstStyle/>
          <a:p>
            <a:pPr algn="l">
              <a:lnSpc>
                <a:spcPct val="100000"/>
              </a:lnSpc>
              <a:spcBef>
                <a:spcPts val="0"/>
              </a:spcBef>
              <a:spcAft>
                <a:spcPts val="600"/>
              </a:spcAft>
            </a:pPr>
            <a:r>
              <a:rPr sz="1600" b="1">
                <a:solidFill>
                  <a:srgbClr val="FFFFFF"/>
                </a:solidFill>
                <a:latin typeface="Arial"/>
              </a:rPr>
              <a:t>wso</a:t>
            </a:r>
            <a:r>
              <a:rPr sz="1600" b="1">
                <a:solidFill>
                  <a:srgbClr val="FF7300"/>
                </a:solidFill>
                <a:latin typeface="Arial"/>
              </a:rPr>
              <a:t>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6A4CE0"/>
                </a:solidFill>
                <a:latin typeface="Arial"/>
              </a:rPr>
              <a:t>SOLUTION 2 · LANGCHAIN + A2A</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core idea</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5943600" cy="3474720"/>
          </a:xfrm>
          <a:prstGeom prst="rect">
            <a:avLst/>
          </a:prstGeom>
          <a:noFill/>
        </p:spPr>
        <p:txBody>
          <a:bodyPr wrap="square" anchor="t" lIns="0" rIns="0" tIns="0" bIns="0">
            <a:noAutofit/>
          </a:bodyPr>
          <a:lstStyle/>
          <a:p>
            <a:pPr algn="l" marL="256032" indent="-256032">
              <a:lnSpc>
                <a:spcPct val="106000"/>
              </a:lnSpc>
              <a:spcBef>
                <a:spcPts val="0"/>
              </a:spcBef>
              <a:spcAft>
                <a:spcPts val="1000"/>
              </a:spcAft>
              <a:buClr>
                <a:srgbClr val="6A4CE0"/>
              </a:buClr>
              <a:buFont typeface="Arial"/>
              <a:buChar char="▪"/>
            </a:pPr>
            <a:r>
              <a:rPr sz="1250" b="1">
                <a:solidFill>
                  <a:srgbClr val="5138C0"/>
                </a:solidFill>
                <a:latin typeface="Arial"/>
              </a:rPr>
              <a:t>Three agents.  </a:t>
            </a:r>
            <a:r>
              <a:rPr sz="1250" b="0">
                <a:solidFill>
                  <a:srgbClr val="1B2733"/>
                </a:solidFill>
                <a:latin typeface="Arial"/>
              </a:rPr>
              <a:t>An orchestrator (DevOpsOverSightAgent) delegates to two specialists — a DataDogAgent and a SplunkAgent — over the A2A protocol.</a:t>
            </a:r>
          </a:p>
          <a:p>
            <a:pPr algn="l" marL="256032" indent="-256032">
              <a:lnSpc>
                <a:spcPct val="106000"/>
              </a:lnSpc>
              <a:spcBef>
                <a:spcPts val="0"/>
              </a:spcBef>
              <a:spcAft>
                <a:spcPts val="1000"/>
              </a:spcAft>
              <a:buClr>
                <a:srgbClr val="6A4CE0"/>
              </a:buClr>
              <a:buFont typeface="Arial"/>
              <a:buChar char="▪"/>
            </a:pPr>
            <a:r>
              <a:rPr sz="1250" b="1">
                <a:solidFill>
                  <a:srgbClr val="5138C0"/>
                </a:solidFill>
                <a:latin typeface="Arial"/>
              </a:rPr>
              <a:t>Low-context by decomposition.  </a:t>
            </a:r>
            <a:r>
              <a:rPr sz="1250" b="0">
                <a:solidFill>
                  <a:srgbClr val="1B2733"/>
                </a:solidFill>
                <a:latin typeface="Arial"/>
              </a:rPr>
              <a:t>Each specialist eagerly loads only its own small toolset (8 Datadog / 4 Splunk). The vendor manifests never enter the orchestrator's context.</a:t>
            </a:r>
          </a:p>
          <a:p>
            <a:pPr algn="l" marL="256032" indent="-256032">
              <a:lnSpc>
                <a:spcPct val="106000"/>
              </a:lnSpc>
              <a:spcBef>
                <a:spcPts val="0"/>
              </a:spcBef>
              <a:spcAft>
                <a:spcPts val="1000"/>
              </a:spcAft>
              <a:buClr>
                <a:srgbClr val="6A4CE0"/>
              </a:buClr>
              <a:buFont typeface="Arial"/>
              <a:buChar char="▪"/>
            </a:pPr>
            <a:r>
              <a:rPr sz="1250" b="1">
                <a:solidFill>
                  <a:srgbClr val="5138C0"/>
                </a:solidFill>
                <a:latin typeface="Arial"/>
              </a:rPr>
              <a:t>No proxy, no discover_tools.  </a:t>
            </a:r>
            <a:r>
              <a:rPr sz="1250" b="0">
                <a:solidFill>
                  <a:srgbClr val="1B2733"/>
                </a:solidFill>
                <a:latin typeface="Arial"/>
              </a:rPr>
              <a:t>The proxy dissolves: federation becomes the A2A boundary; correlation &amp; runbooks stay in-process in the orchestrator.</a:t>
            </a:r>
          </a:p>
          <a:p>
            <a:pPr algn="l" marL="256032" indent="-256032">
              <a:lnSpc>
                <a:spcPct val="106000"/>
              </a:lnSpc>
              <a:spcBef>
                <a:spcPts val="0"/>
              </a:spcBef>
              <a:spcAft>
                <a:spcPts val="1000"/>
              </a:spcAft>
              <a:buClr>
                <a:srgbClr val="6A4CE0"/>
              </a:buClr>
              <a:buFont typeface="Arial"/>
              <a:buChar char="▪"/>
            </a:pPr>
            <a:r>
              <a:rPr sz="1250" b="1">
                <a:solidFill>
                  <a:srgbClr val="5138C0"/>
                </a:solidFill>
                <a:latin typeface="Arial"/>
              </a:rPr>
              <a:t>Familiar ecosystem.  </a:t>
            </a:r>
            <a:r>
              <a:rPr sz="1250" b="0">
                <a:solidFill>
                  <a:srgbClr val="1B2733"/>
                </a:solidFill>
                <a:latin typeface="Arial"/>
              </a:rPr>
              <a:t>Python 3.12, LangChain 1.x on the LangGraph runtime — the stack most teams already know.</a:t>
            </a:r>
          </a:p>
        </p:txBody>
      </p:sp>
      <p:sp>
        <p:nvSpPr>
          <p:cNvPr id="8" name="Rounded Rectangle 7"/>
          <p:cNvSpPr/>
          <p:nvPr/>
        </p:nvSpPr>
        <p:spPr>
          <a:xfrm>
            <a:off x="6922008" y="1828800"/>
            <a:ext cx="4702759" cy="1371600"/>
          </a:xfrm>
          <a:prstGeom prst="roundRect">
            <a:avLst>
              <a:gd name="adj" fmla="val 4500"/>
            </a:avLst>
          </a:prstGeom>
          <a:solidFill>
            <a:srgbClr val="EC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22008" y="1828800"/>
            <a:ext cx="91440" cy="137160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59752" y="1956816"/>
            <a:ext cx="4318711" cy="1115568"/>
          </a:xfrm>
          <a:prstGeom prst="rect">
            <a:avLst/>
          </a:prstGeom>
          <a:noFill/>
        </p:spPr>
        <p:txBody>
          <a:bodyPr wrap="square" anchor="ctr" lIns="0" rIns="0" tIns="0" bIns="0">
            <a:noAutofit/>
          </a:bodyPr>
          <a:lstStyle/>
          <a:p>
            <a:pPr algn="l">
              <a:lnSpc>
                <a:spcPct val="100000"/>
              </a:lnSpc>
              <a:spcBef>
                <a:spcPts val="0"/>
              </a:spcBef>
              <a:spcAft>
                <a:spcPts val="300"/>
              </a:spcAft>
            </a:pPr>
            <a:r>
              <a:rPr sz="1250" b="1">
                <a:solidFill>
                  <a:srgbClr val="6A4CE0"/>
                </a:solidFill>
                <a:latin typeface="Arial"/>
              </a:rPr>
              <a:t>◆  Same principle, other shape</a:t>
            </a:r>
          </a:p>
          <a:p>
            <a:pPr algn="l">
              <a:lnSpc>
                <a:spcPct val="112000"/>
              </a:lnSpc>
              <a:spcBef>
                <a:spcPts val="0"/>
              </a:spcBef>
              <a:spcAft>
                <a:spcPts val="0"/>
              </a:spcAft>
            </a:pPr>
            <a:r>
              <a:rPr sz="1050" b="0">
                <a:solidFill>
                  <a:srgbClr val="3E4C59"/>
                </a:solidFill>
                <a:latin typeface="Arial"/>
              </a:rPr>
              <a:t>A2A is used ONLY at the platform-team boundary — not to split correlation. The fusion still happens in one orchestrator context.</a:t>
            </a:r>
          </a:p>
        </p:txBody>
      </p:sp>
      <p:sp>
        <p:nvSpPr>
          <p:cNvPr id="11" name="Rounded Rectangle 10"/>
          <p:cNvSpPr/>
          <p:nvPr/>
        </p:nvSpPr>
        <p:spPr>
          <a:xfrm>
            <a:off x="6922008" y="3429000"/>
            <a:ext cx="2237079" cy="105156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31736" y="3538728"/>
            <a:ext cx="2017623" cy="832103"/>
          </a:xfrm>
          <a:prstGeom prst="rect">
            <a:avLst/>
          </a:prstGeom>
          <a:noFill/>
        </p:spPr>
        <p:txBody>
          <a:bodyPr wrap="square" anchor="ctr" lIns="0" rIns="0" tIns="0" bIns="0">
            <a:noAutofit/>
          </a:bodyPr>
          <a:lstStyle/>
          <a:p>
            <a:pPr algn="ctr">
              <a:lnSpc>
                <a:spcPct val="100000"/>
              </a:lnSpc>
              <a:spcBef>
                <a:spcPts val="0"/>
              </a:spcBef>
              <a:spcAft>
                <a:spcPts val="200"/>
              </a:spcAft>
            </a:pPr>
            <a:r>
              <a:rPr sz="3200" b="1">
                <a:solidFill>
                  <a:srgbClr val="6A4CE0"/>
                </a:solidFill>
                <a:latin typeface="Arial"/>
              </a:rPr>
              <a:t>3</a:t>
            </a:r>
          </a:p>
          <a:p>
            <a:pPr algn="ctr">
              <a:lnSpc>
                <a:spcPct val="102000"/>
              </a:lnSpc>
              <a:spcBef>
                <a:spcPts val="0"/>
              </a:spcBef>
              <a:spcAft>
                <a:spcPts val="0"/>
              </a:spcAft>
            </a:pPr>
            <a:r>
              <a:rPr sz="1100" b="1">
                <a:solidFill>
                  <a:srgbClr val="1B2733"/>
                </a:solidFill>
                <a:latin typeface="Arial"/>
              </a:rPr>
              <a:t>agents</a:t>
            </a:r>
          </a:p>
        </p:txBody>
      </p:sp>
      <p:sp>
        <p:nvSpPr>
          <p:cNvPr id="13" name="Rounded Rectangle 12"/>
          <p:cNvSpPr/>
          <p:nvPr/>
        </p:nvSpPr>
        <p:spPr>
          <a:xfrm>
            <a:off x="9387687" y="3429000"/>
            <a:ext cx="2237079" cy="105156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97415" y="3538728"/>
            <a:ext cx="2017623" cy="832103"/>
          </a:xfrm>
          <a:prstGeom prst="rect">
            <a:avLst/>
          </a:prstGeom>
          <a:noFill/>
        </p:spPr>
        <p:txBody>
          <a:bodyPr wrap="square" anchor="ctr" lIns="0" rIns="0" tIns="0" bIns="0">
            <a:noAutofit/>
          </a:bodyPr>
          <a:lstStyle/>
          <a:p>
            <a:pPr algn="ctr">
              <a:lnSpc>
                <a:spcPct val="100000"/>
              </a:lnSpc>
              <a:spcBef>
                <a:spcPts val="0"/>
              </a:spcBef>
              <a:spcAft>
                <a:spcPts val="200"/>
              </a:spcAft>
            </a:pPr>
            <a:r>
              <a:rPr sz="2600" b="1">
                <a:solidFill>
                  <a:srgbClr val="1B2733"/>
                </a:solidFill>
                <a:latin typeface="Arial"/>
              </a:rPr>
              <a:t>8+4</a:t>
            </a:r>
          </a:p>
          <a:p>
            <a:pPr algn="ctr">
              <a:lnSpc>
                <a:spcPct val="102000"/>
              </a:lnSpc>
              <a:spcBef>
                <a:spcPts val="0"/>
              </a:spcBef>
              <a:spcAft>
                <a:spcPts val="0"/>
              </a:spcAft>
            </a:pPr>
            <a:r>
              <a:rPr sz="950" b="1">
                <a:solidFill>
                  <a:srgbClr val="1B2733"/>
                </a:solidFill>
                <a:latin typeface="Arial"/>
              </a:rPr>
              <a:t>specialist tools</a:t>
            </a:r>
          </a:p>
        </p:txBody>
      </p:sp>
      <p:sp>
        <p:nvSpPr>
          <p:cNvPr id="15" name="Rounded Rectangle 14"/>
          <p:cNvSpPr/>
          <p:nvPr/>
        </p:nvSpPr>
        <p:spPr>
          <a:xfrm>
            <a:off x="6922008" y="4663440"/>
            <a:ext cx="4702759" cy="100584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31736" y="4773168"/>
            <a:ext cx="4483303" cy="786384"/>
          </a:xfrm>
          <a:prstGeom prst="rect">
            <a:avLst/>
          </a:prstGeom>
          <a:noFill/>
        </p:spPr>
        <p:txBody>
          <a:bodyPr wrap="square" anchor="ctr" lIns="0" rIns="0" tIns="0" bIns="0">
            <a:noAutofit/>
          </a:bodyPr>
          <a:lstStyle/>
          <a:p>
            <a:pPr algn="ctr">
              <a:lnSpc>
                <a:spcPct val="100000"/>
              </a:lnSpc>
              <a:spcBef>
                <a:spcPts val="0"/>
              </a:spcBef>
              <a:spcAft>
                <a:spcPts val="200"/>
              </a:spcAft>
            </a:pPr>
            <a:r>
              <a:rPr sz="2400" b="1">
                <a:solidFill>
                  <a:srgbClr val="1B2733"/>
                </a:solidFill>
                <a:latin typeface="Arial"/>
              </a:rPr>
              <a:t>Python 3.12</a:t>
            </a:r>
          </a:p>
          <a:p>
            <a:pPr algn="ctr">
              <a:lnSpc>
                <a:spcPct val="102000"/>
              </a:lnSpc>
              <a:spcBef>
                <a:spcPts val="0"/>
              </a:spcBef>
              <a:spcAft>
                <a:spcPts val="0"/>
              </a:spcAft>
            </a:pPr>
            <a:r>
              <a:rPr sz="1000" b="1">
                <a:solidFill>
                  <a:srgbClr val="1B2733"/>
                </a:solidFill>
                <a:latin typeface="Arial"/>
              </a:rPr>
              <a:t>LangChain 1.x · LangGraph</a:t>
            </a:r>
          </a:p>
        </p:txBody>
      </p:sp>
      <p:sp>
        <p:nvSpPr>
          <p:cNvPr id="17" name="TextBox 16"/>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18" name="TextBox 17"/>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31  /  48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6A4CE0"/>
                </a:solidFill>
                <a:latin typeface="Arial"/>
              </a:rPr>
              <a:t>SOLUTION 2 · LANGCHAIN + A2A</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Architecture</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3017520"/>
            <a:ext cx="2834640" cy="1371600"/>
          </a:xfrm>
          <a:prstGeom prst="roundRect">
            <a:avLst>
              <a:gd name="adj" fmla="val 10000"/>
            </a:avLst>
          </a:prstGeom>
          <a:solidFill>
            <a:srgbClr val="1B2733"/>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054096"/>
            <a:ext cx="2688336" cy="1298448"/>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FFFFFF"/>
                </a:solidFill>
                <a:latin typeface="Arial"/>
              </a:rPr>
              <a:t>DevOpsOverSightAgent</a:t>
            </a:r>
          </a:p>
          <a:p>
            <a:pPr algn="ctr">
              <a:lnSpc>
                <a:spcPct val="102000"/>
              </a:lnSpc>
              <a:spcBef>
                <a:spcPts val="0"/>
              </a:spcBef>
              <a:spcAft>
                <a:spcPts val="0"/>
              </a:spcAft>
            </a:pPr>
            <a:r>
              <a:rPr sz="900" b="0">
                <a:solidFill>
                  <a:srgbClr val="AEBECD"/>
                </a:solidFill>
                <a:latin typeface="Arial"/>
              </a:rPr>
              <a:t>orchestrator · :18092</a:t>
            </a:r>
          </a:p>
        </p:txBody>
      </p:sp>
      <p:sp>
        <p:nvSpPr>
          <p:cNvPr id="9" name="TextBox 8"/>
          <p:cNvSpPr txBox="1"/>
          <p:nvPr/>
        </p:nvSpPr>
        <p:spPr>
          <a:xfrm>
            <a:off x="658368" y="3886200"/>
            <a:ext cx="2651760" cy="457200"/>
          </a:xfrm>
          <a:prstGeom prst="rect">
            <a:avLst/>
          </a:prstGeom>
          <a:noFill/>
        </p:spPr>
        <p:txBody>
          <a:bodyPr wrap="square" anchor="ctr" lIns="0" rIns="0" tIns="0" bIns="0">
            <a:noAutofit/>
          </a:bodyPr>
          <a:lstStyle/>
          <a:p>
            <a:pPr algn="ctr">
              <a:lnSpc>
                <a:spcPct val="100000"/>
              </a:lnSpc>
              <a:spcBef>
                <a:spcPts val="0"/>
              </a:spcBef>
              <a:spcAft>
                <a:spcPts val="600"/>
              </a:spcAft>
            </a:pPr>
            <a:r>
              <a:rPr sz="800" b="0">
                <a:solidFill>
                  <a:srgbClr val="AEBECD"/>
                </a:solidFill>
                <a:latin typeface="Arial"/>
              </a:rPr>
              <a:t>+ 11 in-process topology / correlation / runbook tools</a:t>
            </a:r>
          </a:p>
        </p:txBody>
      </p:sp>
      <p:sp>
        <p:nvSpPr>
          <p:cNvPr id="10" name="Rounded Rectangle 9"/>
          <p:cNvSpPr/>
          <p:nvPr/>
        </p:nvSpPr>
        <p:spPr>
          <a:xfrm>
            <a:off x="4224528" y="2057400"/>
            <a:ext cx="3017520" cy="1051560"/>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093976"/>
            <a:ext cx="2871215" cy="978407"/>
          </a:xfrm>
          <a:prstGeom prst="rect">
            <a:avLst/>
          </a:prstGeom>
          <a:noFill/>
        </p:spPr>
        <p:txBody>
          <a:bodyPr wrap="square" anchor="ctr" lIns="0" rIns="0" tIns="0" bIns="0">
            <a:noAutofit/>
          </a:bodyPr>
          <a:lstStyle/>
          <a:p>
            <a:pPr algn="ctr">
              <a:lnSpc>
                <a:spcPct val="100000"/>
              </a:lnSpc>
              <a:spcBef>
                <a:spcPts val="0"/>
              </a:spcBef>
              <a:spcAft>
                <a:spcPts val="200"/>
              </a:spcAft>
            </a:pPr>
            <a:r>
              <a:rPr sz="750" b="1">
                <a:solidFill>
                  <a:srgbClr val="7A3FE4"/>
                </a:solidFill>
                <a:latin typeface="Arial"/>
              </a:rPr>
              <a:t>SPECIALIST</a:t>
            </a:r>
          </a:p>
          <a:p>
            <a:pPr algn="ctr">
              <a:lnSpc>
                <a:spcPct val="100000"/>
              </a:lnSpc>
              <a:spcBef>
                <a:spcPts val="0"/>
              </a:spcBef>
              <a:spcAft>
                <a:spcPts val="200"/>
              </a:spcAft>
            </a:pPr>
            <a:r>
              <a:rPr sz="1250" b="1">
                <a:solidFill>
                  <a:srgbClr val="1B2733"/>
                </a:solidFill>
                <a:latin typeface="Arial"/>
              </a:rPr>
              <a:t>DataDogAgent</a:t>
            </a:r>
          </a:p>
          <a:p>
            <a:pPr algn="ctr">
              <a:lnSpc>
                <a:spcPct val="102000"/>
              </a:lnSpc>
              <a:spcBef>
                <a:spcPts val="0"/>
              </a:spcBef>
              <a:spcAft>
                <a:spcPts val="0"/>
              </a:spcAft>
            </a:pPr>
            <a:r>
              <a:rPr sz="850" b="0">
                <a:solidFill>
                  <a:srgbClr val="6B7885"/>
                </a:solidFill>
                <a:latin typeface="Arial"/>
              </a:rPr>
              <a:t>A2A server · :18101</a:t>
            </a:r>
          </a:p>
        </p:txBody>
      </p:sp>
      <p:sp>
        <p:nvSpPr>
          <p:cNvPr id="12" name="Rounded Rectangle 11"/>
          <p:cNvSpPr/>
          <p:nvPr/>
        </p:nvSpPr>
        <p:spPr>
          <a:xfrm>
            <a:off x="4224528" y="4206240"/>
            <a:ext cx="3017520" cy="1051560"/>
          </a:xfrm>
          <a:prstGeom prst="roundRect">
            <a:avLst>
              <a:gd name="adj" fmla="val 10000"/>
            </a:avLst>
          </a:prstGeom>
          <a:solidFill>
            <a:srgbClr val="EAF4E1"/>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4242816"/>
            <a:ext cx="2871215" cy="978407"/>
          </a:xfrm>
          <a:prstGeom prst="rect">
            <a:avLst/>
          </a:prstGeom>
          <a:noFill/>
        </p:spPr>
        <p:txBody>
          <a:bodyPr wrap="square" anchor="ctr" lIns="0" rIns="0" tIns="0" bIns="0">
            <a:noAutofit/>
          </a:bodyPr>
          <a:lstStyle/>
          <a:p>
            <a:pPr algn="ctr">
              <a:lnSpc>
                <a:spcPct val="100000"/>
              </a:lnSpc>
              <a:spcBef>
                <a:spcPts val="0"/>
              </a:spcBef>
              <a:spcAft>
                <a:spcPts val="200"/>
              </a:spcAft>
            </a:pPr>
            <a:r>
              <a:rPr sz="750" b="1">
                <a:solidFill>
                  <a:srgbClr val="5AA82B"/>
                </a:solidFill>
                <a:latin typeface="Arial"/>
              </a:rPr>
              <a:t>SPECIALIST</a:t>
            </a:r>
          </a:p>
          <a:p>
            <a:pPr algn="ctr">
              <a:lnSpc>
                <a:spcPct val="100000"/>
              </a:lnSpc>
              <a:spcBef>
                <a:spcPts val="0"/>
              </a:spcBef>
              <a:spcAft>
                <a:spcPts val="200"/>
              </a:spcAft>
            </a:pPr>
            <a:r>
              <a:rPr sz="1250" b="1">
                <a:solidFill>
                  <a:srgbClr val="1B2733"/>
                </a:solidFill>
                <a:latin typeface="Arial"/>
              </a:rPr>
              <a:t>SplunkAgent</a:t>
            </a:r>
          </a:p>
          <a:p>
            <a:pPr algn="ctr">
              <a:lnSpc>
                <a:spcPct val="102000"/>
              </a:lnSpc>
              <a:spcBef>
                <a:spcPts val="0"/>
              </a:spcBef>
              <a:spcAft>
                <a:spcPts val="0"/>
              </a:spcAft>
            </a:pPr>
            <a:r>
              <a:rPr sz="850" b="0">
                <a:solidFill>
                  <a:srgbClr val="6B7885"/>
                </a:solidFill>
                <a:latin typeface="Arial"/>
              </a:rPr>
              <a:t>A2A server · :18102</a:t>
            </a:r>
          </a:p>
        </p:txBody>
      </p:sp>
      <p:cxnSp>
        <p:nvCxnSpPr>
          <p:cNvPr id="14" name="Connector 13"/>
          <p:cNvCxnSpPr/>
          <p:nvPr/>
        </p:nvCxnSpPr>
        <p:spPr>
          <a:xfrm flipV="1">
            <a:off x="3401568" y="2578608"/>
            <a:ext cx="822960" cy="758952"/>
          </a:xfrm>
          <a:prstGeom prst="line">
            <a:avLst/>
          </a:prstGeom>
          <a:ln w="22860">
            <a:solidFill>
              <a:srgbClr val="7A3FE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401568" y="3931920"/>
            <a:ext cx="822960" cy="795528"/>
          </a:xfrm>
          <a:prstGeom prst="line">
            <a:avLst/>
          </a:prstGeom>
          <a:ln w="22860">
            <a:solidFill>
              <a:srgbClr val="5AA82B"/>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944368" y="2670048"/>
            <a:ext cx="1737360" cy="237744"/>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44368" y="2670048"/>
            <a:ext cx="1737360" cy="237744"/>
          </a:xfrm>
          <a:prstGeom prst="rect">
            <a:avLst/>
          </a:prstGeom>
          <a:noFill/>
        </p:spPr>
        <p:txBody>
          <a:bodyPr wrap="square" anchor="ctr" lIns="0" rIns="0" tIns="0" bIns="0">
            <a:noAutofit/>
          </a:bodyPr>
          <a:lstStyle/>
          <a:p>
            <a:pPr algn="ctr">
              <a:lnSpc>
                <a:spcPct val="100000"/>
              </a:lnSpc>
              <a:spcBef>
                <a:spcPts val="0"/>
              </a:spcBef>
              <a:spcAft>
                <a:spcPts val="600"/>
              </a:spcAft>
            </a:pPr>
            <a:r>
              <a:rPr sz="800" b="1">
                <a:solidFill>
                  <a:srgbClr val="7A3FE4"/>
                </a:solidFill>
                <a:latin typeface="Arial"/>
              </a:rPr>
              <a:t>A2A
ask_datadog_agent</a:t>
            </a:r>
          </a:p>
        </p:txBody>
      </p:sp>
      <p:sp>
        <p:nvSpPr>
          <p:cNvPr id="18" name="Rounded Rectangle 17"/>
          <p:cNvSpPr/>
          <p:nvPr/>
        </p:nvSpPr>
        <p:spPr>
          <a:xfrm>
            <a:off x="2944368" y="4407407"/>
            <a:ext cx="1737360" cy="237744"/>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44368" y="4407407"/>
            <a:ext cx="1737360" cy="237744"/>
          </a:xfrm>
          <a:prstGeom prst="rect">
            <a:avLst/>
          </a:prstGeom>
          <a:noFill/>
        </p:spPr>
        <p:txBody>
          <a:bodyPr wrap="square" anchor="ctr" lIns="0" rIns="0" tIns="0" bIns="0">
            <a:noAutofit/>
          </a:bodyPr>
          <a:lstStyle/>
          <a:p>
            <a:pPr algn="ctr">
              <a:lnSpc>
                <a:spcPct val="100000"/>
              </a:lnSpc>
              <a:spcBef>
                <a:spcPts val="0"/>
              </a:spcBef>
              <a:spcAft>
                <a:spcPts val="600"/>
              </a:spcAft>
            </a:pPr>
            <a:r>
              <a:rPr sz="800" b="1">
                <a:solidFill>
                  <a:srgbClr val="5AA82B"/>
                </a:solidFill>
                <a:latin typeface="Arial"/>
              </a:rPr>
              <a:t>A2A
ask_splunk_agent</a:t>
            </a:r>
          </a:p>
        </p:txBody>
      </p:sp>
      <p:sp>
        <p:nvSpPr>
          <p:cNvPr id="20" name="Rounded Rectangle 19"/>
          <p:cNvSpPr/>
          <p:nvPr/>
        </p:nvSpPr>
        <p:spPr>
          <a:xfrm>
            <a:off x="7516368" y="2240280"/>
            <a:ext cx="4108399" cy="777240"/>
          </a:xfrm>
          <a:prstGeom prst="roundRect">
            <a:avLst>
              <a:gd name="adj" fmla="val 10000"/>
            </a:avLst>
          </a:prstGeom>
          <a:solidFill>
            <a:srgbClr val="FFFFFF"/>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0" y="2276856"/>
            <a:ext cx="3962095" cy="704088"/>
          </a:xfrm>
          <a:prstGeom prst="rect">
            <a:avLst/>
          </a:prstGeom>
          <a:noFill/>
        </p:spPr>
        <p:txBody>
          <a:bodyPr wrap="square" anchor="ctr" lIns="0" rIns="0" tIns="0" bIns="0">
            <a:noAutofit/>
          </a:bodyPr>
          <a:lstStyle/>
          <a:p>
            <a:pPr algn="ctr">
              <a:lnSpc>
                <a:spcPct val="100000"/>
              </a:lnSpc>
              <a:spcBef>
                <a:spcPts val="0"/>
              </a:spcBef>
              <a:spcAft>
                <a:spcPts val="200"/>
              </a:spcAft>
            </a:pPr>
            <a:r>
              <a:rPr sz="1150" b="1">
                <a:solidFill>
                  <a:srgbClr val="1B2733"/>
                </a:solidFill>
                <a:latin typeface="Arial"/>
              </a:rPr>
              <a:t>datadog-mock-mcp</a:t>
            </a:r>
          </a:p>
          <a:p>
            <a:pPr algn="ctr">
              <a:lnSpc>
                <a:spcPct val="102000"/>
              </a:lnSpc>
              <a:spcBef>
                <a:spcPts val="0"/>
              </a:spcBef>
              <a:spcAft>
                <a:spcPts val="0"/>
              </a:spcAft>
            </a:pPr>
            <a:r>
              <a:rPr sz="850" b="0">
                <a:solidFill>
                  <a:srgbClr val="6B7885"/>
                </a:solidFill>
                <a:latin typeface="Arial"/>
              </a:rPr>
              <a:t>:18401 · 8 tools</a:t>
            </a:r>
          </a:p>
        </p:txBody>
      </p:sp>
      <p:sp>
        <p:nvSpPr>
          <p:cNvPr id="22" name="Rounded Rectangle 21"/>
          <p:cNvSpPr/>
          <p:nvPr/>
        </p:nvSpPr>
        <p:spPr>
          <a:xfrm>
            <a:off x="7516368" y="4389120"/>
            <a:ext cx="4108399" cy="777240"/>
          </a:xfrm>
          <a:prstGeom prst="roundRect">
            <a:avLst>
              <a:gd name="adj" fmla="val 10000"/>
            </a:avLst>
          </a:prstGeom>
          <a:solidFill>
            <a:srgbClr val="FFFFFF"/>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0" y="4425696"/>
            <a:ext cx="3962095" cy="704088"/>
          </a:xfrm>
          <a:prstGeom prst="rect">
            <a:avLst/>
          </a:prstGeom>
          <a:noFill/>
        </p:spPr>
        <p:txBody>
          <a:bodyPr wrap="square" anchor="ctr" lIns="0" rIns="0" tIns="0" bIns="0">
            <a:noAutofit/>
          </a:bodyPr>
          <a:lstStyle/>
          <a:p>
            <a:pPr algn="ctr">
              <a:lnSpc>
                <a:spcPct val="100000"/>
              </a:lnSpc>
              <a:spcBef>
                <a:spcPts val="0"/>
              </a:spcBef>
              <a:spcAft>
                <a:spcPts val="200"/>
              </a:spcAft>
            </a:pPr>
            <a:r>
              <a:rPr sz="1150" b="1">
                <a:solidFill>
                  <a:srgbClr val="1B2733"/>
                </a:solidFill>
                <a:latin typeface="Arial"/>
              </a:rPr>
              <a:t>splunk-mock-mcp</a:t>
            </a:r>
          </a:p>
          <a:p>
            <a:pPr algn="ctr">
              <a:lnSpc>
                <a:spcPct val="102000"/>
              </a:lnSpc>
              <a:spcBef>
                <a:spcPts val="0"/>
              </a:spcBef>
              <a:spcAft>
                <a:spcPts val="0"/>
              </a:spcAft>
            </a:pPr>
            <a:r>
              <a:rPr sz="850" b="0">
                <a:solidFill>
                  <a:srgbClr val="6B7885"/>
                </a:solidFill>
                <a:latin typeface="Arial"/>
              </a:rPr>
              <a:t>:18400 · 4 tools</a:t>
            </a:r>
          </a:p>
        </p:txBody>
      </p:sp>
      <p:cxnSp>
        <p:nvCxnSpPr>
          <p:cNvPr id="24" name="Connector 23"/>
          <p:cNvCxnSpPr/>
          <p:nvPr/>
        </p:nvCxnSpPr>
        <p:spPr>
          <a:xfrm>
            <a:off x="7242048" y="2578608"/>
            <a:ext cx="274320" cy="45720"/>
          </a:xfrm>
          <a:prstGeom prst="line">
            <a:avLst/>
          </a:prstGeom>
          <a:ln w="19050">
            <a:solidFill>
              <a:srgbClr val="7A3FE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242048" y="4727448"/>
            <a:ext cx="274320" cy="45720"/>
          </a:xfrm>
          <a:prstGeom prst="line">
            <a:avLst/>
          </a:prstGeom>
          <a:ln w="19050">
            <a:solidFill>
              <a:srgbClr val="5AA82B"/>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739128" y="3355848"/>
            <a:ext cx="1280160" cy="237744"/>
          </a:xfrm>
          <a:prstGeom prst="roundRect">
            <a:avLst>
              <a:gd name="adj" fmla="val 4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39128" y="3355848"/>
            <a:ext cx="1280160" cy="237744"/>
          </a:xfrm>
          <a:prstGeom prst="rect">
            <a:avLst/>
          </a:prstGeom>
          <a:noFill/>
        </p:spPr>
        <p:txBody>
          <a:bodyPr wrap="square" anchor="ctr" lIns="0" rIns="0" tIns="0" bIns="0">
            <a:noAutofit/>
          </a:bodyPr>
          <a:lstStyle/>
          <a:p>
            <a:pPr algn="ctr">
              <a:lnSpc>
                <a:spcPct val="100000"/>
              </a:lnSpc>
              <a:spcBef>
                <a:spcPts val="0"/>
              </a:spcBef>
              <a:spcAft>
                <a:spcPts val="600"/>
              </a:spcAft>
            </a:pPr>
            <a:r>
              <a:rPr sz="800" b="1">
                <a:solidFill>
                  <a:srgbClr val="6B7885"/>
                </a:solidFill>
                <a:latin typeface="Arial"/>
              </a:rPr>
              <a:t>MCP
(own client)</a:t>
            </a:r>
          </a:p>
        </p:txBody>
      </p:sp>
      <p:sp>
        <p:nvSpPr>
          <p:cNvPr id="28" name="TextBox 27"/>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9" name="TextBox 28"/>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32  /  48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6A4CE0"/>
                </a:solidFill>
                <a:latin typeface="Arial"/>
              </a:rPr>
              <a:t>SOLUTION 2 · LANGCHAIN + A2A</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A2A protocol</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5852160" cy="3474720"/>
          </a:xfrm>
          <a:prstGeom prst="rect">
            <a:avLst/>
          </a:prstGeom>
          <a:noFill/>
        </p:spPr>
        <p:txBody>
          <a:bodyPr wrap="square" anchor="t" lIns="0" rIns="0" tIns="0" bIns="0">
            <a:noAutofit/>
          </a:bodyPr>
          <a:lstStyle/>
          <a:p>
            <a:pPr algn="l" marL="256032" indent="-256032">
              <a:lnSpc>
                <a:spcPct val="106000"/>
              </a:lnSpc>
              <a:spcBef>
                <a:spcPts val="0"/>
              </a:spcBef>
              <a:spcAft>
                <a:spcPts val="900"/>
              </a:spcAft>
              <a:buClr>
                <a:srgbClr val="6A4CE0"/>
              </a:buClr>
              <a:buFont typeface="Arial"/>
              <a:buChar char="▪"/>
            </a:pPr>
            <a:r>
              <a:rPr sz="1200" b="1">
                <a:solidFill>
                  <a:srgbClr val="5138C0"/>
                </a:solidFill>
                <a:latin typeface="Arial"/>
              </a:rPr>
              <a:t>Agent cards.  </a:t>
            </a:r>
            <a:r>
              <a:rPr sz="1200" b="0">
                <a:solidFill>
                  <a:srgbClr val="1B2733"/>
                </a:solidFill>
                <a:latin typeface="Arial"/>
              </a:rPr>
              <a:t>Each specialist publishes /.well-known/agent-card.json declaring its skill (datadog_evidence, splunk_log_search) and capabilities.</a:t>
            </a:r>
          </a:p>
          <a:p>
            <a:pPr algn="l" marL="256032" indent="-256032">
              <a:lnSpc>
                <a:spcPct val="106000"/>
              </a:lnSpc>
              <a:spcBef>
                <a:spcPts val="0"/>
              </a:spcBef>
              <a:spcAft>
                <a:spcPts val="900"/>
              </a:spcAft>
              <a:buClr>
                <a:srgbClr val="6A4CE0"/>
              </a:buClr>
              <a:buFont typeface="Arial"/>
              <a:buChar char="▪"/>
            </a:pPr>
            <a:r>
              <a:rPr sz="1200" b="1">
                <a:solidFill>
                  <a:srgbClr val="5138C0"/>
                </a:solidFill>
                <a:latin typeface="Arial"/>
              </a:rPr>
              <a:t>JSON-RPC delegation.  </a:t>
            </a:r>
            <a:r>
              <a:rPr sz="1200" b="0">
                <a:solidFill>
                  <a:srgbClr val="1B2733"/>
                </a:solidFill>
                <a:latin typeface="Arial"/>
              </a:rPr>
              <a:t>The orchestrator resolves the card, then sends a message and streams the reply. One-way: orchestrator → specialist.</a:t>
            </a:r>
          </a:p>
          <a:p>
            <a:pPr algn="l" marL="256032" indent="-256032">
              <a:lnSpc>
                <a:spcPct val="106000"/>
              </a:lnSpc>
              <a:spcBef>
                <a:spcPts val="0"/>
              </a:spcBef>
              <a:spcAft>
                <a:spcPts val="900"/>
              </a:spcAft>
              <a:buClr>
                <a:srgbClr val="6A4CE0"/>
              </a:buClr>
              <a:buFont typeface="Arial"/>
              <a:buChar char="▪"/>
            </a:pPr>
            <a:r>
              <a:rPr sz="1200" b="1">
                <a:solidFill>
                  <a:srgbClr val="5138C0"/>
                </a:solidFill>
                <a:latin typeface="Arial"/>
              </a:rPr>
              <a:t>Request/response, not long-running tasks.  </a:t>
            </a:r>
            <a:r>
              <a:rPr sz="1200" b="0">
                <a:solidFill>
                  <a:srgbClr val="1B2733"/>
                </a:solidFill>
                <a:latin typeface="Arial"/>
              </a:rPr>
              <a:t>Each call is a single round-trip — verified against the SDK, no Task lifecycle.</a:t>
            </a:r>
          </a:p>
          <a:p>
            <a:pPr algn="l" marL="256032" indent="-256032">
              <a:lnSpc>
                <a:spcPct val="106000"/>
              </a:lnSpc>
              <a:spcBef>
                <a:spcPts val="0"/>
              </a:spcBef>
              <a:spcAft>
                <a:spcPts val="900"/>
              </a:spcAft>
              <a:buClr>
                <a:srgbClr val="6A4CE0"/>
              </a:buClr>
              <a:buFont typeface="Arial"/>
              <a:buChar char="▪"/>
            </a:pPr>
            <a:r>
              <a:rPr sz="1200" b="1">
                <a:solidFill>
                  <a:srgbClr val="5138C0"/>
                </a:solidFill>
                <a:latin typeface="Arial"/>
              </a:rPr>
              <a:t>The output contract is load-bearing.  </a:t>
            </a:r>
            <a:r>
              <a:rPr sz="1200" b="0">
                <a:solidFill>
                  <a:srgbClr val="1B2733"/>
                </a:solidFill>
                <a:latin typeface="Arial"/>
              </a:rPr>
              <a:t>Evidence crosses as prose, so specialists MUST return trace_ids verbatim, metric values, timestamps. A vague reply starves the orchestrator.</a:t>
            </a:r>
          </a:p>
        </p:txBody>
      </p:sp>
      <p:sp>
        <p:nvSpPr>
          <p:cNvPr id="8" name="Rounded Rectangle 7"/>
          <p:cNvSpPr/>
          <p:nvPr/>
        </p:nvSpPr>
        <p:spPr>
          <a:xfrm>
            <a:off x="6830568" y="1828800"/>
            <a:ext cx="4794199" cy="196596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13448" y="2029967"/>
            <a:ext cx="82296" cy="237744"/>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14616" y="1993391"/>
            <a:ext cx="4227271"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The delegation call</a:t>
            </a:r>
          </a:p>
        </p:txBody>
      </p:sp>
      <p:sp>
        <p:nvSpPr>
          <p:cNvPr id="11" name="TextBox 10"/>
          <p:cNvSpPr txBox="1"/>
          <p:nvPr/>
        </p:nvSpPr>
        <p:spPr>
          <a:xfrm>
            <a:off x="7059168" y="2514600"/>
            <a:ext cx="4336999" cy="1188720"/>
          </a:xfrm>
          <a:prstGeom prst="rect">
            <a:avLst/>
          </a:prstGeom>
          <a:noFill/>
        </p:spPr>
        <p:txBody>
          <a:bodyPr wrap="square" anchor="t" lIns="0" rIns="0" tIns="0" bIns="0">
            <a:noAutofit/>
          </a:bodyPr>
          <a:lstStyle/>
          <a:p>
            <a:pPr algn="l">
              <a:lnSpc>
                <a:spcPct val="100000"/>
              </a:lnSpc>
              <a:spcBef>
                <a:spcPts val="0"/>
              </a:spcBef>
              <a:spcAft>
                <a:spcPts val="200"/>
              </a:spcAft>
            </a:pPr>
            <a:r>
              <a:rPr sz="1050" b="1">
                <a:solidFill>
                  <a:srgbClr val="1B2733"/>
                </a:solidFill>
                <a:latin typeface="Arial"/>
              </a:rPr>
              <a:t>orchestrator LLM</a:t>
            </a:r>
          </a:p>
          <a:p>
            <a:pPr algn="l">
              <a:lnSpc>
                <a:spcPct val="100000"/>
              </a:lnSpc>
              <a:spcBef>
                <a:spcPts val="0"/>
              </a:spcBef>
              <a:spcAft>
                <a:spcPts val="200"/>
              </a:spcAft>
            </a:pPr>
            <a:r>
              <a:rPr sz="1000" b="0">
                <a:solidFill>
                  <a:srgbClr val="5138C0"/>
                </a:solidFill>
                <a:latin typeface="Consolas"/>
              </a:rPr>
              <a:t>  → ask_datadog_agent("...")</a:t>
            </a:r>
          </a:p>
          <a:p>
            <a:pPr algn="l">
              <a:lnSpc>
                <a:spcPct val="100000"/>
              </a:lnSpc>
              <a:spcBef>
                <a:spcPts val="0"/>
              </a:spcBef>
              <a:spcAft>
                <a:spcPts val="200"/>
              </a:spcAft>
            </a:pPr>
            <a:r>
              <a:rPr sz="1000" b="0">
                <a:solidFill>
                  <a:srgbClr val="3E4C59"/>
                </a:solidFill>
                <a:latin typeface="Consolas"/>
              </a:rPr>
              <a:t>  → A2ACardResolver.get_card()</a:t>
            </a:r>
          </a:p>
          <a:p>
            <a:pPr algn="l">
              <a:lnSpc>
                <a:spcPct val="100000"/>
              </a:lnSpc>
              <a:spcBef>
                <a:spcPts val="0"/>
              </a:spcBef>
              <a:spcAft>
                <a:spcPts val="200"/>
              </a:spcAft>
            </a:pPr>
            <a:r>
              <a:rPr sz="1000" b="0">
                <a:solidFill>
                  <a:srgbClr val="3E4C59"/>
                </a:solidFill>
                <a:latin typeface="Consolas"/>
              </a:rPr>
              <a:t>  → SendMessageRequest (JSON-RPC)</a:t>
            </a:r>
          </a:p>
          <a:p>
            <a:pPr algn="l">
              <a:lnSpc>
                <a:spcPct val="100000"/>
              </a:lnSpc>
              <a:spcBef>
                <a:spcPts val="0"/>
              </a:spcBef>
              <a:spcAft>
                <a:spcPts val="600"/>
              </a:spcAft>
            </a:pPr>
            <a:r>
              <a:rPr sz="1000" b="0">
                <a:solidFill>
                  <a:srgbClr val="3E4C59"/>
                </a:solidFill>
                <a:latin typeface="Consolas"/>
              </a:rPr>
              <a:t>  → specialist ReAct loop → MCP</a:t>
            </a:r>
          </a:p>
        </p:txBody>
      </p:sp>
      <p:sp>
        <p:nvSpPr>
          <p:cNvPr id="12" name="Rounded Rectangle 11"/>
          <p:cNvSpPr/>
          <p:nvPr/>
        </p:nvSpPr>
        <p:spPr>
          <a:xfrm>
            <a:off x="6830568" y="4023360"/>
            <a:ext cx="4794199" cy="1371600"/>
          </a:xfrm>
          <a:prstGeom prst="roundRect">
            <a:avLst>
              <a:gd name="adj" fmla="val 4500"/>
            </a:avLst>
          </a:prstGeom>
          <a:solidFill>
            <a:srgbClr val="FBEF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30568" y="4023360"/>
            <a:ext cx="91440" cy="1371600"/>
          </a:xfrm>
          <a:prstGeom prst="rect">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68312" y="4151376"/>
            <a:ext cx="4410151" cy="1115568"/>
          </a:xfrm>
          <a:prstGeom prst="rect">
            <a:avLst/>
          </a:prstGeom>
          <a:noFill/>
        </p:spPr>
        <p:txBody>
          <a:bodyPr wrap="square" anchor="ctr" lIns="0" rIns="0" tIns="0" bIns="0">
            <a:noAutofit/>
          </a:bodyPr>
          <a:lstStyle/>
          <a:p>
            <a:pPr algn="l">
              <a:lnSpc>
                <a:spcPct val="100000"/>
              </a:lnSpc>
              <a:spcBef>
                <a:spcPts val="0"/>
              </a:spcBef>
              <a:spcAft>
                <a:spcPts val="300"/>
              </a:spcAft>
            </a:pPr>
            <a:r>
              <a:rPr sz="1150" b="1">
                <a:solidFill>
                  <a:srgbClr val="D98B22"/>
                </a:solidFill>
                <a:latin typeface="Arial"/>
              </a:rPr>
              <a:t>◆  Version pin matters</a:t>
            </a:r>
          </a:p>
          <a:p>
            <a:pPr algn="l">
              <a:lnSpc>
                <a:spcPct val="112000"/>
              </a:lnSpc>
              <a:spcBef>
                <a:spcPts val="0"/>
              </a:spcBef>
              <a:spcAft>
                <a:spcPts val="0"/>
              </a:spcAft>
            </a:pPr>
            <a:r>
              <a:rPr sz="1050" b="0">
                <a:solidFill>
                  <a:srgbClr val="3E4C59"/>
                </a:solidFill>
                <a:latin typeface="Arial"/>
              </a:rPr>
              <a:t>a2a-sdk ≥1.1,&lt;2 is protobuf-based. The older 0.2.x tutorials do NOT apply — build against the installed SDK.</a:t>
            </a:r>
          </a:p>
        </p:txBody>
      </p:sp>
      <p:sp>
        <p:nvSpPr>
          <p:cNvPr id="15" name="TextBox 14"/>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16" name="TextBox 15"/>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33  /  48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6A4CE0"/>
                </a:solidFill>
                <a:latin typeface="Arial"/>
              </a:rPr>
              <a:t>SOLUTION 2 · LANGCHAIN + A2A</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Low-context by decomposition</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28800"/>
            <a:ext cx="5346039" cy="137160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2029967"/>
            <a:ext cx="82296" cy="237744"/>
          </a:xfrm>
          <a:prstGeom prst="rect">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1993391"/>
            <a:ext cx="4779111"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The problem (shared)</a:t>
            </a:r>
          </a:p>
        </p:txBody>
      </p:sp>
      <p:sp>
        <p:nvSpPr>
          <p:cNvPr id="10" name="TextBox 9"/>
          <p:cNvSpPr txBox="1"/>
          <p:nvPr/>
        </p:nvSpPr>
        <p:spPr>
          <a:xfrm>
            <a:off x="795528" y="2450591"/>
            <a:ext cx="4888839" cy="640080"/>
          </a:xfrm>
          <a:prstGeom prst="rect">
            <a:avLst/>
          </a:prstGeom>
          <a:noFill/>
        </p:spPr>
        <p:txBody>
          <a:bodyPr wrap="square" anchor="t" lIns="0" rIns="0" tIns="0" bIns="0">
            <a:noAutofit/>
          </a:bodyPr>
          <a:lstStyle/>
          <a:p>
            <a:pPr algn="l">
              <a:lnSpc>
                <a:spcPct val="120000"/>
              </a:lnSpc>
              <a:spcBef>
                <a:spcPts val="0"/>
              </a:spcBef>
              <a:spcAft>
                <a:spcPts val="600"/>
              </a:spcAft>
            </a:pPr>
            <a:r>
              <a:rPr sz="1150" b="0">
                <a:solidFill>
                  <a:srgbClr val="3E4C59"/>
                </a:solidFill>
                <a:latin typeface="Arial"/>
              </a:rPr>
              <a:t>Real vendor MCPs expose 50+ tools each. Load them all into one agent and the context window is gone.</a:t>
            </a:r>
          </a:p>
        </p:txBody>
      </p:sp>
      <p:sp>
        <p:nvSpPr>
          <p:cNvPr id="11" name="Rounded Rectangle 10"/>
          <p:cNvSpPr/>
          <p:nvPr/>
        </p:nvSpPr>
        <p:spPr>
          <a:xfrm>
            <a:off x="6278727" y="1828800"/>
            <a:ext cx="5346039" cy="1371600"/>
          </a:xfrm>
          <a:prstGeom prst="roundRect">
            <a:avLst>
              <a:gd name="adj" fmla="val 4500"/>
            </a:avLst>
          </a:prstGeom>
          <a:solidFill>
            <a:srgbClr val="ECE8FC"/>
          </a:solidFill>
          <a:ln w="1270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61607" y="2029967"/>
            <a:ext cx="82296" cy="237744"/>
          </a:xfrm>
          <a:prstGeom prst="rect">
            <a:avLst/>
          </a:prstGeom>
          <a:solidFill>
            <a:srgbClr val="513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62775" y="1993391"/>
            <a:ext cx="4779111"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S2's answer</a:t>
            </a:r>
          </a:p>
        </p:txBody>
      </p:sp>
      <p:sp>
        <p:nvSpPr>
          <p:cNvPr id="14" name="TextBox 13"/>
          <p:cNvSpPr txBox="1"/>
          <p:nvPr/>
        </p:nvSpPr>
        <p:spPr>
          <a:xfrm>
            <a:off x="6507327" y="2450591"/>
            <a:ext cx="4888839" cy="640080"/>
          </a:xfrm>
          <a:prstGeom prst="rect">
            <a:avLst/>
          </a:prstGeom>
          <a:noFill/>
        </p:spPr>
        <p:txBody>
          <a:bodyPr wrap="square" anchor="t" lIns="0" rIns="0" tIns="0" bIns="0">
            <a:noAutofit/>
          </a:bodyPr>
          <a:lstStyle/>
          <a:p>
            <a:pPr algn="l">
              <a:lnSpc>
                <a:spcPct val="120000"/>
              </a:lnSpc>
              <a:spcBef>
                <a:spcPts val="0"/>
              </a:spcBef>
              <a:spcAft>
                <a:spcPts val="600"/>
              </a:spcAft>
            </a:pPr>
            <a:r>
              <a:rPr sz="1150" b="0">
                <a:solidFill>
                  <a:srgbClr val="3E4C59"/>
                </a:solidFill>
                <a:latin typeface="Arial"/>
              </a:rPr>
              <a:t>Give each platform its own agent. The orchestrator only ever sees 2 delegate tools, never the vendor manifests.</a:t>
            </a:r>
          </a:p>
        </p:txBody>
      </p:sp>
      <p:sp>
        <p:nvSpPr>
          <p:cNvPr id="15" name="Rounded Rectangle 14"/>
          <p:cNvSpPr/>
          <p:nvPr/>
        </p:nvSpPr>
        <p:spPr>
          <a:xfrm>
            <a:off x="2395728" y="3520439"/>
            <a:ext cx="2743200" cy="822960"/>
          </a:xfrm>
          <a:prstGeom prst="roundRect">
            <a:avLst>
              <a:gd name="adj" fmla="val 10000"/>
            </a:avLst>
          </a:prstGeom>
          <a:solidFill>
            <a:srgbClr val="1B2733"/>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3557015"/>
            <a:ext cx="2596896" cy="749808"/>
          </a:xfrm>
          <a:prstGeom prst="rect">
            <a:avLst/>
          </a:prstGeom>
          <a:noFill/>
        </p:spPr>
        <p:txBody>
          <a:bodyPr wrap="square" anchor="ctr" lIns="0" rIns="0" tIns="0" bIns="0">
            <a:noAutofit/>
          </a:bodyPr>
          <a:lstStyle/>
          <a:p>
            <a:pPr algn="ctr">
              <a:lnSpc>
                <a:spcPct val="100000"/>
              </a:lnSpc>
              <a:spcBef>
                <a:spcPts val="0"/>
              </a:spcBef>
              <a:spcAft>
                <a:spcPts val="200"/>
              </a:spcAft>
            </a:pPr>
            <a:r>
              <a:rPr sz="1250" b="1">
                <a:solidFill>
                  <a:srgbClr val="FFFFFF"/>
                </a:solidFill>
                <a:latin typeface="Arial"/>
              </a:rPr>
              <a:t>Orchestrator</a:t>
            </a:r>
          </a:p>
          <a:p>
            <a:pPr algn="ctr">
              <a:lnSpc>
                <a:spcPct val="102000"/>
              </a:lnSpc>
              <a:spcBef>
                <a:spcPts val="0"/>
              </a:spcBef>
              <a:spcAft>
                <a:spcPts val="0"/>
              </a:spcAft>
            </a:pPr>
            <a:r>
              <a:rPr sz="800" b="0">
                <a:solidFill>
                  <a:srgbClr val="AEBECD"/>
                </a:solidFill>
                <a:latin typeface="Arial"/>
              </a:rPr>
              <a:t>sees 2 delegate tools + 11 topology</a:t>
            </a:r>
          </a:p>
        </p:txBody>
      </p:sp>
      <p:sp>
        <p:nvSpPr>
          <p:cNvPr id="17" name="Rounded Rectangle 16"/>
          <p:cNvSpPr/>
          <p:nvPr/>
        </p:nvSpPr>
        <p:spPr>
          <a:xfrm>
            <a:off x="932688" y="4892040"/>
            <a:ext cx="2743200" cy="777240"/>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928616"/>
            <a:ext cx="2596896" cy="704088"/>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1B2733"/>
                </a:solidFill>
                <a:latin typeface="Arial"/>
              </a:rPr>
              <a:t>DataDogAgent</a:t>
            </a:r>
          </a:p>
          <a:p>
            <a:pPr algn="ctr">
              <a:lnSpc>
                <a:spcPct val="102000"/>
              </a:lnSpc>
              <a:spcBef>
                <a:spcPts val="0"/>
              </a:spcBef>
              <a:spcAft>
                <a:spcPts val="0"/>
              </a:spcAft>
            </a:pPr>
            <a:r>
              <a:rPr sz="850" b="0">
                <a:solidFill>
                  <a:srgbClr val="6B7885"/>
                </a:solidFill>
                <a:latin typeface="Arial"/>
              </a:rPr>
              <a:t>holds 8 tools</a:t>
            </a:r>
          </a:p>
        </p:txBody>
      </p:sp>
      <p:sp>
        <p:nvSpPr>
          <p:cNvPr id="19" name="Rounded Rectangle 18"/>
          <p:cNvSpPr/>
          <p:nvPr/>
        </p:nvSpPr>
        <p:spPr>
          <a:xfrm>
            <a:off x="6510528" y="4892040"/>
            <a:ext cx="2743200" cy="777240"/>
          </a:xfrm>
          <a:prstGeom prst="roundRect">
            <a:avLst>
              <a:gd name="adj" fmla="val 10000"/>
            </a:avLst>
          </a:prstGeom>
          <a:solidFill>
            <a:srgbClr val="EAF4E1"/>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928616"/>
            <a:ext cx="2596896" cy="704088"/>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1B2733"/>
                </a:solidFill>
                <a:latin typeface="Arial"/>
              </a:rPr>
              <a:t>SplunkAgent</a:t>
            </a:r>
          </a:p>
          <a:p>
            <a:pPr algn="ctr">
              <a:lnSpc>
                <a:spcPct val="102000"/>
              </a:lnSpc>
              <a:spcBef>
                <a:spcPts val="0"/>
              </a:spcBef>
              <a:spcAft>
                <a:spcPts val="0"/>
              </a:spcAft>
            </a:pPr>
            <a:r>
              <a:rPr sz="850" b="0">
                <a:solidFill>
                  <a:srgbClr val="6B7885"/>
                </a:solidFill>
                <a:latin typeface="Arial"/>
              </a:rPr>
              <a:t>holds 4 tools</a:t>
            </a:r>
          </a:p>
        </p:txBody>
      </p:sp>
      <p:cxnSp>
        <p:nvCxnSpPr>
          <p:cNvPr id="21" name="Connector 20"/>
          <p:cNvCxnSpPr/>
          <p:nvPr/>
        </p:nvCxnSpPr>
        <p:spPr>
          <a:xfrm flipH="1">
            <a:off x="2304288" y="4343400"/>
            <a:ext cx="1005840" cy="548640"/>
          </a:xfrm>
          <a:prstGeom prst="line">
            <a:avLst/>
          </a:prstGeom>
          <a:ln w="20320">
            <a:solidFill>
              <a:srgbClr val="7A3FE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07408" y="4343400"/>
            <a:ext cx="3474719" cy="548640"/>
          </a:xfrm>
          <a:prstGeom prst="line">
            <a:avLst/>
          </a:prstGeom>
          <a:ln w="20320">
            <a:solidFill>
              <a:srgbClr val="5AA82B"/>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528048" y="3703320"/>
            <a:ext cx="2096719" cy="2011680"/>
          </a:xfrm>
          <a:prstGeom prst="roundRect">
            <a:avLst>
              <a:gd name="adj" fmla="val 4500"/>
            </a:avLst>
          </a:prstGeom>
          <a:solidFill>
            <a:srgbClr val="EC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28048" y="3703320"/>
            <a:ext cx="91440" cy="201168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65792" y="3831335"/>
            <a:ext cx="1712671" cy="1755648"/>
          </a:xfrm>
          <a:prstGeom prst="rect">
            <a:avLst/>
          </a:prstGeom>
          <a:noFill/>
        </p:spPr>
        <p:txBody>
          <a:bodyPr wrap="square" anchor="ctr" lIns="0" rIns="0" tIns="0" bIns="0">
            <a:noAutofit/>
          </a:bodyPr>
          <a:lstStyle/>
          <a:p>
            <a:pPr algn="l">
              <a:lnSpc>
                <a:spcPct val="100000"/>
              </a:lnSpc>
              <a:spcBef>
                <a:spcPts val="0"/>
              </a:spcBef>
              <a:spcAft>
                <a:spcPts val="300"/>
              </a:spcAft>
            </a:pPr>
            <a:r>
              <a:rPr sz="1100" b="1">
                <a:solidFill>
                  <a:srgbClr val="6A4CE0"/>
                </a:solidFill>
                <a:latin typeface="Arial"/>
              </a:rPr>
              <a:t>◆  Trade</a:t>
            </a:r>
          </a:p>
          <a:p>
            <a:pPr algn="l">
              <a:lnSpc>
                <a:spcPct val="112000"/>
              </a:lnSpc>
              <a:spcBef>
                <a:spcPts val="0"/>
              </a:spcBef>
              <a:spcAft>
                <a:spcPts val="0"/>
              </a:spcAft>
            </a:pPr>
            <a:r>
              <a:rPr sz="1050" b="0">
                <a:solidFill>
                  <a:srgbClr val="3E4C59"/>
                </a:solidFill>
                <a:latin typeface="Arial"/>
              </a:rPr>
              <a:t>Cleaner separation &amp; familiar code — at the cost of another network hop and 3× the model non-determinism.</a:t>
            </a:r>
          </a:p>
        </p:txBody>
      </p:sp>
      <p:sp>
        <p:nvSpPr>
          <p:cNvPr id="26" name="TextBox 25"/>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7" name="TextBox 26"/>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34  /  48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6A4CE0"/>
                </a:solidFill>
                <a:latin typeface="Arial"/>
              </a:rPr>
              <a:t>SOLUTION 2 · LANGCHAIN + A2A</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hard approval gate</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783080"/>
            <a:ext cx="5760720" cy="3474720"/>
          </a:xfrm>
          <a:prstGeom prst="rect">
            <a:avLst/>
          </a:prstGeom>
          <a:noFill/>
        </p:spPr>
        <p:txBody>
          <a:bodyPr wrap="square" anchor="t" lIns="0" rIns="0" tIns="0" bIns="0">
            <a:noAutofit/>
          </a:bodyPr>
          <a:lstStyle/>
          <a:p>
            <a:pPr algn="l" marL="256032" indent="-256032">
              <a:lnSpc>
                <a:spcPct val="106000"/>
              </a:lnSpc>
              <a:spcBef>
                <a:spcPts val="0"/>
              </a:spcBef>
              <a:spcAft>
                <a:spcPts val="1000"/>
              </a:spcAft>
              <a:buClr>
                <a:srgbClr val="6A4CE0"/>
              </a:buClr>
              <a:buFont typeface="Arial"/>
              <a:buChar char="▪"/>
            </a:pPr>
            <a:r>
              <a:rPr sz="1200" b="1">
                <a:solidFill>
                  <a:srgbClr val="5138C0"/>
                </a:solidFill>
                <a:latin typeface="Arial"/>
              </a:rPr>
              <a:t>Code-level, not prompt-level.  </a:t>
            </a:r>
            <a:r>
              <a:rPr sz="1200" b="0">
                <a:solidFill>
                  <a:srgbClr val="1B2733"/>
                </a:solidFill>
                <a:latin typeface="Arial"/>
              </a:rPr>
              <a:t>A LangGraph HumanInTheLoopMiddleware physically interrupts the graph before topology__run_runbook executes.</a:t>
            </a:r>
          </a:p>
          <a:p>
            <a:pPr algn="l" marL="256032" indent="-256032">
              <a:lnSpc>
                <a:spcPct val="106000"/>
              </a:lnSpc>
              <a:spcBef>
                <a:spcPts val="0"/>
              </a:spcBef>
              <a:spcAft>
                <a:spcPts val="1000"/>
              </a:spcAft>
              <a:buClr>
                <a:srgbClr val="6A4CE0"/>
              </a:buClr>
              <a:buFont typeface="Arial"/>
              <a:buChar char="▪"/>
            </a:pPr>
            <a:r>
              <a:rPr sz="1200" b="1">
                <a:solidFill>
                  <a:srgbClr val="5138C0"/>
                </a:solidFill>
                <a:latin typeface="Arial"/>
              </a:rPr>
              <a:t>The graph pauses.  </a:t>
            </a:r>
            <a:r>
              <a:rPr sz="1200" b="0">
                <a:solidFill>
                  <a:srgbClr val="1B2733"/>
                </a:solidFill>
                <a:latin typeface="Arial"/>
              </a:rPr>
              <a:t>/investigate returns the proposal + a sessionId. State is checkpointed by InMemorySaver keyed to that session.</a:t>
            </a:r>
          </a:p>
          <a:p>
            <a:pPr algn="l" marL="256032" indent="-256032">
              <a:lnSpc>
                <a:spcPct val="106000"/>
              </a:lnSpc>
              <a:spcBef>
                <a:spcPts val="0"/>
              </a:spcBef>
              <a:spcAft>
                <a:spcPts val="1000"/>
              </a:spcAft>
              <a:buClr>
                <a:srgbClr val="6A4CE0"/>
              </a:buClr>
              <a:buFont typeface="Arial"/>
              <a:buChar char="▪"/>
            </a:pPr>
            <a:r>
              <a:rPr sz="1200" b="1">
                <a:solidFill>
                  <a:srgbClr val="5138C0"/>
                </a:solidFill>
                <a:latin typeface="Arial"/>
              </a:rPr>
              <a:t>Human resumes it.  </a:t>
            </a:r>
            <a:r>
              <a:rPr sz="1200" b="0">
                <a:solidFill>
                  <a:srgbClr val="1B2733"/>
                </a:solidFill>
                <a:latin typeface="Arial"/>
              </a:rPr>
              <a:t>Operator POSTs "approve" to /chat; the graph resumes with a Command(resume=...) and only then runs the runbook.</a:t>
            </a:r>
          </a:p>
          <a:p>
            <a:pPr algn="l" marL="256032" indent="-256032">
              <a:lnSpc>
                <a:spcPct val="106000"/>
              </a:lnSpc>
              <a:spcBef>
                <a:spcPts val="0"/>
              </a:spcBef>
              <a:spcAft>
                <a:spcPts val="1000"/>
              </a:spcAft>
              <a:buClr>
                <a:srgbClr val="2E9E5B"/>
              </a:buClr>
              <a:buFont typeface="Arial"/>
              <a:buChar char="▪"/>
            </a:pPr>
            <a:r>
              <a:rPr sz="1200" b="1">
                <a:solidFill>
                  <a:srgbClr val="2E9E5B"/>
                </a:solidFill>
                <a:latin typeface="Arial"/>
              </a:rPr>
              <a:t>Fail-safe by default.  </a:t>
            </a:r>
            <a:r>
              <a:rPr sz="1200" b="0">
                <a:solidFill>
                  <a:srgbClr val="1B2733"/>
                </a:solidFill>
                <a:latin typeface="Arial"/>
              </a:rPr>
              <a:t>Any non-approval reply is treated as rejection. The runbook does not run.</a:t>
            </a:r>
          </a:p>
        </p:txBody>
      </p:sp>
      <p:sp>
        <p:nvSpPr>
          <p:cNvPr id="8" name="Rounded Rectangle 7"/>
          <p:cNvSpPr/>
          <p:nvPr/>
        </p:nvSpPr>
        <p:spPr>
          <a:xfrm>
            <a:off x="6739128" y="1828800"/>
            <a:ext cx="4885639" cy="658368"/>
          </a:xfrm>
          <a:prstGeom prst="roundRect">
            <a:avLst>
              <a:gd name="adj" fmla="val 10000"/>
            </a:avLst>
          </a:prstGeom>
          <a:solidFill>
            <a:srgbClr val="FFFFFF"/>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2280" y="1865376"/>
            <a:ext cx="4739335" cy="585216"/>
          </a:xfrm>
          <a:prstGeom prst="rect">
            <a:avLst/>
          </a:prstGeom>
          <a:noFill/>
        </p:spPr>
        <p:txBody>
          <a:bodyPr wrap="square" anchor="ctr" lIns="0" rIns="0" tIns="0" bIns="0">
            <a:noAutofit/>
          </a:bodyPr>
          <a:lstStyle/>
          <a:p>
            <a:pPr algn="ctr">
              <a:lnSpc>
                <a:spcPct val="100000"/>
              </a:lnSpc>
              <a:spcBef>
                <a:spcPts val="0"/>
              </a:spcBef>
              <a:spcAft>
                <a:spcPts val="0"/>
              </a:spcAft>
            </a:pPr>
            <a:r>
              <a:rPr sz="1200" b="1">
                <a:solidFill>
                  <a:srgbClr val="1B2733"/>
                </a:solidFill>
                <a:latin typeface="Arial"/>
              </a:rPr>
              <a:t>LLM calls run_runbook</a:t>
            </a:r>
          </a:p>
        </p:txBody>
      </p:sp>
      <p:cxnSp>
        <p:nvCxnSpPr>
          <p:cNvPr id="10" name="Connector 9"/>
          <p:cNvCxnSpPr/>
          <p:nvPr/>
        </p:nvCxnSpPr>
        <p:spPr>
          <a:xfrm>
            <a:off x="9181947" y="2487168"/>
            <a:ext cx="0" cy="347471"/>
          </a:xfrm>
          <a:prstGeom prst="line">
            <a:avLst/>
          </a:prstGeom>
          <a:ln w="20320">
            <a:solidFill>
              <a:srgbClr val="1B273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739128" y="2880360"/>
            <a:ext cx="4885639" cy="914400"/>
          </a:xfrm>
          <a:prstGeom prst="roundRect">
            <a:avLst>
              <a:gd name="adj" fmla="val 8000"/>
            </a:avLst>
          </a:prstGeom>
          <a:solidFill>
            <a:srgbClr val="ECE8FC"/>
          </a:solidFill>
          <a:ln w="2286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76288" y="2880360"/>
            <a:ext cx="4611319" cy="914400"/>
          </a:xfrm>
          <a:prstGeom prst="rect">
            <a:avLst/>
          </a:prstGeom>
          <a:noFill/>
        </p:spPr>
        <p:txBody>
          <a:bodyPr wrap="square" anchor="ctr" lIns="0" rIns="0" tIns="0" bIns="0">
            <a:noAutofit/>
          </a:bodyPr>
          <a:lstStyle/>
          <a:p>
            <a:pPr algn="ctr">
              <a:lnSpc>
                <a:spcPct val="100000"/>
              </a:lnSpc>
              <a:spcBef>
                <a:spcPts val="0"/>
              </a:spcBef>
              <a:spcAft>
                <a:spcPts val="200"/>
              </a:spcAft>
            </a:pPr>
            <a:r>
              <a:rPr sz="1350" b="1">
                <a:solidFill>
                  <a:srgbClr val="5138C0"/>
                </a:solidFill>
                <a:latin typeface="Arial"/>
              </a:rPr>
              <a:t>⛔  GRAPH INTERRUPT</a:t>
            </a:r>
          </a:p>
          <a:p>
            <a:pPr algn="ctr">
              <a:lnSpc>
                <a:spcPct val="100000"/>
              </a:lnSpc>
              <a:spcBef>
                <a:spcPts val="0"/>
              </a:spcBef>
              <a:spcAft>
                <a:spcPts val="600"/>
              </a:spcAft>
            </a:pPr>
            <a:r>
              <a:rPr sz="1000" b="0">
                <a:solidFill>
                  <a:srgbClr val="3E4C59"/>
                </a:solidFill>
                <a:latin typeface="Arial"/>
              </a:rPr>
              <a:t>execution physically paused</a:t>
            </a:r>
          </a:p>
        </p:txBody>
      </p:sp>
      <p:sp>
        <p:nvSpPr>
          <p:cNvPr id="13" name="TextBox 12"/>
          <p:cNvSpPr txBox="1"/>
          <p:nvPr/>
        </p:nvSpPr>
        <p:spPr>
          <a:xfrm>
            <a:off x="6739128" y="3931920"/>
            <a:ext cx="4885639"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2E9E5B"/>
                </a:solidFill>
                <a:latin typeface="Arial"/>
              </a:rPr>
              <a:t>↓  human POSTs "approve"</a:t>
            </a:r>
          </a:p>
        </p:txBody>
      </p:sp>
      <p:sp>
        <p:nvSpPr>
          <p:cNvPr id="14" name="Rounded Rectangle 13"/>
          <p:cNvSpPr/>
          <p:nvPr/>
        </p:nvSpPr>
        <p:spPr>
          <a:xfrm>
            <a:off x="6739128" y="4389120"/>
            <a:ext cx="4885639" cy="658368"/>
          </a:xfrm>
          <a:prstGeom prst="roundRect">
            <a:avLst>
              <a:gd name="adj" fmla="val 10000"/>
            </a:avLst>
          </a:prstGeom>
          <a:solidFill>
            <a:srgbClr val="E4F4EB"/>
          </a:solidFill>
          <a:ln w="1778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4425696"/>
            <a:ext cx="4739335" cy="585216"/>
          </a:xfrm>
          <a:prstGeom prst="rect">
            <a:avLst/>
          </a:prstGeom>
          <a:noFill/>
        </p:spPr>
        <p:txBody>
          <a:bodyPr wrap="square" anchor="ctr" lIns="0" rIns="0" tIns="0" bIns="0">
            <a:noAutofit/>
          </a:bodyPr>
          <a:lstStyle/>
          <a:p>
            <a:pPr algn="ctr">
              <a:lnSpc>
                <a:spcPct val="100000"/>
              </a:lnSpc>
              <a:spcBef>
                <a:spcPts val="0"/>
              </a:spcBef>
              <a:spcAft>
                <a:spcPts val="0"/>
              </a:spcAft>
            </a:pPr>
            <a:r>
              <a:rPr sz="1200" b="1">
                <a:solidFill>
                  <a:srgbClr val="1B2733"/>
                </a:solidFill>
                <a:latin typeface="Arial"/>
              </a:rPr>
              <a:t>Graph resumes → runbook runs</a:t>
            </a:r>
          </a:p>
        </p:txBody>
      </p:sp>
      <p:sp>
        <p:nvSpPr>
          <p:cNvPr id="16" name="Rounded Rectangle 15"/>
          <p:cNvSpPr/>
          <p:nvPr/>
        </p:nvSpPr>
        <p:spPr>
          <a:xfrm>
            <a:off x="6739128" y="5212079"/>
            <a:ext cx="4885639" cy="777240"/>
          </a:xfrm>
          <a:prstGeom prst="roundRect">
            <a:avLst>
              <a:gd name="adj" fmla="val 4500"/>
            </a:avLst>
          </a:prstGeom>
          <a:solidFill>
            <a:srgbClr val="E4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39128" y="5212079"/>
            <a:ext cx="91440" cy="77724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76872" y="5340095"/>
            <a:ext cx="4501591" cy="521207"/>
          </a:xfrm>
          <a:prstGeom prst="rect">
            <a:avLst/>
          </a:prstGeom>
          <a:noFill/>
        </p:spPr>
        <p:txBody>
          <a:bodyPr wrap="square" anchor="ctr" lIns="0" rIns="0" tIns="0" bIns="0">
            <a:noAutofit/>
          </a:bodyPr>
          <a:lstStyle/>
          <a:p>
            <a:pPr algn="l">
              <a:lnSpc>
                <a:spcPct val="100000"/>
              </a:lnSpc>
              <a:spcBef>
                <a:spcPts val="0"/>
              </a:spcBef>
              <a:spcAft>
                <a:spcPts val="300"/>
              </a:spcAft>
            </a:pPr>
            <a:r>
              <a:rPr sz="1100" b="1">
                <a:solidFill>
                  <a:srgbClr val="2E9E5B"/>
                </a:solidFill>
                <a:latin typeface="Arial"/>
              </a:rPr>
              <a:t>◆  Why it's stronger</a:t>
            </a:r>
          </a:p>
          <a:p>
            <a:pPr algn="l">
              <a:lnSpc>
                <a:spcPct val="112000"/>
              </a:lnSpc>
              <a:spcBef>
                <a:spcPts val="0"/>
              </a:spcBef>
              <a:spcAft>
                <a:spcPts val="0"/>
              </a:spcAft>
            </a:pPr>
            <a:r>
              <a:rPr sz="1050" b="0">
                <a:solidFill>
                  <a:srgbClr val="3E4C59"/>
                </a:solidFill>
                <a:latin typeface="Arial"/>
              </a:rPr>
              <a:t>The model literally cannot execute without a recorded approval — it's enforced by the runtime.</a:t>
            </a:r>
          </a:p>
        </p:txBody>
      </p:sp>
      <p:sp>
        <p:nvSpPr>
          <p:cNvPr id="19" name="TextBox 18"/>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0" name="TextBox 19"/>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35  /  48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6A4CE0"/>
                </a:solidFill>
                <a:latin typeface="Arial"/>
              </a:rPr>
              <a:t>SOLUTION 2 · LANGCHAIN + A2A</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investigation loop with A2A</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66928" y="1874519"/>
            <a:ext cx="329184" cy="329184"/>
          </a:xfrm>
          <a:prstGeom prst="ellipse">
            <a:avLst/>
          </a:prstGeom>
          <a:solidFill>
            <a:srgbClr val="7A3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74519"/>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1</a:t>
            </a:r>
          </a:p>
        </p:txBody>
      </p:sp>
      <p:sp>
        <p:nvSpPr>
          <p:cNvPr id="9" name="TextBox 8"/>
          <p:cNvSpPr txBox="1"/>
          <p:nvPr/>
        </p:nvSpPr>
        <p:spPr>
          <a:xfrm>
            <a:off x="1024128" y="1837943"/>
            <a:ext cx="475488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ask_datadog_agent(...)</a:t>
            </a:r>
          </a:p>
        </p:txBody>
      </p:sp>
      <p:sp>
        <p:nvSpPr>
          <p:cNvPr id="10" name="TextBox 9"/>
          <p:cNvSpPr txBox="1"/>
          <p:nvPr/>
        </p:nvSpPr>
        <p:spPr>
          <a:xfrm>
            <a:off x="5961888" y="1837943"/>
            <a:ext cx="566287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00" b="0">
                <a:solidFill>
                  <a:srgbClr val="3E4C59"/>
                </a:solidFill>
                <a:latin typeface="Arial"/>
              </a:rPr>
              <a:t>→ A2A → DataDogAgent → monitors, metrics, sample trace_id</a:t>
            </a:r>
          </a:p>
        </p:txBody>
      </p:sp>
      <p:cxnSp>
        <p:nvCxnSpPr>
          <p:cNvPr id="11" name="Connector 10"/>
          <p:cNvCxnSpPr/>
          <p:nvPr/>
        </p:nvCxnSpPr>
        <p:spPr>
          <a:xfrm>
            <a:off x="731520" y="2203703"/>
            <a:ext cx="0" cy="24688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66928" y="2450591"/>
            <a:ext cx="329184" cy="329184"/>
          </a:xfrm>
          <a:prstGeom prst="ellipse">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450591"/>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2</a:t>
            </a:r>
          </a:p>
        </p:txBody>
      </p:sp>
      <p:sp>
        <p:nvSpPr>
          <p:cNvPr id="14" name="TextBox 13"/>
          <p:cNvSpPr txBox="1"/>
          <p:nvPr/>
        </p:nvSpPr>
        <p:spPr>
          <a:xfrm>
            <a:off x="1024128" y="2414015"/>
            <a:ext cx="475488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topology__correlate_trace(id)</a:t>
            </a:r>
          </a:p>
        </p:txBody>
      </p:sp>
      <p:sp>
        <p:nvSpPr>
          <p:cNvPr id="15" name="TextBox 14"/>
          <p:cNvSpPr txBox="1"/>
          <p:nvPr/>
        </p:nvSpPr>
        <p:spPr>
          <a:xfrm>
            <a:off x="5961888" y="2414015"/>
            <a:ext cx="566287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00" b="0">
                <a:solidFill>
                  <a:srgbClr val="3E4C59"/>
                </a:solidFill>
                <a:latin typeface="Arial"/>
              </a:rPr>
              <a:t>→ in-process → normalize width, build SPL + links</a:t>
            </a:r>
          </a:p>
        </p:txBody>
      </p:sp>
      <p:cxnSp>
        <p:nvCxnSpPr>
          <p:cNvPr id="16" name="Connector 15"/>
          <p:cNvCxnSpPr/>
          <p:nvPr/>
        </p:nvCxnSpPr>
        <p:spPr>
          <a:xfrm>
            <a:off x="731520" y="2779775"/>
            <a:ext cx="0" cy="24688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66928" y="3026663"/>
            <a:ext cx="329184" cy="329184"/>
          </a:xfrm>
          <a:prstGeom prst="ellipse">
            <a:avLst/>
          </a:prstGeom>
          <a:solidFill>
            <a:srgbClr val="5AA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026663"/>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3</a:t>
            </a:r>
          </a:p>
        </p:txBody>
      </p:sp>
      <p:sp>
        <p:nvSpPr>
          <p:cNvPr id="19" name="TextBox 18"/>
          <p:cNvSpPr txBox="1"/>
          <p:nvPr/>
        </p:nvSpPr>
        <p:spPr>
          <a:xfrm>
            <a:off x="1024128" y="2990087"/>
            <a:ext cx="475488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ask_splunk_agent(SPL)</a:t>
            </a:r>
          </a:p>
        </p:txBody>
      </p:sp>
      <p:sp>
        <p:nvSpPr>
          <p:cNvPr id="20" name="TextBox 19"/>
          <p:cNvSpPr txBox="1"/>
          <p:nvPr/>
        </p:nvSpPr>
        <p:spPr>
          <a:xfrm>
            <a:off x="5961888" y="2990087"/>
            <a:ext cx="566287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00" b="0">
                <a:solidFill>
                  <a:srgbClr val="3E4C59"/>
                </a:solidFill>
                <a:latin typeface="Arial"/>
              </a:rPr>
              <a:t>→ A2A → SplunkAgent → 502 logs, no deploys</a:t>
            </a:r>
          </a:p>
        </p:txBody>
      </p:sp>
      <p:cxnSp>
        <p:nvCxnSpPr>
          <p:cNvPr id="21" name="Connector 20"/>
          <p:cNvCxnSpPr/>
          <p:nvPr/>
        </p:nvCxnSpPr>
        <p:spPr>
          <a:xfrm>
            <a:off x="731520" y="3355847"/>
            <a:ext cx="0" cy="24688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566928" y="3602736"/>
            <a:ext cx="329184" cy="329184"/>
          </a:xfrm>
          <a:prstGeom prst="ellipse">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02736"/>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4</a:t>
            </a:r>
          </a:p>
        </p:txBody>
      </p:sp>
      <p:sp>
        <p:nvSpPr>
          <p:cNvPr id="24" name="TextBox 23"/>
          <p:cNvSpPr txBox="1"/>
          <p:nvPr/>
        </p:nvSpPr>
        <p:spPr>
          <a:xfrm>
            <a:off x="1024128" y="3566160"/>
            <a:ext cx="475488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topology__get_dependencies</a:t>
            </a:r>
          </a:p>
        </p:txBody>
      </p:sp>
      <p:sp>
        <p:nvSpPr>
          <p:cNvPr id="25" name="TextBox 24"/>
          <p:cNvSpPr txBox="1"/>
          <p:nvPr/>
        </p:nvSpPr>
        <p:spPr>
          <a:xfrm>
            <a:off x="5961888" y="3566160"/>
            <a:ext cx="566287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00" b="0">
                <a:solidFill>
                  <a:srgbClr val="3E4C59"/>
                </a:solidFill>
                <a:latin typeface="Arial"/>
              </a:rPr>
              <a:t>→ in-process → blast radius</a:t>
            </a:r>
          </a:p>
        </p:txBody>
      </p:sp>
      <p:cxnSp>
        <p:nvCxnSpPr>
          <p:cNvPr id="26" name="Connector 25"/>
          <p:cNvCxnSpPr/>
          <p:nvPr/>
        </p:nvCxnSpPr>
        <p:spPr>
          <a:xfrm>
            <a:off x="731520" y="3931920"/>
            <a:ext cx="0" cy="24688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66928" y="4178808"/>
            <a:ext cx="329184" cy="329184"/>
          </a:xfrm>
          <a:prstGeom prst="ellipse">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178808"/>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5</a:t>
            </a:r>
          </a:p>
        </p:txBody>
      </p:sp>
      <p:sp>
        <p:nvSpPr>
          <p:cNvPr id="29" name="TextBox 28"/>
          <p:cNvSpPr txBox="1"/>
          <p:nvPr/>
        </p:nvSpPr>
        <p:spPr>
          <a:xfrm>
            <a:off x="1024128" y="4142232"/>
            <a:ext cx="475488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topology__find_recent_deploys</a:t>
            </a:r>
          </a:p>
        </p:txBody>
      </p:sp>
      <p:sp>
        <p:nvSpPr>
          <p:cNvPr id="30" name="TextBox 29"/>
          <p:cNvSpPr txBox="1"/>
          <p:nvPr/>
        </p:nvSpPr>
        <p:spPr>
          <a:xfrm>
            <a:off x="5961888" y="4142232"/>
            <a:ext cx="566287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00" b="0">
                <a:solidFill>
                  <a:srgbClr val="3E4C59"/>
                </a:solidFill>
                <a:latin typeface="Arial"/>
              </a:rPr>
              <a:t>→ in-process → none → chaos suspected</a:t>
            </a:r>
          </a:p>
        </p:txBody>
      </p:sp>
      <p:cxnSp>
        <p:nvCxnSpPr>
          <p:cNvPr id="31" name="Connector 30"/>
          <p:cNvCxnSpPr/>
          <p:nvPr/>
        </p:nvCxnSpPr>
        <p:spPr>
          <a:xfrm>
            <a:off x="731520" y="4507992"/>
            <a:ext cx="0" cy="246888"/>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566928" y="4754879"/>
            <a:ext cx="329184" cy="329184"/>
          </a:xfrm>
          <a:prstGeom prst="ellipse">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754879"/>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6</a:t>
            </a:r>
          </a:p>
        </p:txBody>
      </p:sp>
      <p:sp>
        <p:nvSpPr>
          <p:cNvPr id="34" name="TextBox 33"/>
          <p:cNvSpPr txBox="1"/>
          <p:nvPr/>
        </p:nvSpPr>
        <p:spPr>
          <a:xfrm>
            <a:off x="1024128" y="4718303"/>
            <a:ext cx="475488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run_runbook → INTERRUPT</a:t>
            </a:r>
          </a:p>
        </p:txBody>
      </p:sp>
      <p:sp>
        <p:nvSpPr>
          <p:cNvPr id="35" name="TextBox 34"/>
          <p:cNvSpPr txBox="1"/>
          <p:nvPr/>
        </p:nvSpPr>
        <p:spPr>
          <a:xfrm>
            <a:off x="5961888" y="4718303"/>
            <a:ext cx="566287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00" b="0">
                <a:solidFill>
                  <a:srgbClr val="3E4C59"/>
                </a:solidFill>
                <a:latin typeface="Arial"/>
              </a:rPr>
              <a:t>→ graph pauses → returns proposal + sessionId</a:t>
            </a:r>
          </a:p>
        </p:txBody>
      </p:sp>
      <p:cxnSp>
        <p:nvCxnSpPr>
          <p:cNvPr id="36" name="Connector 35"/>
          <p:cNvCxnSpPr/>
          <p:nvPr/>
        </p:nvCxnSpPr>
        <p:spPr>
          <a:xfrm>
            <a:off x="731520" y="5084064"/>
            <a:ext cx="0" cy="246887"/>
          </a:xfrm>
          <a:prstGeom prst="line">
            <a:avLst/>
          </a:prstGeom>
          <a:ln w="1524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566928" y="5330952"/>
            <a:ext cx="329184" cy="329184"/>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5330952"/>
            <a:ext cx="329184" cy="329184"/>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FFFF"/>
                </a:solidFill>
                <a:latin typeface="Arial"/>
              </a:rPr>
              <a:t>7</a:t>
            </a:r>
          </a:p>
        </p:txBody>
      </p:sp>
      <p:sp>
        <p:nvSpPr>
          <p:cNvPr id="39" name="TextBox 38"/>
          <p:cNvSpPr txBox="1"/>
          <p:nvPr/>
        </p:nvSpPr>
        <p:spPr>
          <a:xfrm>
            <a:off x="1024128" y="5294376"/>
            <a:ext cx="4754880" cy="457200"/>
          </a:xfrm>
          <a:prstGeom prst="rect">
            <a:avLst/>
          </a:prstGeom>
          <a:noFill/>
        </p:spPr>
        <p:txBody>
          <a:bodyPr wrap="square" anchor="ctr" lIns="0" rIns="0" tIns="0" bIns="0">
            <a:noAutofit/>
          </a:bodyPr>
          <a:lstStyle/>
          <a:p>
            <a:pPr algn="l">
              <a:lnSpc>
                <a:spcPct val="100000"/>
              </a:lnSpc>
              <a:spcBef>
                <a:spcPts val="0"/>
              </a:spcBef>
              <a:spcAft>
                <a:spcPts val="600"/>
              </a:spcAft>
            </a:pPr>
            <a:r>
              <a:rPr sz="1150" b="1">
                <a:solidFill>
                  <a:srgbClr val="1B2733"/>
                </a:solidFill>
                <a:latin typeface="Consolas"/>
              </a:rPr>
              <a:t>POST /chat "approve"</a:t>
            </a:r>
          </a:p>
        </p:txBody>
      </p:sp>
      <p:sp>
        <p:nvSpPr>
          <p:cNvPr id="40" name="TextBox 39"/>
          <p:cNvSpPr txBox="1"/>
          <p:nvPr/>
        </p:nvSpPr>
        <p:spPr>
          <a:xfrm>
            <a:off x="5961888" y="5294376"/>
            <a:ext cx="5662879" cy="457200"/>
          </a:xfrm>
          <a:prstGeom prst="rect">
            <a:avLst/>
          </a:prstGeom>
          <a:noFill/>
        </p:spPr>
        <p:txBody>
          <a:bodyPr wrap="square" anchor="ctr" lIns="0" rIns="0" tIns="0" bIns="0">
            <a:noAutofit/>
          </a:bodyPr>
          <a:lstStyle/>
          <a:p>
            <a:pPr algn="l">
              <a:lnSpc>
                <a:spcPct val="100000"/>
              </a:lnSpc>
              <a:spcBef>
                <a:spcPts val="0"/>
              </a:spcBef>
              <a:spcAft>
                <a:spcPts val="600"/>
              </a:spcAft>
            </a:pPr>
            <a:r>
              <a:rPr sz="1100" b="0">
                <a:solidFill>
                  <a:srgbClr val="3E4C59"/>
                </a:solidFill>
                <a:latin typeface="Arial"/>
              </a:rPr>
              <a:t>→ graph resumes → disable-chaos → recovery</a:t>
            </a:r>
          </a:p>
        </p:txBody>
      </p:sp>
      <p:sp>
        <p:nvSpPr>
          <p:cNvPr id="41" name="TextBox 40"/>
          <p:cNvSpPr txBox="1"/>
          <p:nvPr/>
        </p:nvSpPr>
        <p:spPr>
          <a:xfrm>
            <a:off x="1024128" y="5925312"/>
            <a:ext cx="10600639" cy="365760"/>
          </a:xfrm>
          <a:prstGeom prst="rect">
            <a:avLst/>
          </a:prstGeom>
          <a:noFill/>
        </p:spPr>
        <p:txBody>
          <a:bodyPr wrap="square" anchor="ctr" lIns="0" rIns="0" tIns="0" bIns="0">
            <a:noAutofit/>
          </a:bodyPr>
          <a:lstStyle/>
          <a:p>
            <a:pPr algn="l">
              <a:lnSpc>
                <a:spcPct val="100000"/>
              </a:lnSpc>
              <a:spcBef>
                <a:spcPts val="0"/>
              </a:spcBef>
              <a:spcAft>
                <a:spcPts val="600"/>
              </a:spcAft>
            </a:pPr>
            <a:r>
              <a:rPr sz="950" b="1">
                <a:solidFill>
                  <a:srgbClr val="7A3FE4"/>
                </a:solidFill>
                <a:latin typeface="Arial"/>
              </a:rPr>
              <a:t>A2A delegation</a:t>
            </a:r>
            <a:r>
              <a:rPr sz="950" b="0">
                <a:solidFill>
                  <a:srgbClr val="6B7885"/>
                </a:solidFill>
                <a:latin typeface="Arial"/>
              </a:rPr>
              <a:t>   ·   </a:t>
            </a:r>
            <a:r>
              <a:rPr sz="950" b="1">
                <a:solidFill>
                  <a:srgbClr val="6A4CE0"/>
                </a:solidFill>
                <a:latin typeface="Arial"/>
              </a:rPr>
              <a:t>in-process tool</a:t>
            </a:r>
            <a:r>
              <a:rPr sz="950" b="0">
                <a:solidFill>
                  <a:srgbClr val="6B7885"/>
                </a:solidFill>
                <a:latin typeface="Arial"/>
              </a:rPr>
              <a:t>   ·   </a:t>
            </a:r>
            <a:r>
              <a:rPr sz="950" b="1">
                <a:solidFill>
                  <a:srgbClr val="FF7300"/>
                </a:solidFill>
                <a:latin typeface="Arial"/>
              </a:rPr>
              <a:t>gate</a:t>
            </a:r>
          </a:p>
        </p:txBody>
      </p:sp>
      <p:sp>
        <p:nvSpPr>
          <p:cNvPr id="42" name="TextBox 41"/>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43" name="TextBox 42"/>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36  /  48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6A4CE0"/>
                </a:solidFill>
                <a:latin typeface="Arial"/>
              </a:rPr>
              <a:t>SOLUTION 2 · LANGCHAIN + A2A</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Stack &amp; the Timeout Chain</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828800"/>
          <a:ext cx="5943600" cy="2980944"/>
        </p:xfrm>
        <a:graphic>
          <a:graphicData uri="http://schemas.openxmlformats.org/drawingml/2006/table">
            <a:tbl>
              <a:tblPr firstRow="0" bandRow="0">
                <a:tableStyleId>{2D5ABB26-0587-4C30-8999-92F81FD0307C}</a:tableStyleId>
              </a:tblPr>
              <a:tblGrid>
                <a:gridCol w="2139696"/>
                <a:gridCol w="3803904"/>
              </a:tblGrid>
              <a:tr h="420624">
                <a:tc>
                  <a:txBody>
                    <a:bodyPr wrap="square"/>
                    <a:lstStyle/>
                    <a:p>
                      <a:pPr algn="l">
                        <a:lnSpc>
                          <a:spcPct val="100000"/>
                        </a:lnSpc>
                      </a:pPr>
                      <a:r>
                        <a:rPr sz="1050" b="1">
                          <a:solidFill>
                            <a:srgbClr val="FFFFFF"/>
                          </a:solidFill>
                          <a:latin typeface="Arial"/>
                        </a:rPr>
                        <a:t>Layer</a:t>
                      </a:r>
                    </a:p>
                  </a:txBody>
                  <a:tcPr anchor="ctr" marL="91440" marR="73152" marT="18288" marB="18288">
                    <a:solidFill>
                      <a:srgbClr val="5138C0"/>
                    </a:solidFill>
                  </a:tcPr>
                </a:tc>
                <a:tc>
                  <a:txBody>
                    <a:bodyPr wrap="square"/>
                    <a:lstStyle/>
                    <a:p>
                      <a:pPr algn="l">
                        <a:lnSpc>
                          <a:spcPct val="100000"/>
                        </a:lnSpc>
                      </a:pPr>
                      <a:r>
                        <a:rPr sz="1050" b="1">
                          <a:solidFill>
                            <a:srgbClr val="FFFFFF"/>
                          </a:solidFill>
                          <a:latin typeface="Arial"/>
                        </a:rPr>
                        <a:t>Choice</a:t>
                      </a:r>
                    </a:p>
                  </a:txBody>
                  <a:tcPr anchor="ctr" marL="91440" marR="73152" marT="18288" marB="18288">
                    <a:solidFill>
                      <a:srgbClr val="5138C0"/>
                    </a:solidFill>
                  </a:tcPr>
                </a:tc>
              </a:tr>
              <a:tr h="512064">
                <a:tc>
                  <a:txBody>
                    <a:bodyPr wrap="square"/>
                    <a:lstStyle/>
                    <a:p>
                      <a:pPr algn="l">
                        <a:lnSpc>
                          <a:spcPct val="100000"/>
                        </a:lnSpc>
                      </a:pPr>
                      <a:r>
                        <a:rPr sz="1050" b="1">
                          <a:solidFill>
                            <a:srgbClr val="1B2733"/>
                          </a:solidFill>
                          <a:latin typeface="Arial"/>
                        </a:rPr>
                        <a:t>Language / runtime</a:t>
                      </a:r>
                    </a:p>
                  </a:txBody>
                  <a:tcPr anchor="ctr" marL="91440" marR="73152" marT="18288" marB="18288">
                    <a:solidFill>
                      <a:srgbClr val="F6F8FA"/>
                    </a:solidFill>
                  </a:tcPr>
                </a:tc>
                <a:tc>
                  <a:txBody>
                    <a:bodyPr wrap="square"/>
                    <a:lstStyle/>
                    <a:p>
                      <a:pPr algn="l">
                        <a:lnSpc>
                          <a:spcPct val="100000"/>
                        </a:lnSpc>
                      </a:pPr>
                      <a:r>
                        <a:rPr sz="1050" b="0">
                          <a:solidFill>
                            <a:srgbClr val="1B2733"/>
                          </a:solidFill>
                          <a:latin typeface="Arial"/>
                        </a:rPr>
                        <a:t>Python 3.12 · single uv workspace</a:t>
                      </a:r>
                    </a:p>
                  </a:txBody>
                  <a:tcPr anchor="ctr" marL="91440" marR="73152" marT="18288" marB="18288">
                    <a:solidFill>
                      <a:srgbClr val="F6F8FA"/>
                    </a:solidFill>
                  </a:tcPr>
                </a:tc>
              </a:tr>
              <a:tr h="512064">
                <a:tc>
                  <a:txBody>
                    <a:bodyPr wrap="square"/>
                    <a:lstStyle/>
                    <a:p>
                      <a:pPr algn="l">
                        <a:lnSpc>
                          <a:spcPct val="100000"/>
                        </a:lnSpc>
                      </a:pPr>
                      <a:r>
                        <a:rPr sz="1050" b="1">
                          <a:solidFill>
                            <a:srgbClr val="1B2733"/>
                          </a:solidFill>
                          <a:latin typeface="Arial"/>
                        </a:rPr>
                        <a:t>Agent framework</a:t>
                      </a:r>
                    </a:p>
                  </a:txBody>
                  <a:tcPr anchor="ctr" marL="91440" marR="73152" marT="18288" marB="18288">
                    <a:solidFill>
                      <a:srgbClr val="FFFFFF"/>
                    </a:solidFill>
                  </a:tcPr>
                </a:tc>
                <a:tc>
                  <a:txBody>
                    <a:bodyPr wrap="square"/>
                    <a:lstStyle/>
                    <a:p>
                      <a:pPr algn="l">
                        <a:lnSpc>
                          <a:spcPct val="100000"/>
                        </a:lnSpc>
                      </a:pPr>
                      <a:r>
                        <a:rPr sz="1050" b="0">
                          <a:solidFill>
                            <a:srgbClr val="1B2733"/>
                          </a:solidFill>
                          <a:latin typeface="Arial"/>
                        </a:rPr>
                        <a:t>LangChain 1.x on LangGraph 1.x (create_agent)</a:t>
                      </a:r>
                    </a:p>
                  </a:txBody>
                  <a:tcPr anchor="ctr" marL="91440" marR="73152" marT="18288" marB="18288">
                    <a:solidFill>
                      <a:srgbClr val="FFFFFF"/>
                    </a:solidFill>
                  </a:tcPr>
                </a:tc>
              </a:tr>
              <a:tr h="512064">
                <a:tc>
                  <a:txBody>
                    <a:bodyPr wrap="square"/>
                    <a:lstStyle/>
                    <a:p>
                      <a:pPr algn="l">
                        <a:lnSpc>
                          <a:spcPct val="100000"/>
                        </a:lnSpc>
                      </a:pPr>
                      <a:r>
                        <a:rPr sz="1050" b="1">
                          <a:solidFill>
                            <a:srgbClr val="1B2733"/>
                          </a:solidFill>
                          <a:latin typeface="Arial"/>
                        </a:rPr>
                        <a:t>A2A</a:t>
                      </a:r>
                    </a:p>
                  </a:txBody>
                  <a:tcPr anchor="ctr" marL="91440" marR="73152" marT="18288" marB="18288">
                    <a:solidFill>
                      <a:srgbClr val="F6F8FA"/>
                    </a:solidFill>
                  </a:tcPr>
                </a:tc>
                <a:tc>
                  <a:txBody>
                    <a:bodyPr wrap="square"/>
                    <a:lstStyle/>
                    <a:p>
                      <a:pPr algn="l">
                        <a:lnSpc>
                          <a:spcPct val="100000"/>
                        </a:lnSpc>
                      </a:pPr>
                      <a:r>
                        <a:rPr sz="1050" b="0">
                          <a:solidFill>
                            <a:srgbClr val="1B2733"/>
                          </a:solidFill>
                          <a:latin typeface="Arial"/>
                        </a:rPr>
                        <a:t>a2a-sdk ≥1.1,&lt;2 (protobuf)</a:t>
                      </a:r>
                    </a:p>
                  </a:txBody>
                  <a:tcPr anchor="ctr" marL="91440" marR="73152" marT="18288" marB="18288">
                    <a:solidFill>
                      <a:srgbClr val="F6F8FA"/>
                    </a:solidFill>
                  </a:tcPr>
                </a:tc>
              </a:tr>
              <a:tr h="512064">
                <a:tc>
                  <a:txBody>
                    <a:bodyPr wrap="square"/>
                    <a:lstStyle/>
                    <a:p>
                      <a:pPr algn="l">
                        <a:lnSpc>
                          <a:spcPct val="100000"/>
                        </a:lnSpc>
                      </a:pPr>
                      <a:r>
                        <a:rPr sz="1050" b="1">
                          <a:solidFill>
                            <a:srgbClr val="1B2733"/>
                          </a:solidFill>
                          <a:latin typeface="Arial"/>
                        </a:rPr>
                        <a:t>MCP</a:t>
                      </a:r>
                    </a:p>
                  </a:txBody>
                  <a:tcPr anchor="ctr" marL="91440" marR="73152" marT="18288" marB="18288">
                    <a:solidFill>
                      <a:srgbClr val="FFFFFF"/>
                    </a:solidFill>
                  </a:tcPr>
                </a:tc>
                <a:tc>
                  <a:txBody>
                    <a:bodyPr wrap="square"/>
                    <a:lstStyle/>
                    <a:p>
                      <a:pPr algn="l">
                        <a:lnSpc>
                          <a:spcPct val="100000"/>
                        </a:lnSpc>
                      </a:pPr>
                      <a:r>
                        <a:rPr sz="1050" b="0">
                          <a:solidFill>
                            <a:srgbClr val="1B2733"/>
                          </a:solidFill>
                          <a:latin typeface="Arial"/>
                        </a:rPr>
                        <a:t>official mcp SDK · langchain-mcp-adapters</a:t>
                      </a:r>
                    </a:p>
                  </a:txBody>
                  <a:tcPr anchor="ctr" marL="91440" marR="73152" marT="18288" marB="18288">
                    <a:solidFill>
                      <a:srgbClr val="FFFFFF"/>
                    </a:solidFill>
                  </a:tcPr>
                </a:tc>
              </a:tr>
              <a:tr h="512064">
                <a:tc>
                  <a:txBody>
                    <a:bodyPr wrap="square"/>
                    <a:lstStyle/>
                    <a:p>
                      <a:pPr algn="l">
                        <a:lnSpc>
                          <a:spcPct val="100000"/>
                        </a:lnSpc>
                      </a:pPr>
                      <a:r>
                        <a:rPr sz="1050" b="1">
                          <a:solidFill>
                            <a:srgbClr val="1B2733"/>
                          </a:solidFill>
                          <a:latin typeface="Arial"/>
                        </a:rPr>
                        <a:t>Gate / state</a:t>
                      </a:r>
                    </a:p>
                  </a:txBody>
                  <a:tcPr anchor="ctr" marL="91440" marR="73152" marT="18288" marB="18288">
                    <a:solidFill>
                      <a:srgbClr val="F6F8FA"/>
                    </a:solidFill>
                  </a:tcPr>
                </a:tc>
                <a:tc>
                  <a:txBody>
                    <a:bodyPr wrap="square"/>
                    <a:lstStyle/>
                    <a:p>
                      <a:pPr algn="l">
                        <a:lnSpc>
                          <a:spcPct val="100000"/>
                        </a:lnSpc>
                      </a:pPr>
                      <a:r>
                        <a:rPr sz="1050" b="0">
                          <a:solidFill>
                            <a:srgbClr val="1B2733"/>
                          </a:solidFill>
                          <a:latin typeface="Arial"/>
                        </a:rPr>
                        <a:t>HumanInTheLoopMiddleware + InMemorySaver</a:t>
                      </a:r>
                    </a:p>
                  </a:txBody>
                  <a:tcPr anchor="ctr" marL="91440" marR="73152" marT="18288" marB="18288">
                    <a:solidFill>
                      <a:srgbClr val="F6F8FA"/>
                    </a:solidFill>
                  </a:tcPr>
                </a:tc>
              </a:tr>
            </a:tbl>
          </a:graphicData>
        </a:graphic>
      </p:graphicFrame>
      <p:sp>
        <p:nvSpPr>
          <p:cNvPr id="8" name="Rounded Rectangle 7"/>
          <p:cNvSpPr/>
          <p:nvPr/>
        </p:nvSpPr>
        <p:spPr>
          <a:xfrm>
            <a:off x="6876288" y="1828800"/>
            <a:ext cx="4748479" cy="338328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59168" y="2029967"/>
            <a:ext cx="82296" cy="237744"/>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0336" y="1993391"/>
            <a:ext cx="4181551"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The Timeout Chain (must stay ordered)</a:t>
            </a:r>
          </a:p>
        </p:txBody>
      </p:sp>
      <p:sp>
        <p:nvSpPr>
          <p:cNvPr id="11" name="Rounded Rectangle 10"/>
          <p:cNvSpPr/>
          <p:nvPr/>
        </p:nvSpPr>
        <p:spPr>
          <a:xfrm>
            <a:off x="7104888" y="2560320"/>
            <a:ext cx="4291279" cy="402336"/>
          </a:xfrm>
          <a:prstGeom prst="roundRect">
            <a:avLst>
              <a:gd name="adj" fmla="val 12000"/>
            </a:avLst>
          </a:prstGeom>
          <a:solidFill>
            <a:srgbClr val="ECE8FC"/>
          </a:solidFill>
          <a:ln w="1270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96328" y="2560320"/>
            <a:ext cx="4245559" cy="402336"/>
          </a:xfrm>
          <a:prstGeom prst="rect">
            <a:avLst/>
          </a:prstGeom>
          <a:noFill/>
        </p:spPr>
        <p:txBody>
          <a:bodyPr wrap="square" anchor="ctr" lIns="0" rIns="0" tIns="0" bIns="0">
            <a:noAutofit/>
          </a:bodyPr>
          <a:lstStyle/>
          <a:p>
            <a:pPr algn="l">
              <a:lnSpc>
                <a:spcPct val="100000"/>
              </a:lnSpc>
              <a:spcBef>
                <a:spcPts val="0"/>
              </a:spcBef>
              <a:spcAft>
                <a:spcPts val="600"/>
              </a:spcAft>
            </a:pPr>
            <a:r>
              <a:rPr sz="1050" b="1">
                <a:solidFill>
                  <a:srgbClr val="1B2733"/>
                </a:solidFill>
                <a:latin typeface="Arial"/>
              </a:rPr>
              <a:t>uvicorn  </a:t>
            </a:r>
            <a:r>
              <a:rPr sz="1050" b="1">
                <a:solidFill>
                  <a:srgbClr val="5138C0"/>
                </a:solidFill>
                <a:latin typeface="Consolas"/>
              </a:rPr>
              <a:t>600s</a:t>
            </a:r>
          </a:p>
        </p:txBody>
      </p:sp>
      <p:sp>
        <p:nvSpPr>
          <p:cNvPr id="13" name="Rounded Rectangle 12"/>
          <p:cNvSpPr/>
          <p:nvPr/>
        </p:nvSpPr>
        <p:spPr>
          <a:xfrm>
            <a:off x="7104888" y="3108960"/>
            <a:ext cx="3347197" cy="402336"/>
          </a:xfrm>
          <a:prstGeom prst="roundRect">
            <a:avLst>
              <a:gd name="adj" fmla="val 12000"/>
            </a:avLst>
          </a:prstGeom>
          <a:solidFill>
            <a:srgbClr val="ECE8FC"/>
          </a:solidFill>
          <a:ln w="1270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96328" y="3108960"/>
            <a:ext cx="4245559" cy="402336"/>
          </a:xfrm>
          <a:prstGeom prst="rect">
            <a:avLst/>
          </a:prstGeom>
          <a:noFill/>
        </p:spPr>
        <p:txBody>
          <a:bodyPr wrap="square" anchor="ctr" lIns="0" rIns="0" tIns="0" bIns="0">
            <a:noAutofit/>
          </a:bodyPr>
          <a:lstStyle/>
          <a:p>
            <a:pPr algn="l">
              <a:lnSpc>
                <a:spcPct val="100000"/>
              </a:lnSpc>
              <a:spcBef>
                <a:spcPts val="0"/>
              </a:spcBef>
              <a:spcAft>
                <a:spcPts val="600"/>
              </a:spcAft>
            </a:pPr>
            <a:r>
              <a:rPr sz="1050" b="1">
                <a:solidFill>
                  <a:srgbClr val="1B2733"/>
                </a:solidFill>
                <a:latin typeface="Arial"/>
              </a:rPr>
              <a:t>A2A client  </a:t>
            </a:r>
            <a:r>
              <a:rPr sz="1050" b="1">
                <a:solidFill>
                  <a:srgbClr val="5138C0"/>
                </a:solidFill>
                <a:latin typeface="Consolas"/>
              </a:rPr>
              <a:t>300s</a:t>
            </a:r>
          </a:p>
        </p:txBody>
      </p:sp>
      <p:sp>
        <p:nvSpPr>
          <p:cNvPr id="15" name="Rounded Rectangle 14"/>
          <p:cNvSpPr/>
          <p:nvPr/>
        </p:nvSpPr>
        <p:spPr>
          <a:xfrm>
            <a:off x="7104888" y="3657600"/>
            <a:ext cx="2360203" cy="402336"/>
          </a:xfrm>
          <a:prstGeom prst="roundRect">
            <a:avLst>
              <a:gd name="adj" fmla="val 12000"/>
            </a:avLst>
          </a:prstGeom>
          <a:solidFill>
            <a:srgbClr val="ECE8FC"/>
          </a:solidFill>
          <a:ln w="1270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96328" y="3657600"/>
            <a:ext cx="4245559" cy="402336"/>
          </a:xfrm>
          <a:prstGeom prst="rect">
            <a:avLst/>
          </a:prstGeom>
          <a:noFill/>
        </p:spPr>
        <p:txBody>
          <a:bodyPr wrap="square" anchor="ctr" lIns="0" rIns="0" tIns="0" bIns="0">
            <a:noAutofit/>
          </a:bodyPr>
          <a:lstStyle/>
          <a:p>
            <a:pPr algn="l">
              <a:lnSpc>
                <a:spcPct val="100000"/>
              </a:lnSpc>
              <a:spcBef>
                <a:spcPts val="0"/>
              </a:spcBef>
              <a:spcAft>
                <a:spcPts val="600"/>
              </a:spcAft>
            </a:pPr>
            <a:r>
              <a:rPr sz="1050" b="1">
                <a:solidFill>
                  <a:srgbClr val="1B2733"/>
                </a:solidFill>
                <a:latin typeface="Arial"/>
              </a:rPr>
              <a:t>sub-agent LLM  </a:t>
            </a:r>
            <a:r>
              <a:rPr sz="1050" b="1">
                <a:solidFill>
                  <a:srgbClr val="5138C0"/>
                </a:solidFill>
                <a:latin typeface="Consolas"/>
              </a:rPr>
              <a:t>180s</a:t>
            </a:r>
          </a:p>
        </p:txBody>
      </p:sp>
      <p:sp>
        <p:nvSpPr>
          <p:cNvPr id="17" name="Rounded Rectangle 16"/>
          <p:cNvSpPr/>
          <p:nvPr/>
        </p:nvSpPr>
        <p:spPr>
          <a:xfrm>
            <a:off x="7104888" y="4206240"/>
            <a:ext cx="1373209" cy="402336"/>
          </a:xfrm>
          <a:prstGeom prst="roundRect">
            <a:avLst>
              <a:gd name="adj" fmla="val 12000"/>
            </a:avLst>
          </a:prstGeom>
          <a:solidFill>
            <a:srgbClr val="ECE8FC"/>
          </a:solidFill>
          <a:ln w="1270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96328" y="4206240"/>
            <a:ext cx="4245559" cy="402336"/>
          </a:xfrm>
          <a:prstGeom prst="rect">
            <a:avLst/>
          </a:prstGeom>
          <a:noFill/>
        </p:spPr>
        <p:txBody>
          <a:bodyPr wrap="square" anchor="ctr" lIns="0" rIns="0" tIns="0" bIns="0">
            <a:noAutofit/>
          </a:bodyPr>
          <a:lstStyle/>
          <a:p>
            <a:pPr algn="l">
              <a:lnSpc>
                <a:spcPct val="100000"/>
              </a:lnSpc>
              <a:spcBef>
                <a:spcPts val="0"/>
              </a:spcBef>
              <a:spcAft>
                <a:spcPts val="600"/>
              </a:spcAft>
            </a:pPr>
            <a:r>
              <a:rPr sz="1050" b="1">
                <a:solidFill>
                  <a:srgbClr val="1B2733"/>
                </a:solidFill>
                <a:latin typeface="Arial"/>
              </a:rPr>
              <a:t>MCP call  </a:t>
            </a:r>
            <a:r>
              <a:rPr sz="1050" b="1">
                <a:solidFill>
                  <a:srgbClr val="5138C0"/>
                </a:solidFill>
                <a:latin typeface="Consolas"/>
              </a:rPr>
              <a:t>30s</a:t>
            </a:r>
          </a:p>
        </p:txBody>
      </p:sp>
      <p:sp>
        <p:nvSpPr>
          <p:cNvPr id="19" name="TextBox 18"/>
          <p:cNvSpPr txBox="1"/>
          <p:nvPr/>
        </p:nvSpPr>
        <p:spPr>
          <a:xfrm>
            <a:off x="7104888" y="4773167"/>
            <a:ext cx="4291279" cy="502920"/>
          </a:xfrm>
          <a:prstGeom prst="rect">
            <a:avLst/>
          </a:prstGeom>
          <a:noFill/>
        </p:spPr>
        <p:txBody>
          <a:bodyPr wrap="square" anchor="t" lIns="0" rIns="0" tIns="0" bIns="0">
            <a:noAutofit/>
          </a:bodyPr>
          <a:lstStyle/>
          <a:p>
            <a:pPr algn="l">
              <a:lnSpc>
                <a:spcPct val="110000"/>
              </a:lnSpc>
              <a:spcBef>
                <a:spcPts val="0"/>
              </a:spcBef>
              <a:spcAft>
                <a:spcPts val="600"/>
              </a:spcAft>
            </a:pPr>
            <a:r>
              <a:rPr sz="1000" b="0">
                <a:solidFill>
                  <a:srgbClr val="6B7885"/>
                </a:solidFill>
                <a:latin typeface="Arial"/>
              </a:rPr>
              <a:t>Largest-outermost. assert_timeout_chain() fails fast at startup if misordered.</a:t>
            </a:r>
          </a:p>
        </p:txBody>
      </p:sp>
      <p:sp>
        <p:nvSpPr>
          <p:cNvPr id="20" name="TextBox 19"/>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1" name="TextBox 20"/>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37  /  48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6A4CE0"/>
                </a:solidFill>
                <a:latin typeface="Arial"/>
              </a:rPr>
              <a:t>SOLUTION 2 · LANGCHAIN + A2A</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Strengths &amp; honest limits</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28800"/>
            <a:ext cx="5346039" cy="3977639"/>
          </a:xfrm>
          <a:prstGeom prst="roundRect">
            <a:avLst>
              <a:gd name="adj" fmla="val 4500"/>
            </a:avLst>
          </a:prstGeom>
          <a:solidFill>
            <a:srgbClr val="ECE8FC"/>
          </a:solidFill>
          <a:ln w="1270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48255"/>
            <a:ext cx="82296" cy="237744"/>
          </a:xfrm>
          <a:prstGeom prst="rect">
            <a:avLst/>
          </a:prstGeom>
          <a:solidFill>
            <a:srgbClr val="513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011679"/>
            <a:ext cx="4742535"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  Strengths</a:t>
            </a:r>
          </a:p>
        </p:txBody>
      </p:sp>
      <p:sp>
        <p:nvSpPr>
          <p:cNvPr id="10" name="TextBox 9"/>
          <p:cNvSpPr txBox="1"/>
          <p:nvPr/>
        </p:nvSpPr>
        <p:spPr>
          <a:xfrm>
            <a:off x="822960" y="2514600"/>
            <a:ext cx="4843119" cy="3108960"/>
          </a:xfrm>
          <a:prstGeom prst="rect">
            <a:avLst/>
          </a:prstGeom>
          <a:noFill/>
        </p:spPr>
        <p:txBody>
          <a:bodyPr wrap="square" anchor="t" lIns="0" rIns="0" tIns="0" bIns="0">
            <a:noAutofit/>
          </a:bodyPr>
          <a:lstStyle/>
          <a:p>
            <a:pPr algn="l" marL="256032" indent="-256032">
              <a:lnSpc>
                <a:spcPct val="106000"/>
              </a:lnSpc>
              <a:spcBef>
                <a:spcPts val="0"/>
              </a:spcBef>
              <a:spcAft>
                <a:spcPts val="800"/>
              </a:spcAft>
              <a:buClr>
                <a:srgbClr val="6A4CE0"/>
              </a:buClr>
              <a:buFont typeface="Arial"/>
              <a:buChar char="▪"/>
            </a:pPr>
            <a:r>
              <a:rPr sz="1100" b="1">
                <a:solidFill>
                  <a:srgbClr val="1B2733"/>
                </a:solidFill>
                <a:latin typeface="Arial"/>
              </a:rPr>
              <a:t>Familiar ecosystem  </a:t>
            </a:r>
            <a:r>
              <a:rPr sz="1100" b="0">
                <a:solidFill>
                  <a:srgbClr val="1B2733"/>
                </a:solidFill>
                <a:latin typeface="Arial"/>
              </a:rPr>
              <a:t>Python + LangChain; low ramp for most teams.</a:t>
            </a:r>
          </a:p>
          <a:p>
            <a:pPr algn="l" marL="256032" indent="-256032">
              <a:lnSpc>
                <a:spcPct val="106000"/>
              </a:lnSpc>
              <a:spcBef>
                <a:spcPts val="0"/>
              </a:spcBef>
              <a:spcAft>
                <a:spcPts val="800"/>
              </a:spcAft>
              <a:buClr>
                <a:srgbClr val="6A4CE0"/>
              </a:buClr>
              <a:buFont typeface="Arial"/>
              <a:buChar char="▪"/>
            </a:pPr>
            <a:r>
              <a:rPr sz="1100" b="1">
                <a:solidFill>
                  <a:srgbClr val="1B2733"/>
                </a:solidFill>
                <a:latin typeface="Arial"/>
              </a:rPr>
              <a:t>Hard, code-level gate  </a:t>
            </a:r>
            <a:r>
              <a:rPr sz="1100" b="0">
                <a:solidFill>
                  <a:srgbClr val="1B2733"/>
                </a:solidFill>
                <a:latin typeface="Arial"/>
              </a:rPr>
              <a:t>graph interrupt, not a prompt instruction.</a:t>
            </a:r>
          </a:p>
          <a:p>
            <a:pPr algn="l" marL="256032" indent="-256032">
              <a:lnSpc>
                <a:spcPct val="106000"/>
              </a:lnSpc>
              <a:spcBef>
                <a:spcPts val="0"/>
              </a:spcBef>
              <a:spcAft>
                <a:spcPts val="800"/>
              </a:spcAft>
              <a:buClr>
                <a:srgbClr val="6A4CE0"/>
              </a:buClr>
              <a:buFont typeface="Arial"/>
              <a:buChar char="▪"/>
            </a:pPr>
            <a:r>
              <a:rPr sz="1100" b="1">
                <a:solidFill>
                  <a:srgbClr val="1B2733"/>
                </a:solidFill>
                <a:latin typeface="Arial"/>
              </a:rPr>
              <a:t>Structural low-context  </a:t>
            </a:r>
            <a:r>
              <a:rPr sz="1100" b="0">
                <a:solidFill>
                  <a:srgbClr val="1B2733"/>
                </a:solidFill>
                <a:latin typeface="Arial"/>
              </a:rPr>
              <a:t>specialists cap tools by construction.</a:t>
            </a:r>
          </a:p>
          <a:p>
            <a:pPr algn="l" marL="256032" indent="-256032">
              <a:lnSpc>
                <a:spcPct val="106000"/>
              </a:lnSpc>
              <a:spcBef>
                <a:spcPts val="0"/>
              </a:spcBef>
              <a:spcAft>
                <a:spcPts val="800"/>
              </a:spcAft>
              <a:buClr>
                <a:srgbClr val="6A4CE0"/>
              </a:buClr>
              <a:buFont typeface="Arial"/>
              <a:buChar char="▪"/>
            </a:pPr>
            <a:r>
              <a:rPr sz="1100" b="1">
                <a:solidFill>
                  <a:srgbClr val="1B2733"/>
                </a:solidFill>
                <a:latin typeface="Arial"/>
              </a:rPr>
              <a:t>Clean protocol separation  </a:t>
            </a:r>
            <a:r>
              <a:rPr sz="1100" b="0">
                <a:solidFill>
                  <a:srgbClr val="1B2733"/>
                </a:solidFill>
                <a:latin typeface="Arial"/>
              </a:rPr>
              <a:t>A2A at the boundary, MCP for tools, in-process fusion.</a:t>
            </a:r>
          </a:p>
          <a:p>
            <a:pPr algn="l" marL="256032" indent="-256032">
              <a:lnSpc>
                <a:spcPct val="106000"/>
              </a:lnSpc>
              <a:spcBef>
                <a:spcPts val="0"/>
              </a:spcBef>
              <a:spcAft>
                <a:spcPts val="800"/>
              </a:spcAft>
              <a:buClr>
                <a:srgbClr val="6A4CE0"/>
              </a:buClr>
              <a:buFont typeface="Arial"/>
              <a:buChar char="▪"/>
            </a:pPr>
            <a:r>
              <a:rPr sz="1100" b="1">
                <a:solidFill>
                  <a:srgbClr val="1B2733"/>
                </a:solidFill>
                <a:latin typeface="Arial"/>
              </a:rPr>
              <a:t>Same model flexibility  </a:t>
            </a:r>
            <a:r>
              <a:rPr sz="1100" b="0">
                <a:solidFill>
                  <a:srgbClr val="1B2733"/>
                </a:solidFill>
                <a:latin typeface="Arial"/>
              </a:rPr>
              <a:t>4 providers, config-swappable.</a:t>
            </a:r>
          </a:p>
          <a:p>
            <a:pPr algn="l" marL="256032" indent="-256032">
              <a:lnSpc>
                <a:spcPct val="106000"/>
              </a:lnSpc>
              <a:spcBef>
                <a:spcPts val="0"/>
              </a:spcBef>
              <a:spcAft>
                <a:spcPts val="800"/>
              </a:spcAft>
              <a:buClr>
                <a:srgbClr val="6A4CE0"/>
              </a:buClr>
              <a:buFont typeface="Arial"/>
              <a:buChar char="▪"/>
            </a:pPr>
            <a:r>
              <a:rPr sz="1100" b="1">
                <a:solidFill>
                  <a:srgbClr val="1B2733"/>
                </a:solidFill>
                <a:latin typeface="Arial"/>
              </a:rPr>
              <a:t>Full self-observability  </a:t>
            </a:r>
            <a:r>
              <a:rPr sz="1100" b="0">
                <a:solidFill>
                  <a:srgbClr val="1B2733"/>
                </a:solidFill>
                <a:latin typeface="Arial"/>
              </a:rPr>
              <a:t>one trace spans user → A2A → specialist → MCP.</a:t>
            </a:r>
          </a:p>
        </p:txBody>
      </p:sp>
      <p:sp>
        <p:nvSpPr>
          <p:cNvPr id="11" name="Rounded Rectangle 10"/>
          <p:cNvSpPr/>
          <p:nvPr/>
        </p:nvSpPr>
        <p:spPr>
          <a:xfrm>
            <a:off x="6278727" y="1828800"/>
            <a:ext cx="5346039" cy="3977639"/>
          </a:xfrm>
          <a:prstGeom prst="roundRect">
            <a:avLst>
              <a:gd name="adj" fmla="val 4500"/>
            </a:avLst>
          </a:prstGeom>
          <a:solidFill>
            <a:srgbClr val="FBEFD9"/>
          </a:solidFill>
          <a:ln w="12700">
            <a:solidFill>
              <a:srgbClr val="D98B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79895" y="2048255"/>
            <a:ext cx="82296" cy="237744"/>
          </a:xfrm>
          <a:prstGeom prst="rect">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1063" y="2011679"/>
            <a:ext cx="4742535"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  Known limits (POC)</a:t>
            </a:r>
          </a:p>
        </p:txBody>
      </p:sp>
      <p:sp>
        <p:nvSpPr>
          <p:cNvPr id="14" name="TextBox 13"/>
          <p:cNvSpPr txBox="1"/>
          <p:nvPr/>
        </p:nvSpPr>
        <p:spPr>
          <a:xfrm>
            <a:off x="6534759" y="2514600"/>
            <a:ext cx="4843119" cy="3108960"/>
          </a:xfrm>
          <a:prstGeom prst="rect">
            <a:avLst/>
          </a:prstGeom>
          <a:noFill/>
        </p:spPr>
        <p:txBody>
          <a:bodyPr wrap="square" anchor="t" lIns="0" rIns="0" tIns="0" bIns="0">
            <a:noAutofit/>
          </a:bodyPr>
          <a:lstStyle/>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3× model non-determinism  </a:t>
            </a:r>
            <a:r>
              <a:rPr sz="1100" b="0">
                <a:solidFill>
                  <a:srgbClr val="1B2733"/>
                </a:solidFill>
                <a:latin typeface="Arial"/>
              </a:rPr>
              <a:t>three agents must each emit clean tool calls.</a:t>
            </a:r>
          </a:p>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Prose output contract  </a:t>
            </a:r>
            <a:r>
              <a:rPr sz="1100" b="0">
                <a:solidFill>
                  <a:srgbClr val="1B2733"/>
                </a:solidFill>
                <a:latin typeface="Arial"/>
              </a:rPr>
              <a:t>vague specialist replies starve correlation.</a:t>
            </a:r>
          </a:p>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Extra network hop  </a:t>
            </a:r>
            <a:r>
              <a:rPr sz="1100" b="0">
                <a:solidFill>
                  <a:srgbClr val="1B2733"/>
                </a:solidFill>
                <a:latin typeface="Arial"/>
              </a:rPr>
              <a:t>A2A adds latency vs an in-process call.</a:t>
            </a:r>
          </a:p>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Timeout Chain to maintain  </a:t>
            </a:r>
            <a:r>
              <a:rPr sz="1100" b="0">
                <a:solidFill>
                  <a:srgbClr val="1B2733"/>
                </a:solidFill>
                <a:latin typeface="Arial"/>
              </a:rPr>
              <a:t>four nested timeouts, order-sensitive.</a:t>
            </a:r>
          </a:p>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In-memory state  </a:t>
            </a:r>
            <a:r>
              <a:rPr sz="1100" b="0">
                <a:solidFill>
                  <a:srgbClr val="1B2733"/>
                </a:solidFill>
                <a:latin typeface="Arial"/>
              </a:rPr>
              <a:t>restart mid-approval drops the pending runbook.</a:t>
            </a:r>
          </a:p>
          <a:p>
            <a:pPr algn="l" marL="256032" indent="-256032">
              <a:lnSpc>
                <a:spcPct val="106000"/>
              </a:lnSpc>
              <a:spcBef>
                <a:spcPts val="0"/>
              </a:spcBef>
              <a:spcAft>
                <a:spcPts val="800"/>
              </a:spcAft>
              <a:buClr>
                <a:srgbClr val="D98B22"/>
              </a:buClr>
              <a:buFont typeface="Arial"/>
              <a:buChar char="▪"/>
            </a:pPr>
            <a:r>
              <a:rPr sz="1100" b="1">
                <a:solidFill>
                  <a:srgbClr val="1B2733"/>
                </a:solidFill>
                <a:latin typeface="Arial"/>
              </a:rPr>
              <a:t>SDK version drift  </a:t>
            </a:r>
            <a:r>
              <a:rPr sz="1100" b="0">
                <a:solidFill>
                  <a:srgbClr val="1B2733"/>
                </a:solidFill>
                <a:latin typeface="Arial"/>
              </a:rPr>
              <a:t>a2a-sdk 1.1 is protobuf; pin carefully.</a:t>
            </a:r>
          </a:p>
        </p:txBody>
      </p:sp>
      <p:sp>
        <p:nvSpPr>
          <p:cNvPr id="15" name="TextBox 14"/>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16" name="TextBox 15"/>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38  /  48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53935" y="-320040"/>
            <a:ext cx="4572000" cy="3840480"/>
          </a:xfrm>
          <a:prstGeom prst="rect">
            <a:avLst/>
          </a:prstGeom>
          <a:noFill/>
        </p:spPr>
        <p:txBody>
          <a:bodyPr wrap="square" anchor="t" lIns="0" rIns="0" tIns="0" bIns="0">
            <a:noAutofit/>
          </a:bodyPr>
          <a:lstStyle/>
          <a:p>
            <a:pPr algn="r">
              <a:lnSpc>
                <a:spcPct val="100000"/>
              </a:lnSpc>
              <a:spcBef>
                <a:spcPts val="0"/>
              </a:spcBef>
              <a:spcAft>
                <a:spcPts val="600"/>
              </a:spcAft>
            </a:pPr>
            <a:r>
              <a:rPr sz="21000" b="1">
                <a:solidFill>
                  <a:srgbClr val="20374A"/>
                </a:solidFill>
                <a:latin typeface="Arial"/>
              </a:rPr>
              <a:t>05</a:t>
            </a:r>
          </a:p>
        </p:txBody>
      </p:sp>
      <p:sp>
        <p:nvSpPr>
          <p:cNvPr id="4" name="Rectangle 3"/>
          <p:cNvSpPr/>
          <p:nvPr/>
        </p:nvSpPr>
        <p:spPr>
          <a:xfrm>
            <a:off x="566928" y="2761488"/>
            <a:ext cx="822960" cy="100584"/>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99232"/>
            <a:ext cx="9601200" cy="365760"/>
          </a:xfrm>
          <a:prstGeom prst="rect">
            <a:avLst/>
          </a:prstGeom>
          <a:noFill/>
        </p:spPr>
        <p:txBody>
          <a:bodyPr wrap="square" anchor="t" lIns="0" rIns="0" tIns="0" bIns="0">
            <a:noAutofit/>
          </a:bodyPr>
          <a:lstStyle/>
          <a:p>
            <a:pPr algn="l">
              <a:lnSpc>
                <a:spcPct val="100000"/>
              </a:lnSpc>
              <a:spcBef>
                <a:spcPts val="0"/>
              </a:spcBef>
              <a:spcAft>
                <a:spcPts val="600"/>
              </a:spcAft>
            </a:pPr>
            <a:r>
              <a:rPr sz="1250" b="1">
                <a:solidFill>
                  <a:srgbClr val="FF7300"/>
                </a:solidFill>
                <a:latin typeface="Arial"/>
              </a:rPr>
              <a:t>SECTION</a:t>
            </a:r>
          </a:p>
        </p:txBody>
      </p:sp>
      <p:sp>
        <p:nvSpPr>
          <p:cNvPr id="6" name="TextBox 5"/>
          <p:cNvSpPr txBox="1"/>
          <p:nvPr/>
        </p:nvSpPr>
        <p:spPr>
          <a:xfrm>
            <a:off x="566928" y="3346704"/>
            <a:ext cx="10241280" cy="1554480"/>
          </a:xfrm>
          <a:prstGeom prst="rect">
            <a:avLst/>
          </a:prstGeom>
          <a:noFill/>
        </p:spPr>
        <p:txBody>
          <a:bodyPr wrap="square" anchor="t" lIns="0" rIns="0" tIns="0" bIns="0">
            <a:noAutofit/>
          </a:bodyPr>
          <a:lstStyle/>
          <a:p>
            <a:pPr algn="l">
              <a:lnSpc>
                <a:spcPct val="102000"/>
              </a:lnSpc>
              <a:spcBef>
                <a:spcPts val="0"/>
              </a:spcBef>
              <a:spcAft>
                <a:spcPts val="600"/>
              </a:spcAft>
            </a:pPr>
            <a:r>
              <a:rPr sz="4000" b="1">
                <a:solidFill>
                  <a:srgbClr val="FFFFFF"/>
                </a:solidFill>
                <a:latin typeface="Arial"/>
              </a:rPr>
              <a:t>Comparison &amp; Path Forward</a:t>
            </a:r>
          </a:p>
        </p:txBody>
      </p:sp>
      <p:sp>
        <p:nvSpPr>
          <p:cNvPr id="7" name="TextBox 6"/>
          <p:cNvSpPr txBox="1"/>
          <p:nvPr/>
        </p:nvSpPr>
        <p:spPr>
          <a:xfrm>
            <a:off x="566928" y="4937760"/>
            <a:ext cx="9692640" cy="1005840"/>
          </a:xfrm>
          <a:prstGeom prst="rect">
            <a:avLst/>
          </a:prstGeom>
          <a:noFill/>
        </p:spPr>
        <p:txBody>
          <a:bodyPr wrap="square" anchor="t" lIns="0" rIns="0" tIns="0" bIns="0">
            <a:noAutofit/>
          </a:bodyPr>
          <a:lstStyle/>
          <a:p>
            <a:pPr algn="l">
              <a:lnSpc>
                <a:spcPct val="115000"/>
              </a:lnSpc>
              <a:spcBef>
                <a:spcPts val="0"/>
              </a:spcBef>
              <a:spcAft>
                <a:spcPts val="600"/>
              </a:spcAft>
            </a:pPr>
            <a:r>
              <a:rPr sz="1500" b="0">
                <a:solidFill>
                  <a:srgbClr val="AEBECD"/>
                </a:solidFill>
                <a:latin typeface="Arial"/>
              </a:rPr>
              <a:t>An honest scorecard, the 5-minute demo, and what production hardening looks like.</a:t>
            </a:r>
          </a:p>
        </p:txBody>
      </p:sp>
      <p:sp>
        <p:nvSpPr>
          <p:cNvPr id="8" name="TextBox 7"/>
          <p:cNvSpPr txBox="1"/>
          <p:nvPr/>
        </p:nvSpPr>
        <p:spPr>
          <a:xfrm>
            <a:off x="566928" y="6272784"/>
            <a:ext cx="2194560" cy="457200"/>
          </a:xfrm>
          <a:prstGeom prst="rect">
            <a:avLst/>
          </a:prstGeom>
          <a:noFill/>
        </p:spPr>
        <p:txBody>
          <a:bodyPr wrap="square" anchor="ctr" lIns="0" rIns="0" tIns="0" bIns="0">
            <a:noAutofit/>
          </a:bodyPr>
          <a:lstStyle/>
          <a:p>
            <a:pPr algn="l">
              <a:lnSpc>
                <a:spcPct val="100000"/>
              </a:lnSpc>
              <a:spcBef>
                <a:spcPts val="0"/>
              </a:spcBef>
              <a:spcAft>
                <a:spcPts val="600"/>
              </a:spcAft>
            </a:pPr>
            <a:r>
              <a:rPr sz="1600" b="1">
                <a:solidFill>
                  <a:srgbClr val="FFFFFF"/>
                </a:solidFill>
                <a:latin typeface="Arial"/>
              </a:rPr>
              <a:t>wso</a:t>
            </a:r>
            <a:r>
              <a:rPr sz="1600" b="1">
                <a:solidFill>
                  <a:srgbClr val="FF7300"/>
                </a:solidFill>
                <a:latin typeface="Arial"/>
              </a:rPr>
              <a:t>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COMPARISON</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architectural crux</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783080"/>
            <a:ext cx="11057839" cy="868680"/>
          </a:xfrm>
          <a:prstGeom prst="roundRect">
            <a:avLst>
              <a:gd name="adj" fmla="val 5000"/>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783080"/>
            <a:ext cx="10509199" cy="868680"/>
          </a:xfrm>
          <a:prstGeom prst="rect">
            <a:avLst/>
          </a:prstGeom>
          <a:noFill/>
        </p:spPr>
        <p:txBody>
          <a:bodyPr wrap="square" anchor="ctr" lIns="0" rIns="0" tIns="0" bIns="0">
            <a:noAutofit/>
          </a:bodyPr>
          <a:lstStyle/>
          <a:p>
            <a:pPr algn="ctr">
              <a:lnSpc>
                <a:spcPct val="100000"/>
              </a:lnSpc>
              <a:spcBef>
                <a:spcPts val="0"/>
              </a:spcBef>
              <a:spcAft>
                <a:spcPts val="600"/>
              </a:spcAft>
            </a:pPr>
            <a:r>
              <a:rPr sz="1500" b="1">
                <a:solidFill>
                  <a:srgbClr val="FFFFFF"/>
                </a:solidFill>
                <a:latin typeface="Arial"/>
              </a:rPr>
              <a:t>Both keep correlation in ONE reasoning context. They differ only in how they keep the toolset small.</a:t>
            </a:r>
          </a:p>
        </p:txBody>
      </p:sp>
      <p:sp>
        <p:nvSpPr>
          <p:cNvPr id="9" name="Rounded Rectangle 8"/>
          <p:cNvSpPr/>
          <p:nvPr/>
        </p:nvSpPr>
        <p:spPr>
          <a:xfrm>
            <a:off x="566928" y="2926080"/>
            <a:ext cx="5346039" cy="2880360"/>
          </a:xfrm>
          <a:prstGeom prst="roundRect">
            <a:avLst>
              <a:gd name="adj" fmla="val 4500"/>
            </a:avLst>
          </a:prstGeom>
          <a:solidFill>
            <a:srgbClr val="E0F1F5"/>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3172968"/>
            <a:ext cx="82296" cy="237744"/>
          </a:xfrm>
          <a:prstGeom prst="rect">
            <a:avLst/>
          </a:prstGeom>
          <a:solidFill>
            <a:srgbClr val="0A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3136392"/>
            <a:ext cx="4742535"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Solution 1 — federate the tools</a:t>
            </a:r>
          </a:p>
        </p:txBody>
      </p:sp>
      <p:sp>
        <p:nvSpPr>
          <p:cNvPr id="12" name="TextBox 11"/>
          <p:cNvSpPr txBox="1"/>
          <p:nvPr/>
        </p:nvSpPr>
        <p:spPr>
          <a:xfrm>
            <a:off x="841247" y="3639312"/>
            <a:ext cx="4797399" cy="2011680"/>
          </a:xfrm>
          <a:prstGeom prst="rect">
            <a:avLst/>
          </a:prstGeom>
          <a:noFill/>
        </p:spPr>
        <p:txBody>
          <a:bodyPr wrap="square" anchor="t" lIns="0" rIns="0" tIns="0" bIns="0">
            <a:noAutofit/>
          </a:bodyPr>
          <a:lstStyle/>
          <a:p>
            <a:pPr algn="l" marL="256032" indent="-256032">
              <a:lnSpc>
                <a:spcPct val="106000"/>
              </a:lnSpc>
              <a:spcBef>
                <a:spcPts val="0"/>
              </a:spcBef>
              <a:spcAft>
                <a:spcPts val="900"/>
              </a:spcAft>
              <a:buClr>
                <a:srgbClr val="0E8FA8"/>
              </a:buClr>
              <a:buFont typeface="Arial"/>
              <a:buChar char="▪"/>
            </a:pPr>
            <a:r>
              <a:rPr sz="1150" b="1">
                <a:solidFill>
                  <a:srgbClr val="1B2733"/>
                </a:solidFill>
                <a:latin typeface="Arial"/>
              </a:rPr>
              <a:t>Low-context via  </a:t>
            </a:r>
            <a:r>
              <a:rPr sz="1150" b="0">
                <a:solidFill>
                  <a:srgbClr val="1B2733"/>
                </a:solidFill>
                <a:latin typeface="Arial"/>
              </a:rPr>
              <a:t>a proxy with a server-side registry + lazy discover_tools.</a:t>
            </a:r>
          </a:p>
          <a:p>
            <a:pPr algn="l" marL="256032" indent="-256032">
              <a:lnSpc>
                <a:spcPct val="106000"/>
              </a:lnSpc>
              <a:spcBef>
                <a:spcPts val="0"/>
              </a:spcBef>
              <a:spcAft>
                <a:spcPts val="900"/>
              </a:spcAft>
              <a:buClr>
                <a:srgbClr val="0E8FA8"/>
              </a:buClr>
              <a:buFont typeface="Arial"/>
              <a:buChar char="▪"/>
            </a:pPr>
            <a:r>
              <a:rPr sz="1150" b="1">
                <a:solidFill>
                  <a:srgbClr val="1B2733"/>
                </a:solidFill>
                <a:latin typeface="Arial"/>
              </a:rPr>
              <a:t>Correlation locus  </a:t>
            </a:r>
            <a:r>
              <a:rPr sz="1150" b="0">
                <a:solidFill>
                  <a:srgbClr val="1B2733"/>
                </a:solidFill>
                <a:latin typeface="Arial"/>
              </a:rPr>
              <a:t>one Ballerina agent holds all evidence directly.</a:t>
            </a:r>
          </a:p>
          <a:p>
            <a:pPr algn="l" marL="256032" indent="-256032">
              <a:lnSpc>
                <a:spcPct val="106000"/>
              </a:lnSpc>
              <a:spcBef>
                <a:spcPts val="0"/>
              </a:spcBef>
              <a:spcAft>
                <a:spcPts val="900"/>
              </a:spcAft>
              <a:buClr>
                <a:srgbClr val="0E8FA8"/>
              </a:buClr>
              <a:buFont typeface="Arial"/>
              <a:buChar char="▪"/>
            </a:pPr>
            <a:r>
              <a:rPr sz="1150" b="1">
                <a:solidFill>
                  <a:srgbClr val="1B2733"/>
                </a:solidFill>
                <a:latin typeface="Arial"/>
              </a:rPr>
              <a:t>Boundary  </a:t>
            </a:r>
            <a:r>
              <a:rPr sz="1150" b="0">
                <a:solidFill>
                  <a:srgbClr val="1B2733"/>
                </a:solidFill>
                <a:latin typeface="Arial"/>
              </a:rPr>
              <a:t>one process federates; nothing is fragmented.</a:t>
            </a:r>
          </a:p>
        </p:txBody>
      </p:sp>
      <p:sp>
        <p:nvSpPr>
          <p:cNvPr id="13" name="Rounded Rectangle 12"/>
          <p:cNvSpPr/>
          <p:nvPr/>
        </p:nvSpPr>
        <p:spPr>
          <a:xfrm>
            <a:off x="6278727" y="2926080"/>
            <a:ext cx="5346039" cy="2880360"/>
          </a:xfrm>
          <a:prstGeom prst="roundRect">
            <a:avLst>
              <a:gd name="adj" fmla="val 4500"/>
            </a:avLst>
          </a:prstGeom>
          <a:solidFill>
            <a:srgbClr val="ECE8FC"/>
          </a:solidFill>
          <a:ln w="1778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79895" y="3172968"/>
            <a:ext cx="82296" cy="237744"/>
          </a:xfrm>
          <a:prstGeom prst="rect">
            <a:avLst/>
          </a:prstGeom>
          <a:solidFill>
            <a:srgbClr val="513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81063" y="3136392"/>
            <a:ext cx="4742535"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Solution 2 — decompose the agents</a:t>
            </a:r>
          </a:p>
        </p:txBody>
      </p:sp>
      <p:sp>
        <p:nvSpPr>
          <p:cNvPr id="16" name="TextBox 15"/>
          <p:cNvSpPr txBox="1"/>
          <p:nvPr/>
        </p:nvSpPr>
        <p:spPr>
          <a:xfrm>
            <a:off x="6553047" y="3639312"/>
            <a:ext cx="4797399" cy="2011680"/>
          </a:xfrm>
          <a:prstGeom prst="rect">
            <a:avLst/>
          </a:prstGeom>
          <a:noFill/>
        </p:spPr>
        <p:txBody>
          <a:bodyPr wrap="square" anchor="t" lIns="0" rIns="0" tIns="0" bIns="0">
            <a:noAutofit/>
          </a:bodyPr>
          <a:lstStyle/>
          <a:p>
            <a:pPr algn="l" marL="256032" indent="-256032">
              <a:lnSpc>
                <a:spcPct val="106000"/>
              </a:lnSpc>
              <a:spcBef>
                <a:spcPts val="0"/>
              </a:spcBef>
              <a:spcAft>
                <a:spcPts val="900"/>
              </a:spcAft>
              <a:buClr>
                <a:srgbClr val="6A4CE0"/>
              </a:buClr>
              <a:buFont typeface="Arial"/>
              <a:buChar char="▪"/>
            </a:pPr>
            <a:r>
              <a:rPr sz="1150" b="1">
                <a:solidFill>
                  <a:srgbClr val="1B2733"/>
                </a:solidFill>
                <a:latin typeface="Arial"/>
              </a:rPr>
              <a:t>Low-context via  </a:t>
            </a:r>
            <a:r>
              <a:rPr sz="1150" b="0">
                <a:solidFill>
                  <a:srgbClr val="1B2733"/>
                </a:solidFill>
                <a:latin typeface="Arial"/>
              </a:rPr>
              <a:t>specialist agents that each own a small toolset.</a:t>
            </a:r>
          </a:p>
          <a:p>
            <a:pPr algn="l" marL="256032" indent="-256032">
              <a:lnSpc>
                <a:spcPct val="106000"/>
              </a:lnSpc>
              <a:spcBef>
                <a:spcPts val="0"/>
              </a:spcBef>
              <a:spcAft>
                <a:spcPts val="900"/>
              </a:spcAft>
              <a:buClr>
                <a:srgbClr val="6A4CE0"/>
              </a:buClr>
              <a:buFont typeface="Arial"/>
              <a:buChar char="▪"/>
            </a:pPr>
            <a:r>
              <a:rPr sz="1150" b="1">
                <a:solidFill>
                  <a:srgbClr val="1B2733"/>
                </a:solidFill>
                <a:latin typeface="Arial"/>
              </a:rPr>
              <a:t>Correlation locus  </a:t>
            </a:r>
            <a:r>
              <a:rPr sz="1150" b="0">
                <a:solidFill>
                  <a:srgbClr val="1B2733"/>
                </a:solidFill>
                <a:latin typeface="Arial"/>
              </a:rPr>
              <a:t>the orchestrator fuses prose evidence from specialists.</a:t>
            </a:r>
          </a:p>
          <a:p>
            <a:pPr algn="l" marL="256032" indent="-256032">
              <a:lnSpc>
                <a:spcPct val="106000"/>
              </a:lnSpc>
              <a:spcBef>
                <a:spcPts val="0"/>
              </a:spcBef>
              <a:spcAft>
                <a:spcPts val="900"/>
              </a:spcAft>
              <a:buClr>
                <a:srgbClr val="6A4CE0"/>
              </a:buClr>
              <a:buFont typeface="Arial"/>
              <a:buChar char="▪"/>
            </a:pPr>
            <a:r>
              <a:rPr sz="1150" b="1">
                <a:solidFill>
                  <a:srgbClr val="1B2733"/>
                </a:solidFill>
                <a:latin typeface="Arial"/>
              </a:rPr>
              <a:t>Boundary  </a:t>
            </a:r>
            <a:r>
              <a:rPr sz="1150" b="0">
                <a:solidFill>
                  <a:srgbClr val="1B2733"/>
                </a:solidFill>
                <a:latin typeface="Arial"/>
              </a:rPr>
              <a:t>A2A at the platform-team line — NOT inside correlation.</a:t>
            </a:r>
          </a:p>
        </p:txBody>
      </p:sp>
      <p:sp>
        <p:nvSpPr>
          <p:cNvPr id="17" name="TextBox 16"/>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18" name="TextBox 17"/>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40  /  48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COMPARISON</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Side-by-side scorecard</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55648"/>
          <a:ext cx="11057838" cy="3813048"/>
        </p:xfrm>
        <a:graphic>
          <a:graphicData uri="http://schemas.openxmlformats.org/drawingml/2006/table">
            <a:tbl>
              <a:tblPr firstRow="0" bandRow="0">
                <a:tableStyleId>{2D5ABB26-0587-4C30-8999-92F81FD0307C}</a:tableStyleId>
              </a:tblPr>
              <a:tblGrid>
                <a:gridCol w="3096194"/>
                <a:gridCol w="3980822"/>
                <a:gridCol w="3980822"/>
              </a:tblGrid>
              <a:tr h="384048">
                <a:tc>
                  <a:txBody>
                    <a:bodyPr wrap="square"/>
                    <a:lstStyle/>
                    <a:p>
                      <a:pPr algn="l">
                        <a:lnSpc>
                          <a:spcPct val="100000"/>
                        </a:lnSpc>
                      </a:pPr>
                      <a:r>
                        <a:rPr sz="1050" b="1">
                          <a:solidFill>
                            <a:srgbClr val="FFFFFF"/>
                          </a:solidFill>
                          <a:latin typeface="Arial"/>
                        </a:rPr>
                        <a:t>Dimension</a:t>
                      </a:r>
                    </a:p>
                  </a:txBody>
                  <a:tcPr anchor="ctr" marL="91440" marR="73152" marT="18288" marB="18288">
                    <a:solidFill>
                      <a:srgbClr val="1B2733"/>
                    </a:solidFill>
                  </a:tcPr>
                </a:tc>
                <a:tc>
                  <a:txBody>
                    <a:bodyPr wrap="square"/>
                    <a:lstStyle/>
                    <a:p>
                      <a:pPr algn="l">
                        <a:lnSpc>
                          <a:spcPct val="100000"/>
                        </a:lnSpc>
                      </a:pPr>
                      <a:r>
                        <a:rPr sz="1050" b="1">
                          <a:solidFill>
                            <a:srgbClr val="FFFFFF"/>
                          </a:solidFill>
                          <a:latin typeface="Arial"/>
                        </a:rPr>
                        <a:t>Solution 1 · Ballerina + Proxy</a:t>
                      </a:r>
                    </a:p>
                  </a:txBody>
                  <a:tcPr anchor="ctr" marL="91440" marR="73152" marT="18288" marB="18288">
                    <a:solidFill>
                      <a:srgbClr val="1B2733"/>
                    </a:solidFill>
                  </a:tcPr>
                </a:tc>
                <a:tc>
                  <a:txBody>
                    <a:bodyPr wrap="square"/>
                    <a:lstStyle/>
                    <a:p>
                      <a:pPr algn="l">
                        <a:lnSpc>
                          <a:spcPct val="100000"/>
                        </a:lnSpc>
                      </a:pPr>
                      <a:r>
                        <a:rPr sz="1050" b="1">
                          <a:solidFill>
                            <a:srgbClr val="FFFFFF"/>
                          </a:solidFill>
                          <a:latin typeface="Arial"/>
                        </a:rPr>
                        <a:t>Solution 2 · LangChain + A2A</a:t>
                      </a:r>
                    </a:p>
                  </a:txBody>
                  <a:tcPr anchor="ctr" marL="91440" marR="73152" marT="18288" marB="18288">
                    <a:solidFill>
                      <a:srgbClr val="1B2733"/>
                    </a:solidFill>
                  </a:tcPr>
                </a:tc>
              </a:tr>
              <a:tr h="342900">
                <a:tc>
                  <a:txBody>
                    <a:bodyPr wrap="square"/>
                    <a:lstStyle/>
                    <a:p>
                      <a:pPr algn="l">
                        <a:lnSpc>
                          <a:spcPct val="100000"/>
                        </a:lnSpc>
                      </a:pPr>
                      <a:r>
                        <a:rPr sz="950" b="1">
                          <a:solidFill>
                            <a:srgbClr val="1B2733"/>
                          </a:solidFill>
                          <a:latin typeface="Arial"/>
                        </a:rPr>
                        <a:t>Low-context strategy</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Proxy lazy-load (server registry)</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Agent decomposition (specialists)</a:t>
                      </a:r>
                    </a:p>
                  </a:txBody>
                  <a:tcPr anchor="ctr" marL="91440" marR="73152" marT="18288" marB="18288">
                    <a:solidFill>
                      <a:srgbClr val="F6F8FA"/>
                    </a:solidFill>
                  </a:tcPr>
                </a:tc>
              </a:tr>
              <a:tr h="342900">
                <a:tc>
                  <a:txBody>
                    <a:bodyPr wrap="square"/>
                    <a:lstStyle/>
                    <a:p>
                      <a:pPr algn="l">
                        <a:lnSpc>
                          <a:spcPct val="100000"/>
                        </a:lnSpc>
                      </a:pPr>
                      <a:r>
                        <a:rPr sz="950" b="1">
                          <a:solidFill>
                            <a:srgbClr val="1B2733"/>
                          </a:solidFill>
                          <a:latin typeface="Arial"/>
                        </a:rPr>
                        <a:t>Correlation locus</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One agent, direct</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Orchestrator fuses prose</a:t>
                      </a:r>
                    </a:p>
                  </a:txBody>
                  <a:tcPr anchor="ctr" marL="91440" marR="73152" marT="18288" marB="18288">
                    <a:solidFill>
                      <a:srgbClr val="FFFFFF"/>
                    </a:solidFill>
                  </a:tcPr>
                </a:tc>
              </a:tr>
              <a:tr h="342900">
                <a:tc>
                  <a:txBody>
                    <a:bodyPr wrap="square"/>
                    <a:lstStyle/>
                    <a:p>
                      <a:pPr algn="l">
                        <a:lnSpc>
                          <a:spcPct val="100000"/>
                        </a:lnSpc>
                      </a:pPr>
                      <a:r>
                        <a:rPr sz="950" b="1">
                          <a:solidFill>
                            <a:srgbClr val="1B2733"/>
                          </a:solidFill>
                          <a:latin typeface="Arial"/>
                        </a:rPr>
                        <a:t>Approval gate</a:t>
                      </a:r>
                    </a:p>
                  </a:txBody>
                  <a:tcPr anchor="ctr" marL="91440" marR="73152" marT="18288" marB="18288">
                    <a:solidFill>
                      <a:srgbClr val="F6F8FA"/>
                    </a:solidFill>
                  </a:tcPr>
                </a:tc>
                <a:tc>
                  <a:txBody>
                    <a:bodyPr wrap="square"/>
                    <a:lstStyle/>
                    <a:p>
                      <a:pPr algn="l">
                        <a:lnSpc>
                          <a:spcPct val="100000"/>
                        </a:lnSpc>
                      </a:pPr>
                      <a:r>
                        <a:rPr sz="950" b="0">
                          <a:solidFill>
                            <a:srgbClr val="D98B22"/>
                          </a:solidFill>
                          <a:latin typeface="Arial"/>
                        </a:rPr>
                        <a:t>Prompt-level instruction</a:t>
                      </a:r>
                    </a:p>
                  </a:txBody>
                  <a:tcPr anchor="ctr" marL="91440" marR="73152" marT="18288" marB="18288">
                    <a:solidFill>
                      <a:srgbClr val="F6F8FA"/>
                    </a:solidFill>
                  </a:tcPr>
                </a:tc>
                <a:tc>
                  <a:txBody>
                    <a:bodyPr wrap="square"/>
                    <a:lstStyle/>
                    <a:p>
                      <a:pPr algn="l">
                        <a:lnSpc>
                          <a:spcPct val="100000"/>
                        </a:lnSpc>
                      </a:pPr>
                      <a:r>
                        <a:rPr sz="950" b="0">
                          <a:solidFill>
                            <a:srgbClr val="2E9E5B"/>
                          </a:solidFill>
                          <a:latin typeface="Arial"/>
                        </a:rPr>
                        <a:t>Code-level graph interrupt</a:t>
                      </a:r>
                    </a:p>
                  </a:txBody>
                  <a:tcPr anchor="ctr" marL="91440" marR="73152" marT="18288" marB="18288">
                    <a:solidFill>
                      <a:srgbClr val="F6F8FA"/>
                    </a:solidFill>
                  </a:tcPr>
                </a:tc>
              </a:tr>
              <a:tr h="342900">
                <a:tc>
                  <a:txBody>
                    <a:bodyPr wrap="square"/>
                    <a:lstStyle/>
                    <a:p>
                      <a:pPr algn="l">
                        <a:lnSpc>
                          <a:spcPct val="100000"/>
                        </a:lnSpc>
                      </a:pPr>
                      <a:r>
                        <a:rPr sz="950" b="1">
                          <a:solidFill>
                            <a:srgbClr val="1B2733"/>
                          </a:solidFill>
                          <a:latin typeface="Arial"/>
                        </a:rPr>
                        <a:t>Language / stack</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Ballerina 2201.13.3</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Python 3.12 / LangChain 1.x</a:t>
                      </a:r>
                    </a:p>
                  </a:txBody>
                  <a:tcPr anchor="ctr" marL="91440" marR="73152" marT="18288" marB="18288">
                    <a:solidFill>
                      <a:srgbClr val="FFFFFF"/>
                    </a:solidFill>
                  </a:tcPr>
                </a:tc>
              </a:tr>
              <a:tr h="342900">
                <a:tc>
                  <a:txBody>
                    <a:bodyPr wrap="square"/>
                    <a:lstStyle/>
                    <a:p>
                      <a:pPr algn="l">
                        <a:lnSpc>
                          <a:spcPct val="100000"/>
                        </a:lnSpc>
                      </a:pPr>
                      <a:r>
                        <a:rPr sz="950" b="1">
                          <a:solidFill>
                            <a:srgbClr val="1B2733"/>
                          </a:solidFill>
                          <a:latin typeface="Arial"/>
                        </a:rPr>
                        <a:t>Moving parts</a:t>
                      </a:r>
                    </a:p>
                  </a:txBody>
                  <a:tcPr anchor="ctr" marL="91440" marR="73152" marT="18288" marB="18288">
                    <a:solidFill>
                      <a:srgbClr val="F6F8FA"/>
                    </a:solidFill>
                  </a:tcPr>
                </a:tc>
                <a:tc>
                  <a:txBody>
                    <a:bodyPr wrap="square"/>
                    <a:lstStyle/>
                    <a:p>
                      <a:pPr algn="l">
                        <a:lnSpc>
                          <a:spcPct val="100000"/>
                        </a:lnSpc>
                      </a:pPr>
                      <a:r>
                        <a:rPr sz="950" b="0">
                          <a:solidFill>
                            <a:srgbClr val="2E9E5B"/>
                          </a:solidFill>
                          <a:latin typeface="Arial"/>
                        </a:rPr>
                        <a:t>Fewer — 1 agent + proxy</a:t>
                      </a:r>
                    </a:p>
                  </a:txBody>
                  <a:tcPr anchor="ctr" marL="91440" marR="73152" marT="18288" marB="18288">
                    <a:solidFill>
                      <a:srgbClr val="F6F8FA"/>
                    </a:solidFill>
                  </a:tcPr>
                </a:tc>
                <a:tc>
                  <a:txBody>
                    <a:bodyPr wrap="square"/>
                    <a:lstStyle/>
                    <a:p>
                      <a:pPr algn="l">
                        <a:lnSpc>
                          <a:spcPct val="100000"/>
                        </a:lnSpc>
                      </a:pPr>
                      <a:r>
                        <a:rPr sz="950" b="0">
                          <a:solidFill>
                            <a:srgbClr val="D98B22"/>
                          </a:solidFill>
                          <a:latin typeface="Arial"/>
                        </a:rPr>
                        <a:t>More — 3 agents + hop</a:t>
                      </a:r>
                    </a:p>
                  </a:txBody>
                  <a:tcPr anchor="ctr" marL="91440" marR="73152" marT="18288" marB="18288">
                    <a:solidFill>
                      <a:srgbClr val="F6F8FA"/>
                    </a:solidFill>
                  </a:tcPr>
                </a:tc>
              </a:tr>
              <a:tr h="342900">
                <a:tc>
                  <a:txBody>
                    <a:bodyPr wrap="square"/>
                    <a:lstStyle/>
                    <a:p>
                      <a:pPr algn="l">
                        <a:lnSpc>
                          <a:spcPct val="100000"/>
                        </a:lnSpc>
                      </a:pPr>
                      <a:r>
                        <a:rPr sz="950" b="1">
                          <a:solidFill>
                            <a:srgbClr val="1B2733"/>
                          </a:solidFill>
                          <a:latin typeface="Arial"/>
                        </a:rPr>
                        <a:t>Model non-determinism</a:t>
                      </a:r>
                    </a:p>
                  </a:txBody>
                  <a:tcPr anchor="ctr" marL="91440" marR="73152" marT="18288" marB="18288">
                    <a:solidFill>
                      <a:srgbClr val="FFFFFF"/>
                    </a:solidFill>
                  </a:tcPr>
                </a:tc>
                <a:tc>
                  <a:txBody>
                    <a:bodyPr wrap="square"/>
                    <a:lstStyle/>
                    <a:p>
                      <a:pPr algn="l">
                        <a:lnSpc>
                          <a:spcPct val="100000"/>
                        </a:lnSpc>
                      </a:pPr>
                      <a:r>
                        <a:rPr sz="950" b="0">
                          <a:solidFill>
                            <a:srgbClr val="2E9E5B"/>
                          </a:solidFill>
                          <a:latin typeface="Arial"/>
                        </a:rPr>
                        <a:t>×1 (single agent)</a:t>
                      </a:r>
                    </a:p>
                  </a:txBody>
                  <a:tcPr anchor="ctr" marL="91440" marR="73152" marT="18288" marB="18288">
                    <a:solidFill>
                      <a:srgbClr val="FFFFFF"/>
                    </a:solidFill>
                  </a:tcPr>
                </a:tc>
                <a:tc>
                  <a:txBody>
                    <a:bodyPr wrap="square"/>
                    <a:lstStyle/>
                    <a:p>
                      <a:pPr algn="l">
                        <a:lnSpc>
                          <a:spcPct val="100000"/>
                        </a:lnSpc>
                      </a:pPr>
                      <a:r>
                        <a:rPr sz="950" b="0">
                          <a:solidFill>
                            <a:srgbClr val="D98B22"/>
                          </a:solidFill>
                          <a:latin typeface="Arial"/>
                        </a:rPr>
                        <a:t>×3 (each specialist)</a:t>
                      </a:r>
                    </a:p>
                  </a:txBody>
                  <a:tcPr anchor="ctr" marL="91440" marR="73152" marT="18288" marB="18288">
                    <a:solidFill>
                      <a:srgbClr val="FFFFFF"/>
                    </a:solidFill>
                  </a:tcPr>
                </a:tc>
              </a:tr>
              <a:tr h="342900">
                <a:tc>
                  <a:txBody>
                    <a:bodyPr wrap="square"/>
                    <a:lstStyle/>
                    <a:p>
                      <a:pPr algn="l">
                        <a:lnSpc>
                          <a:spcPct val="100000"/>
                        </a:lnSpc>
                      </a:pPr>
                      <a:r>
                        <a:rPr sz="950" b="1">
                          <a:solidFill>
                            <a:srgbClr val="1B2733"/>
                          </a:solidFill>
                          <a:latin typeface="Arial"/>
                        </a:rPr>
                        <a:t>Ecosystem familiarity</a:t>
                      </a:r>
                    </a:p>
                  </a:txBody>
                  <a:tcPr anchor="ctr" marL="91440" marR="73152" marT="18288" marB="18288">
                    <a:solidFill>
                      <a:srgbClr val="F6F8FA"/>
                    </a:solidFill>
                  </a:tcPr>
                </a:tc>
                <a:tc>
                  <a:txBody>
                    <a:bodyPr wrap="square"/>
                    <a:lstStyle/>
                    <a:p>
                      <a:pPr algn="l">
                        <a:lnSpc>
                          <a:spcPct val="100000"/>
                        </a:lnSpc>
                      </a:pPr>
                      <a:r>
                        <a:rPr sz="950" b="0">
                          <a:solidFill>
                            <a:srgbClr val="D98B22"/>
                          </a:solidFill>
                          <a:latin typeface="Arial"/>
                        </a:rPr>
                        <a:t>Ballerina — niche</a:t>
                      </a:r>
                    </a:p>
                  </a:txBody>
                  <a:tcPr anchor="ctr" marL="91440" marR="73152" marT="18288" marB="18288">
                    <a:solidFill>
                      <a:srgbClr val="F6F8FA"/>
                    </a:solidFill>
                  </a:tcPr>
                </a:tc>
                <a:tc>
                  <a:txBody>
                    <a:bodyPr wrap="square"/>
                    <a:lstStyle/>
                    <a:p>
                      <a:pPr algn="l">
                        <a:lnSpc>
                          <a:spcPct val="100000"/>
                        </a:lnSpc>
                      </a:pPr>
                      <a:r>
                        <a:rPr sz="950" b="0">
                          <a:solidFill>
                            <a:srgbClr val="2E9E5B"/>
                          </a:solidFill>
                          <a:latin typeface="Arial"/>
                        </a:rPr>
                        <a:t>Python/LangChain — broad</a:t>
                      </a:r>
                    </a:p>
                  </a:txBody>
                  <a:tcPr anchor="ctr" marL="91440" marR="73152" marT="18288" marB="18288">
                    <a:solidFill>
                      <a:srgbClr val="F6F8FA"/>
                    </a:solidFill>
                  </a:tcPr>
                </a:tc>
              </a:tr>
              <a:tr h="342900">
                <a:tc>
                  <a:txBody>
                    <a:bodyPr wrap="square"/>
                    <a:lstStyle/>
                    <a:p>
                      <a:pPr algn="l">
                        <a:lnSpc>
                          <a:spcPct val="100000"/>
                        </a:lnSpc>
                      </a:pPr>
                      <a:r>
                        <a:rPr sz="950" b="1">
                          <a:solidFill>
                            <a:srgbClr val="1B2733"/>
                          </a:solidFill>
                          <a:latin typeface="Arial"/>
                        </a:rPr>
                        <a:t>Tool-sprawl at 50+ tools</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Needs vector router upgrade</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Handled by decomposition</a:t>
                      </a:r>
                    </a:p>
                  </a:txBody>
                  <a:tcPr anchor="ctr" marL="91440" marR="73152" marT="18288" marB="18288">
                    <a:solidFill>
                      <a:srgbClr val="FFFFFF"/>
                    </a:solidFill>
                  </a:tcPr>
                </a:tc>
              </a:tr>
              <a:tr h="342900">
                <a:tc>
                  <a:txBody>
                    <a:bodyPr wrap="square"/>
                    <a:lstStyle/>
                    <a:p>
                      <a:pPr algn="l">
                        <a:lnSpc>
                          <a:spcPct val="100000"/>
                        </a:lnSpc>
                      </a:pPr>
                      <a:r>
                        <a:rPr sz="950" b="1">
                          <a:solidFill>
                            <a:srgbClr val="1B2733"/>
                          </a:solidFill>
                          <a:latin typeface="Arial"/>
                        </a:rPr>
                        <a:t>WSO2 AMP fit</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Native agent runtime</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Optional LLM gateway only</a:t>
                      </a:r>
                    </a:p>
                  </a:txBody>
                  <a:tcPr anchor="ctr" marL="91440" marR="73152" marT="18288" marB="18288">
                    <a:solidFill>
                      <a:srgbClr val="F6F8FA"/>
                    </a:solidFill>
                  </a:tcPr>
                </a:tc>
              </a:tr>
              <a:tr h="342900">
                <a:tc>
                  <a:txBody>
                    <a:bodyPr wrap="square"/>
                    <a:lstStyle/>
                    <a:p>
                      <a:pPr algn="l">
                        <a:lnSpc>
                          <a:spcPct val="100000"/>
                        </a:lnSpc>
                      </a:pPr>
                      <a:r>
                        <a:rPr sz="950" b="1">
                          <a:solidFill>
                            <a:srgbClr val="1B2733"/>
                          </a:solidFill>
                          <a:latin typeface="Arial"/>
                        </a:rPr>
                        <a:t>Ops surface</a:t>
                      </a:r>
                    </a:p>
                  </a:txBody>
                  <a:tcPr anchor="ctr" marL="91440" marR="73152" marT="18288" marB="18288">
                    <a:solidFill>
                      <a:srgbClr val="FFFFFF"/>
                    </a:solidFill>
                  </a:tcPr>
                </a:tc>
                <a:tc>
                  <a:txBody>
                    <a:bodyPr wrap="square"/>
                    <a:lstStyle/>
                    <a:p>
                      <a:pPr algn="l">
                        <a:lnSpc>
                          <a:spcPct val="100000"/>
                        </a:lnSpc>
                      </a:pPr>
                      <a:r>
                        <a:rPr sz="950" b="0">
                          <a:solidFill>
                            <a:srgbClr val="2E9E5B"/>
                          </a:solidFill>
                          <a:latin typeface="Arial"/>
                        </a:rPr>
                        <a:t>Single reasoning process</a:t>
                      </a:r>
                    </a:p>
                  </a:txBody>
                  <a:tcPr anchor="ctr" marL="91440" marR="73152" marT="18288" marB="18288">
                    <a:solidFill>
                      <a:srgbClr val="FFFFFF"/>
                    </a:solidFill>
                  </a:tcPr>
                </a:tc>
                <a:tc>
                  <a:txBody>
                    <a:bodyPr wrap="square"/>
                    <a:lstStyle/>
                    <a:p>
                      <a:pPr algn="l">
                        <a:lnSpc>
                          <a:spcPct val="100000"/>
                        </a:lnSpc>
                      </a:pPr>
                      <a:r>
                        <a:rPr sz="950" b="0">
                          <a:solidFill>
                            <a:srgbClr val="D98B22"/>
                          </a:solidFill>
                          <a:latin typeface="Arial"/>
                        </a:rPr>
                        <a:t>Distributed; timeout chain</a:t>
                      </a:r>
                    </a:p>
                  </a:txBody>
                  <a:tcPr anchor="ctr" marL="91440" marR="73152" marT="18288" marB="18288">
                    <a:solidFill>
                      <a:srgbClr val="FFFFFF"/>
                    </a:solidFill>
                  </a:tcPr>
                </a:tc>
              </a:tr>
            </a:tbl>
          </a:graphicData>
        </a:graphic>
      </p:graphicFrame>
      <p:sp>
        <p:nvSpPr>
          <p:cNvPr id="8" name="TextBox 7"/>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9" name="TextBox 8"/>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41  /  48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COMPARISON · MEASURED A/B — 18 RUNS</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Recommendation — measured, not guessed</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37360"/>
          <a:ext cx="11057838" cy="2029968"/>
        </p:xfrm>
        <a:graphic>
          <a:graphicData uri="http://schemas.openxmlformats.org/drawingml/2006/table">
            <a:tbl>
              <a:tblPr firstRow="0" bandRow="0">
                <a:tableStyleId>{2D5ABB26-0587-4C30-8999-92F81FD0307C}</a:tableStyleId>
              </a:tblPr>
              <a:tblGrid>
                <a:gridCol w="3980822"/>
                <a:gridCol w="3538508"/>
                <a:gridCol w="3538508"/>
              </a:tblGrid>
              <a:tr h="384048">
                <a:tc>
                  <a:txBody>
                    <a:bodyPr wrap="square"/>
                    <a:lstStyle/>
                    <a:p>
                      <a:pPr algn="l">
                        <a:lnSpc>
                          <a:spcPct val="100000"/>
                        </a:lnSpc>
                      </a:pPr>
                      <a:r>
                        <a:rPr sz="1050" b="1">
                          <a:solidFill>
                            <a:srgbClr val="FFFFFF"/>
                          </a:solidFill>
                          <a:latin typeface="Arial"/>
                        </a:rPr>
                        <a:t>Metric  —  qwen2.5:14b local · 18 runs (3 datasets × 6)</a:t>
                      </a:r>
                    </a:p>
                  </a:txBody>
                  <a:tcPr anchor="ctr" marL="91440" marR="73152" marT="18288" marB="18288">
                    <a:solidFill>
                      <a:srgbClr val="1B2733"/>
                    </a:solidFill>
                  </a:tcPr>
                </a:tc>
                <a:tc>
                  <a:txBody>
                    <a:bodyPr wrap="square"/>
                    <a:lstStyle/>
                    <a:p>
                      <a:pPr algn="l">
                        <a:lnSpc>
                          <a:spcPct val="100000"/>
                        </a:lnSpc>
                      </a:pPr>
                      <a:r>
                        <a:rPr sz="1050" b="1">
                          <a:solidFill>
                            <a:srgbClr val="FFFFFF"/>
                          </a:solidFill>
                          <a:latin typeface="Arial"/>
                        </a:rPr>
                        <a:t>LangChain + A2A</a:t>
                      </a:r>
                    </a:p>
                  </a:txBody>
                  <a:tcPr anchor="ctr" marL="91440" marR="73152" marT="18288" marB="18288">
                    <a:solidFill>
                      <a:srgbClr val="1B2733"/>
                    </a:solidFill>
                  </a:tcPr>
                </a:tc>
                <a:tc>
                  <a:txBody>
                    <a:bodyPr wrap="square"/>
                    <a:lstStyle/>
                    <a:p>
                      <a:pPr algn="l">
                        <a:lnSpc>
                          <a:spcPct val="100000"/>
                        </a:lnSpc>
                      </a:pPr>
                      <a:r>
                        <a:rPr sz="1050" b="1">
                          <a:solidFill>
                            <a:srgbClr val="FFFFFF"/>
                          </a:solidFill>
                          <a:latin typeface="Arial"/>
                        </a:rPr>
                        <a:t>Ballerina + MCP Proxy</a:t>
                      </a:r>
                    </a:p>
                  </a:txBody>
                  <a:tcPr anchor="ctr" marL="91440" marR="73152" marT="18288" marB="18288">
                    <a:solidFill>
                      <a:srgbClr val="1B2733"/>
                    </a:solidFill>
                  </a:tcPr>
                </a:tc>
              </a:tr>
              <a:tr h="329184">
                <a:tc>
                  <a:txBody>
                    <a:bodyPr wrap="square"/>
                    <a:lstStyle/>
                    <a:p>
                      <a:pPr algn="l">
                        <a:lnSpc>
                          <a:spcPct val="100000"/>
                        </a:lnSpc>
                      </a:pPr>
                      <a:r>
                        <a:rPr sz="1050" b="1">
                          <a:solidFill>
                            <a:srgbClr val="1B2733"/>
                          </a:solidFill>
                          <a:latin typeface="Arial"/>
                        </a:rPr>
                        <a:t>Correct-proposal rate</a:t>
                      </a:r>
                    </a:p>
                  </a:txBody>
                  <a:tcPr anchor="ctr" marL="91440" marR="73152" marT="18288" marB="18288">
                    <a:solidFill>
                      <a:srgbClr val="F6F8FA"/>
                    </a:solidFill>
                  </a:tcPr>
                </a:tc>
                <a:tc>
                  <a:txBody>
                    <a:bodyPr wrap="square"/>
                    <a:lstStyle/>
                    <a:p>
                      <a:pPr algn="l">
                        <a:lnSpc>
                          <a:spcPct val="100000"/>
                        </a:lnSpc>
                      </a:pPr>
                      <a:r>
                        <a:rPr sz="1050" b="1">
                          <a:solidFill>
                            <a:srgbClr val="2E9E5B"/>
                          </a:solidFill>
                          <a:latin typeface="Arial"/>
                        </a:rPr>
                        <a:t>11 / 18  (61%)</a:t>
                      </a:r>
                    </a:p>
                  </a:txBody>
                  <a:tcPr anchor="ctr" marL="91440" marR="73152" marT="18288" marB="18288">
                    <a:solidFill>
                      <a:srgbClr val="F6F8FA"/>
                    </a:solidFill>
                  </a:tcPr>
                </a:tc>
                <a:tc>
                  <a:txBody>
                    <a:bodyPr wrap="square"/>
                    <a:lstStyle/>
                    <a:p>
                      <a:pPr algn="l">
                        <a:lnSpc>
                          <a:spcPct val="100000"/>
                        </a:lnSpc>
                      </a:pPr>
                      <a:r>
                        <a:rPr sz="1050" b="0">
                          <a:solidFill>
                            <a:srgbClr val="D98B22"/>
                          </a:solidFill>
                          <a:latin typeface="Arial"/>
                        </a:rPr>
                        <a:t>5 / 18  (28%)</a:t>
                      </a:r>
                    </a:p>
                  </a:txBody>
                  <a:tcPr anchor="ctr" marL="91440" marR="73152" marT="18288" marB="18288">
                    <a:solidFill>
                      <a:srgbClr val="F6F8FA"/>
                    </a:solidFill>
                  </a:tcPr>
                </a:tc>
              </a:tr>
              <a:tr h="329184">
                <a:tc>
                  <a:txBody>
                    <a:bodyPr wrap="square"/>
                    <a:lstStyle/>
                    <a:p>
                      <a:pPr algn="l">
                        <a:lnSpc>
                          <a:spcPct val="100000"/>
                        </a:lnSpc>
                      </a:pPr>
                      <a:r>
                        <a:rPr sz="1050" b="1">
                          <a:solidFill>
                            <a:srgbClr val="1B2733"/>
                          </a:solidFill>
                          <a:latin typeface="Arial"/>
                        </a:rPr>
                        <a:t>Reliability by dataset</a:t>
                      </a:r>
                    </a:p>
                  </a:txBody>
                  <a:tcPr anchor="ctr" marL="91440" marR="73152" marT="18288" marB="18288">
                    <a:solidFill>
                      <a:srgbClr val="FFFFFF"/>
                    </a:solidFill>
                  </a:tcPr>
                </a:tc>
                <a:tc>
                  <a:txBody>
                    <a:bodyPr wrap="square"/>
                    <a:lstStyle/>
                    <a:p>
                      <a:pPr algn="l">
                        <a:lnSpc>
                          <a:spcPct val="100000"/>
                        </a:lnSpc>
                      </a:pPr>
                      <a:r>
                        <a:rPr sz="1050" b="1">
                          <a:solidFill>
                            <a:srgbClr val="2E9E5B"/>
                          </a:solidFill>
                          <a:latin typeface="Arial"/>
                        </a:rPr>
                        <a:t>4/6 · 3/6 · 4/6</a:t>
                      </a:r>
                    </a:p>
                  </a:txBody>
                  <a:tcPr anchor="ctr" marL="91440" marR="73152" marT="18288" marB="18288">
                    <a:solidFill>
                      <a:srgbClr val="FFFFFF"/>
                    </a:solidFill>
                  </a:tcPr>
                </a:tc>
                <a:tc>
                  <a:txBody>
                    <a:bodyPr wrap="square"/>
                    <a:lstStyle/>
                    <a:p>
                      <a:pPr algn="l">
                        <a:lnSpc>
                          <a:spcPct val="100000"/>
                        </a:lnSpc>
                      </a:pPr>
                      <a:r>
                        <a:rPr sz="1050" b="0">
                          <a:solidFill>
                            <a:srgbClr val="D98B22"/>
                          </a:solidFill>
                          <a:latin typeface="Arial"/>
                        </a:rPr>
                        <a:t>3/6 · 2/6 · 0/6</a:t>
                      </a:r>
                    </a:p>
                  </a:txBody>
                  <a:tcPr anchor="ctr" marL="91440" marR="73152" marT="18288" marB="18288">
                    <a:solidFill>
                      <a:srgbClr val="FFFFFF"/>
                    </a:solidFill>
                  </a:tcPr>
                </a:tc>
              </a:tr>
              <a:tr h="329184">
                <a:tc>
                  <a:txBody>
                    <a:bodyPr wrap="square"/>
                    <a:lstStyle/>
                    <a:p>
                      <a:pPr algn="l">
                        <a:lnSpc>
                          <a:spcPct val="100000"/>
                        </a:lnSpc>
                      </a:pPr>
                      <a:r>
                        <a:rPr sz="1050" b="1">
                          <a:solidFill>
                            <a:srgbClr val="1B2733"/>
                          </a:solidFill>
                          <a:latin typeface="Arial"/>
                        </a:rPr>
                        <a:t>Median time-to-proposal *</a:t>
                      </a:r>
                    </a:p>
                  </a:txBody>
                  <a:tcPr anchor="ctr" marL="91440" marR="73152" marT="18288" marB="18288">
                    <a:solidFill>
                      <a:srgbClr val="F6F8FA"/>
                    </a:solidFill>
                  </a:tcPr>
                </a:tc>
                <a:tc>
                  <a:txBody>
                    <a:bodyPr wrap="square"/>
                    <a:lstStyle/>
                    <a:p>
                      <a:pPr algn="l">
                        <a:lnSpc>
                          <a:spcPct val="100000"/>
                        </a:lnSpc>
                      </a:pPr>
                      <a:r>
                        <a:rPr sz="1050" b="1">
                          <a:solidFill>
                            <a:srgbClr val="2E9E5B"/>
                          </a:solidFill>
                          <a:latin typeface="Arial"/>
                        </a:rPr>
                        <a:t>~62 s</a:t>
                      </a:r>
                    </a:p>
                  </a:txBody>
                  <a:tcPr anchor="ctr" marL="91440" marR="73152" marT="18288" marB="18288">
                    <a:solidFill>
                      <a:srgbClr val="F6F8FA"/>
                    </a:solidFill>
                  </a:tcPr>
                </a:tc>
                <a:tc>
                  <a:txBody>
                    <a:bodyPr wrap="square"/>
                    <a:lstStyle/>
                    <a:p>
                      <a:pPr algn="l">
                        <a:lnSpc>
                          <a:spcPct val="100000"/>
                        </a:lnSpc>
                      </a:pPr>
                      <a:r>
                        <a:rPr sz="1050" b="0">
                          <a:solidFill>
                            <a:srgbClr val="D98B22"/>
                          </a:solidFill>
                          <a:latin typeface="Arial"/>
                        </a:rPr>
                        <a:t>~78 s</a:t>
                      </a:r>
                    </a:p>
                  </a:txBody>
                  <a:tcPr anchor="ctr" marL="91440" marR="73152" marT="18288" marB="18288">
                    <a:solidFill>
                      <a:srgbClr val="F6F8FA"/>
                    </a:solidFill>
                  </a:tcPr>
                </a:tc>
              </a:tr>
              <a:tr h="329184">
                <a:tc>
                  <a:txBody>
                    <a:bodyPr wrap="square"/>
                    <a:lstStyle/>
                    <a:p>
                      <a:pPr algn="l">
                        <a:lnSpc>
                          <a:spcPct val="100000"/>
                        </a:lnSpc>
                      </a:pPr>
                      <a:r>
                        <a:rPr sz="1050" b="1">
                          <a:solidFill>
                            <a:srgbClr val="1B2733"/>
                          </a:solidFill>
                          <a:latin typeface="Arial"/>
                        </a:rPr>
                        <a:t>LLM calls / investigation *</a:t>
                      </a:r>
                    </a:p>
                  </a:txBody>
                  <a:tcPr anchor="ctr" marL="91440" marR="73152" marT="18288" marB="18288">
                    <a:solidFill>
                      <a:srgbClr val="FFFFFF"/>
                    </a:solidFill>
                  </a:tcPr>
                </a:tc>
                <a:tc>
                  <a:txBody>
                    <a:bodyPr wrap="square"/>
                    <a:lstStyle/>
                    <a:p>
                      <a:pPr algn="l">
                        <a:lnSpc>
                          <a:spcPct val="100000"/>
                        </a:lnSpc>
                      </a:pPr>
                      <a:r>
                        <a:rPr sz="1050" b="0">
                          <a:solidFill>
                            <a:srgbClr val="1B2733"/>
                          </a:solidFill>
                          <a:latin typeface="Arial"/>
                        </a:rPr>
                        <a:t>~19</a:t>
                      </a:r>
                    </a:p>
                  </a:txBody>
                  <a:tcPr anchor="ctr" marL="91440" marR="73152" marT="18288" marB="18288">
                    <a:solidFill>
                      <a:srgbClr val="FFFFFF"/>
                    </a:solidFill>
                  </a:tcPr>
                </a:tc>
                <a:tc>
                  <a:txBody>
                    <a:bodyPr wrap="square"/>
                    <a:lstStyle/>
                    <a:p>
                      <a:pPr algn="l">
                        <a:lnSpc>
                          <a:spcPct val="100000"/>
                        </a:lnSpc>
                      </a:pPr>
                      <a:r>
                        <a:rPr sz="1050" b="1">
                          <a:solidFill>
                            <a:srgbClr val="2E9E5B"/>
                          </a:solidFill>
                          <a:latin typeface="Arial"/>
                        </a:rPr>
                        <a:t>~9</a:t>
                      </a:r>
                    </a:p>
                  </a:txBody>
                  <a:tcPr anchor="ctr" marL="91440" marR="73152" marT="18288" marB="18288">
                    <a:solidFill>
                      <a:srgbClr val="FFFFFF"/>
                    </a:solidFill>
                  </a:tcPr>
                </a:tc>
              </a:tr>
              <a:tr h="329184">
                <a:tc>
                  <a:txBody>
                    <a:bodyPr wrap="square"/>
                    <a:lstStyle/>
                    <a:p>
                      <a:pPr algn="l">
                        <a:lnSpc>
                          <a:spcPct val="100000"/>
                        </a:lnSpc>
                      </a:pPr>
                      <a:r>
                        <a:rPr sz="1050" b="1">
                          <a:solidFill>
                            <a:srgbClr val="1B2733"/>
                          </a:solidFill>
                          <a:latin typeface="Arial"/>
                        </a:rPr>
                        <a:t>Cost per LLM call *</a:t>
                      </a:r>
                    </a:p>
                  </a:txBody>
                  <a:tcPr anchor="ctr" marL="91440" marR="73152" marT="18288" marB="18288">
                    <a:solidFill>
                      <a:srgbClr val="F6F8FA"/>
                    </a:solidFill>
                  </a:tcPr>
                </a:tc>
                <a:tc>
                  <a:txBody>
                    <a:bodyPr wrap="square"/>
                    <a:lstStyle/>
                    <a:p>
                      <a:pPr algn="l">
                        <a:lnSpc>
                          <a:spcPct val="100000"/>
                        </a:lnSpc>
                      </a:pPr>
                      <a:r>
                        <a:rPr sz="1050" b="1">
                          <a:solidFill>
                            <a:srgbClr val="2E9E5B"/>
                          </a:solidFill>
                          <a:latin typeface="Arial"/>
                        </a:rPr>
                        <a:t>~3 s  (small contexts)</a:t>
                      </a:r>
                    </a:p>
                  </a:txBody>
                  <a:tcPr anchor="ctr" marL="91440" marR="73152" marT="18288" marB="18288">
                    <a:solidFill>
                      <a:srgbClr val="F6F8FA"/>
                    </a:solidFill>
                  </a:tcPr>
                </a:tc>
                <a:tc>
                  <a:txBody>
                    <a:bodyPr wrap="square"/>
                    <a:lstStyle/>
                    <a:p>
                      <a:pPr algn="l">
                        <a:lnSpc>
                          <a:spcPct val="100000"/>
                        </a:lnSpc>
                      </a:pPr>
                      <a:r>
                        <a:rPr sz="1050" b="0">
                          <a:solidFill>
                            <a:srgbClr val="1B2733"/>
                          </a:solidFill>
                          <a:latin typeface="Arial"/>
                        </a:rPr>
                        <a:t>~9 s  (one big context)</a:t>
                      </a:r>
                    </a:p>
                  </a:txBody>
                  <a:tcPr anchor="ctr" marL="91440" marR="73152" marT="18288" marB="18288">
                    <a:solidFill>
                      <a:srgbClr val="F6F8FA"/>
                    </a:solidFill>
                  </a:tcPr>
                </a:tc>
              </a:tr>
            </a:tbl>
          </a:graphicData>
        </a:graphic>
      </p:graphicFrame>
      <p:sp>
        <p:nvSpPr>
          <p:cNvPr id="8" name="TextBox 7"/>
          <p:cNvSpPr txBox="1"/>
          <p:nvPr/>
        </p:nvSpPr>
        <p:spPr>
          <a:xfrm>
            <a:off x="566928" y="3840479"/>
            <a:ext cx="11057839" cy="237744"/>
          </a:xfrm>
          <a:prstGeom prst="rect">
            <a:avLst/>
          </a:prstGeom>
          <a:noFill/>
        </p:spPr>
        <p:txBody>
          <a:bodyPr wrap="square" anchor="t" lIns="0" rIns="0" tIns="0" bIns="0">
            <a:noAutofit/>
          </a:bodyPr>
          <a:lstStyle/>
          <a:p>
            <a:pPr algn="l">
              <a:lnSpc>
                <a:spcPct val="100000"/>
              </a:lnSpc>
              <a:spcBef>
                <a:spcPts val="0"/>
              </a:spcBef>
              <a:spcAft>
                <a:spcPts val="600"/>
              </a:spcAft>
            </a:pPr>
            <a:r>
              <a:rPr sz="850" b="0">
                <a:solidFill>
                  <a:srgbClr val="6B7885"/>
                </a:solidFill>
                <a:latin typeface="Arial"/>
              </a:rPr>
              <a:t>* valid runs only — failed runs bailed out faster but produced no proposal, so timing them would flatter the loser.</a:t>
            </a:r>
          </a:p>
        </p:txBody>
      </p:sp>
      <p:sp>
        <p:nvSpPr>
          <p:cNvPr id="9" name="Rounded Rectangle 8"/>
          <p:cNvSpPr/>
          <p:nvPr/>
        </p:nvSpPr>
        <p:spPr>
          <a:xfrm>
            <a:off x="566928" y="4133087"/>
            <a:ext cx="11057839" cy="1810512"/>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4315967"/>
            <a:ext cx="82296" cy="237744"/>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4279392"/>
            <a:ext cx="10454335"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What the data says — both my architecture-first predictions were wrong</a:t>
            </a:r>
          </a:p>
        </p:txBody>
      </p:sp>
      <p:sp>
        <p:nvSpPr>
          <p:cNvPr id="12" name="TextBox 11"/>
          <p:cNvSpPr txBox="1"/>
          <p:nvPr/>
        </p:nvSpPr>
        <p:spPr>
          <a:xfrm>
            <a:off x="841247" y="4700016"/>
            <a:ext cx="10509199" cy="1188720"/>
          </a:xfrm>
          <a:prstGeom prst="rect">
            <a:avLst/>
          </a:prstGeom>
          <a:noFill/>
        </p:spPr>
        <p:txBody>
          <a:bodyPr wrap="square" anchor="t" lIns="0" rIns="0" tIns="0" bIns="0">
            <a:noAutofit/>
          </a:bodyPr>
          <a:lstStyle/>
          <a:p>
            <a:pPr algn="l" marL="256032" indent="-256032">
              <a:lnSpc>
                <a:spcPct val="104000"/>
              </a:lnSpc>
              <a:spcBef>
                <a:spcPts val="0"/>
              </a:spcBef>
              <a:spcAft>
                <a:spcPts val="400"/>
              </a:spcAft>
              <a:buClr>
                <a:srgbClr val="FF7300"/>
              </a:buClr>
              <a:buFont typeface="Arial"/>
              <a:buChar char="▪"/>
            </a:pPr>
            <a:r>
              <a:rPr sz="950" b="1">
                <a:solidFill>
                  <a:srgbClr val="1B2733"/>
                </a:solidFill>
                <a:latin typeface="Arial"/>
              </a:rPr>
              <a:t>Faster = LangChain  </a:t>
            </a:r>
            <a:r>
              <a:rPr sz="950" b="0">
                <a:solidFill>
                  <a:srgbClr val="1B2733"/>
                </a:solidFill>
                <a:latin typeface="Arial"/>
              </a:rPr>
              <a:t>(62 vs 78 s median). I'd predicted Ballerina (fewer calls) — but its ~9 calls are each ~3× heavier (one big, growing context), losing to LangChain's more-but-cheaper calls on small decomposed contexts.</a:t>
            </a:r>
          </a:p>
          <a:p>
            <a:pPr algn="l" marL="256032" indent="-256032">
              <a:lnSpc>
                <a:spcPct val="104000"/>
              </a:lnSpc>
              <a:spcBef>
                <a:spcPts val="0"/>
              </a:spcBef>
              <a:spcAft>
                <a:spcPts val="400"/>
              </a:spcAft>
              <a:buClr>
                <a:srgbClr val="FF7300"/>
              </a:buClr>
              <a:buFont typeface="Arial"/>
              <a:buChar char="▪"/>
            </a:pPr>
            <a:r>
              <a:rPr sz="950" b="1">
                <a:solidFill>
                  <a:srgbClr val="1B2733"/>
                </a:solidFill>
                <a:latin typeface="Arial"/>
              </a:rPr>
              <a:t>More reliable = LangChain, ~2×  </a:t>
            </a:r>
            <a:r>
              <a:rPr sz="950" b="0">
                <a:solidFill>
                  <a:srgbClr val="1B2733"/>
                </a:solidFill>
                <a:latin typeface="Arial"/>
              </a:rPr>
              <a:t>(61% vs 28%; Ballerina went 0/6 in one dataset). Opposite my guess too: decomposing into short sub-tasks keeps the 14B on-track better than one long single-agent protocol + discover_tools overhead.</a:t>
            </a:r>
          </a:p>
          <a:p>
            <a:pPr algn="l" marL="256032" indent="-256032">
              <a:lnSpc>
                <a:spcPct val="104000"/>
              </a:lnSpc>
              <a:spcBef>
                <a:spcPts val="0"/>
              </a:spcBef>
              <a:spcAft>
                <a:spcPts val="400"/>
              </a:spcAft>
              <a:buClr>
                <a:srgbClr val="FF7300"/>
              </a:buClr>
              <a:buFont typeface="Arial"/>
              <a:buChar char="▪"/>
            </a:pPr>
            <a:r>
              <a:rPr sz="950" b="1">
                <a:solidFill>
                  <a:srgbClr val="1B2733"/>
                </a:solidFill>
                <a:latin typeface="Arial"/>
              </a:rPr>
              <a:t>Caveat + what still stands  </a:t>
            </a:r>
            <a:r>
              <a:rPr sz="950" b="0">
                <a:solidFill>
                  <a:srgbClr val="1B2733"/>
                </a:solidFill>
                <a:latin typeface="Arial"/>
              </a:rPr>
              <a:t>Both are sub-production on a local model → use a cloud model for demo/prod. Qualitative edges unchanged: Ballerina = fewer parts + WSO2-native; LangChain = code-level gate + Python familiarity.</a:t>
            </a:r>
          </a:p>
        </p:txBody>
      </p:sp>
      <p:sp>
        <p:nvSpPr>
          <p:cNvPr id="13" name="TextBox 12"/>
          <p:cNvSpPr txBox="1"/>
          <p:nvPr/>
        </p:nvSpPr>
        <p:spPr>
          <a:xfrm>
            <a:off x="566928" y="6035040"/>
            <a:ext cx="11057839" cy="365760"/>
          </a:xfrm>
          <a:prstGeom prst="rect">
            <a:avLst/>
          </a:prstGeom>
          <a:noFill/>
        </p:spPr>
        <p:txBody>
          <a:bodyPr wrap="square" anchor="t" lIns="0" rIns="0" tIns="0" bIns="0">
            <a:noAutofit/>
          </a:bodyPr>
          <a:lstStyle/>
          <a:p>
            <a:pPr algn="l">
              <a:lnSpc>
                <a:spcPct val="112000"/>
              </a:lnSpc>
              <a:spcBef>
                <a:spcPts val="0"/>
              </a:spcBef>
              <a:spcAft>
                <a:spcPts val="600"/>
              </a:spcAft>
            </a:pPr>
            <a:r>
              <a:rPr sz="800" b="0">
                <a:solidFill>
                  <a:srgbClr val="6B7885"/>
                </a:solidFill>
                <a:latin typeface="Arial"/>
              </a:rPr>
              <a:t>Method: identical qwen2.5:14b-instruct on Ollama; 3 datasets × 6 measured runs each (warm-up discarded per dataset); stacks run sequentially, never concurrent; mock MCP backends; same chaos + payload. Latency via curl, LLM calls via the Ollama access log.</a:t>
            </a:r>
          </a:p>
        </p:txBody>
      </p:sp>
      <p:sp>
        <p:nvSpPr>
          <p:cNvPr id="14" name="TextBox 13"/>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15" name="TextBox 14"/>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42  /  48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COMPARISON</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5-minute demo — payment-service P1</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468879"/>
            <a:ext cx="10692079" cy="4572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36719" y="2395727"/>
            <a:ext cx="164592" cy="164592"/>
          </a:xfrm>
          <a:prstGeom prst="ellipse">
            <a:avLst/>
          </a:prstGeom>
          <a:solidFill>
            <a:srgbClr val="CE4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874519"/>
            <a:ext cx="1955535"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300" b="1">
                <a:solidFill>
                  <a:srgbClr val="CE4A45"/>
                </a:solidFill>
                <a:latin typeface="Consolas"/>
              </a:rPr>
              <a:t>0:00</a:t>
            </a:r>
          </a:p>
        </p:txBody>
      </p:sp>
      <p:sp>
        <p:nvSpPr>
          <p:cNvPr id="10" name="Rounded Rectangle 9"/>
          <p:cNvSpPr/>
          <p:nvPr/>
        </p:nvSpPr>
        <p:spPr>
          <a:xfrm>
            <a:off x="886968" y="2788920"/>
            <a:ext cx="1864095" cy="19202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86968" y="2788920"/>
            <a:ext cx="1864095" cy="82296"/>
          </a:xfrm>
          <a:prstGeom prst="rect">
            <a:avLst/>
          </a:prstGeom>
          <a:solidFill>
            <a:srgbClr val="CE4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017520"/>
            <a:ext cx="1589775" cy="1554480"/>
          </a:xfrm>
          <a:prstGeom prst="rect">
            <a:avLst/>
          </a:prstGeom>
          <a:noFill/>
        </p:spPr>
        <p:txBody>
          <a:bodyPr wrap="square" anchor="t" lIns="0" rIns="0" tIns="0" bIns="0">
            <a:noAutofit/>
          </a:bodyPr>
          <a:lstStyle/>
          <a:p>
            <a:pPr algn="l">
              <a:lnSpc>
                <a:spcPct val="100000"/>
              </a:lnSpc>
              <a:spcBef>
                <a:spcPts val="0"/>
              </a:spcBef>
              <a:spcAft>
                <a:spcPts val="500"/>
              </a:spcAft>
            </a:pPr>
            <a:r>
              <a:rPr sz="1250" b="1">
                <a:solidFill>
                  <a:srgbClr val="1B2733"/>
                </a:solidFill>
                <a:latin typeface="Arial"/>
              </a:rPr>
              <a:t>Inject chaos</a:t>
            </a:r>
          </a:p>
          <a:p>
            <a:pPr algn="l">
              <a:lnSpc>
                <a:spcPct val="115000"/>
              </a:lnSpc>
              <a:spcBef>
                <a:spcPts val="0"/>
              </a:spcBef>
              <a:spcAft>
                <a:spcPts val="600"/>
              </a:spcAft>
            </a:pPr>
            <a:r>
              <a:rPr sz="1000" b="0">
                <a:solidFill>
                  <a:srgbClr val="3E4C59"/>
                </a:solidFill>
                <a:latin typeface="Arial"/>
              </a:rPr>
              <a:t>payment-service starts returning 502s + 2s latency.</a:t>
            </a:r>
          </a:p>
        </p:txBody>
      </p:sp>
      <p:sp>
        <p:nvSpPr>
          <p:cNvPr id="13" name="Oval 12"/>
          <p:cNvSpPr/>
          <p:nvPr/>
        </p:nvSpPr>
        <p:spPr>
          <a:xfrm>
            <a:off x="3875135" y="2395727"/>
            <a:ext cx="164592" cy="164592"/>
          </a:xfrm>
          <a:prstGeom prst="ellipse">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9663" y="1874519"/>
            <a:ext cx="1955535"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300" b="1">
                <a:solidFill>
                  <a:srgbClr val="D98B22"/>
                </a:solidFill>
                <a:latin typeface="Consolas"/>
              </a:rPr>
              <a:t>0:45</a:t>
            </a:r>
          </a:p>
        </p:txBody>
      </p:sp>
      <p:sp>
        <p:nvSpPr>
          <p:cNvPr id="15" name="Rounded Rectangle 14"/>
          <p:cNvSpPr/>
          <p:nvPr/>
        </p:nvSpPr>
        <p:spPr>
          <a:xfrm>
            <a:off x="3025383" y="2788920"/>
            <a:ext cx="1864095" cy="19202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25383" y="2788920"/>
            <a:ext cx="1864095" cy="82296"/>
          </a:xfrm>
          <a:prstGeom prst="rect">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2543" y="3017520"/>
            <a:ext cx="1589775" cy="1554480"/>
          </a:xfrm>
          <a:prstGeom prst="rect">
            <a:avLst/>
          </a:prstGeom>
          <a:noFill/>
        </p:spPr>
        <p:txBody>
          <a:bodyPr wrap="square" anchor="t" lIns="0" rIns="0" tIns="0" bIns="0">
            <a:noAutofit/>
          </a:bodyPr>
          <a:lstStyle/>
          <a:p>
            <a:pPr algn="l">
              <a:lnSpc>
                <a:spcPct val="100000"/>
              </a:lnSpc>
              <a:spcBef>
                <a:spcPts val="0"/>
              </a:spcBef>
              <a:spcAft>
                <a:spcPts val="500"/>
              </a:spcAft>
            </a:pPr>
            <a:r>
              <a:rPr sz="1250" b="1">
                <a:solidFill>
                  <a:srgbClr val="1B2733"/>
                </a:solidFill>
                <a:latin typeface="Arial"/>
              </a:rPr>
              <a:t>Signals diverge</a:t>
            </a:r>
          </a:p>
          <a:p>
            <a:pPr algn="l">
              <a:lnSpc>
                <a:spcPct val="115000"/>
              </a:lnSpc>
              <a:spcBef>
                <a:spcPts val="0"/>
              </a:spcBef>
              <a:spcAft>
                <a:spcPts val="600"/>
              </a:spcAft>
            </a:pPr>
            <a:r>
              <a:rPr sz="1000" b="0">
                <a:solidFill>
                  <a:srgbClr val="3E4C59"/>
                </a:solidFill>
                <a:latin typeface="Arial"/>
              </a:rPr>
              <a:t>Datadog monitor fires; Splunk logs fill with errors.</a:t>
            </a:r>
          </a:p>
        </p:txBody>
      </p:sp>
      <p:sp>
        <p:nvSpPr>
          <p:cNvPr id="18" name="Oval 17"/>
          <p:cNvSpPr/>
          <p:nvPr/>
        </p:nvSpPr>
        <p:spPr>
          <a:xfrm>
            <a:off x="6013551" y="2395727"/>
            <a:ext cx="164592" cy="164592"/>
          </a:xfrm>
          <a:prstGeom prst="ellipse">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18079" y="1874519"/>
            <a:ext cx="1955535"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300" b="1">
                <a:solidFill>
                  <a:srgbClr val="0E8FA8"/>
                </a:solidFill>
                <a:latin typeface="Consolas"/>
              </a:rPr>
              <a:t>1:15</a:t>
            </a:r>
          </a:p>
        </p:txBody>
      </p:sp>
      <p:sp>
        <p:nvSpPr>
          <p:cNvPr id="20" name="Rounded Rectangle 19"/>
          <p:cNvSpPr/>
          <p:nvPr/>
        </p:nvSpPr>
        <p:spPr>
          <a:xfrm>
            <a:off x="5163799" y="2788920"/>
            <a:ext cx="1864095" cy="19202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63799" y="2788920"/>
            <a:ext cx="1864095"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0959" y="3017520"/>
            <a:ext cx="1589775" cy="1554480"/>
          </a:xfrm>
          <a:prstGeom prst="rect">
            <a:avLst/>
          </a:prstGeom>
          <a:noFill/>
        </p:spPr>
        <p:txBody>
          <a:bodyPr wrap="square" anchor="t" lIns="0" rIns="0" tIns="0" bIns="0">
            <a:noAutofit/>
          </a:bodyPr>
          <a:lstStyle/>
          <a:p>
            <a:pPr algn="l">
              <a:lnSpc>
                <a:spcPct val="100000"/>
              </a:lnSpc>
              <a:spcBef>
                <a:spcPts val="0"/>
              </a:spcBef>
              <a:spcAft>
                <a:spcPts val="500"/>
              </a:spcAft>
            </a:pPr>
            <a:r>
              <a:rPr sz="1250" b="1">
                <a:solidFill>
                  <a:srgbClr val="1B2733"/>
                </a:solidFill>
                <a:latin typeface="Arial"/>
              </a:rPr>
              <a:t>Investigate</a:t>
            </a:r>
          </a:p>
          <a:p>
            <a:pPr algn="l">
              <a:lnSpc>
                <a:spcPct val="115000"/>
              </a:lnSpc>
              <a:spcBef>
                <a:spcPts val="0"/>
              </a:spcBef>
              <a:spcAft>
                <a:spcPts val="600"/>
              </a:spcAft>
            </a:pPr>
            <a:r>
              <a:rPr sz="1000" b="0">
                <a:solidFill>
                  <a:srgbClr val="3E4C59"/>
                </a:solidFill>
                <a:latin typeface="Arial"/>
              </a:rPr>
              <a:t>Agent runs the cross-platform loop, correlates by trace_id.</a:t>
            </a:r>
          </a:p>
        </p:txBody>
      </p:sp>
      <p:sp>
        <p:nvSpPr>
          <p:cNvPr id="23" name="Oval 22"/>
          <p:cNvSpPr/>
          <p:nvPr/>
        </p:nvSpPr>
        <p:spPr>
          <a:xfrm>
            <a:off x="8151967" y="2395727"/>
            <a:ext cx="164592" cy="164592"/>
          </a:xfrm>
          <a:prstGeom prst="ellipse">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56495" y="1874519"/>
            <a:ext cx="1955535"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300" b="1">
                <a:solidFill>
                  <a:srgbClr val="FF7300"/>
                </a:solidFill>
                <a:latin typeface="Consolas"/>
              </a:rPr>
              <a:t>3:30</a:t>
            </a:r>
          </a:p>
        </p:txBody>
      </p:sp>
      <p:sp>
        <p:nvSpPr>
          <p:cNvPr id="25" name="Rounded Rectangle 24"/>
          <p:cNvSpPr/>
          <p:nvPr/>
        </p:nvSpPr>
        <p:spPr>
          <a:xfrm>
            <a:off x="7302215" y="2788920"/>
            <a:ext cx="1864095" cy="19202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02215" y="2788920"/>
            <a:ext cx="1864095" cy="82296"/>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39375" y="3017520"/>
            <a:ext cx="1589775" cy="1554480"/>
          </a:xfrm>
          <a:prstGeom prst="rect">
            <a:avLst/>
          </a:prstGeom>
          <a:noFill/>
        </p:spPr>
        <p:txBody>
          <a:bodyPr wrap="square" anchor="t" lIns="0" rIns="0" tIns="0" bIns="0">
            <a:noAutofit/>
          </a:bodyPr>
          <a:lstStyle/>
          <a:p>
            <a:pPr algn="l">
              <a:lnSpc>
                <a:spcPct val="100000"/>
              </a:lnSpc>
              <a:spcBef>
                <a:spcPts val="0"/>
              </a:spcBef>
              <a:spcAft>
                <a:spcPts val="500"/>
              </a:spcAft>
            </a:pPr>
            <a:r>
              <a:rPr sz="1250" b="1">
                <a:solidFill>
                  <a:srgbClr val="1B2733"/>
                </a:solidFill>
                <a:latin typeface="Arial"/>
              </a:rPr>
              <a:t>Propose &amp; approve</a:t>
            </a:r>
          </a:p>
          <a:p>
            <a:pPr algn="l">
              <a:lnSpc>
                <a:spcPct val="115000"/>
              </a:lnSpc>
              <a:spcBef>
                <a:spcPts val="0"/>
              </a:spcBef>
              <a:spcAft>
                <a:spcPts val="600"/>
              </a:spcAft>
            </a:pPr>
            <a:r>
              <a:rPr sz="1000" b="0">
                <a:solidFill>
                  <a:srgbClr val="3E4C59"/>
                </a:solidFill>
                <a:latin typeface="Arial"/>
              </a:rPr>
              <a:t>Agent proposes disable-chaos; operator approves.</a:t>
            </a:r>
          </a:p>
        </p:txBody>
      </p:sp>
      <p:sp>
        <p:nvSpPr>
          <p:cNvPr id="28" name="Oval 27"/>
          <p:cNvSpPr/>
          <p:nvPr/>
        </p:nvSpPr>
        <p:spPr>
          <a:xfrm>
            <a:off x="10290383" y="2395727"/>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94911" y="1874519"/>
            <a:ext cx="1955535"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300" b="1">
                <a:solidFill>
                  <a:srgbClr val="2E9E5B"/>
                </a:solidFill>
                <a:latin typeface="Consolas"/>
              </a:rPr>
              <a:t>4:15</a:t>
            </a:r>
          </a:p>
        </p:txBody>
      </p:sp>
      <p:sp>
        <p:nvSpPr>
          <p:cNvPr id="30" name="Rounded Rectangle 29"/>
          <p:cNvSpPr/>
          <p:nvPr/>
        </p:nvSpPr>
        <p:spPr>
          <a:xfrm>
            <a:off x="9440631" y="2788920"/>
            <a:ext cx="1864095" cy="19202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440631" y="2788920"/>
            <a:ext cx="1864095" cy="82296"/>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77791" y="3017520"/>
            <a:ext cx="1589775" cy="1554480"/>
          </a:xfrm>
          <a:prstGeom prst="rect">
            <a:avLst/>
          </a:prstGeom>
          <a:noFill/>
        </p:spPr>
        <p:txBody>
          <a:bodyPr wrap="square" anchor="t" lIns="0" rIns="0" tIns="0" bIns="0">
            <a:noAutofit/>
          </a:bodyPr>
          <a:lstStyle/>
          <a:p>
            <a:pPr algn="l">
              <a:lnSpc>
                <a:spcPct val="100000"/>
              </a:lnSpc>
              <a:spcBef>
                <a:spcPts val="0"/>
              </a:spcBef>
              <a:spcAft>
                <a:spcPts val="500"/>
              </a:spcAft>
            </a:pPr>
            <a:r>
              <a:rPr sz="1250" b="1">
                <a:solidFill>
                  <a:srgbClr val="1B2733"/>
                </a:solidFill>
                <a:latin typeface="Arial"/>
              </a:rPr>
              <a:t>Recover</a:t>
            </a:r>
          </a:p>
          <a:p>
            <a:pPr algn="l">
              <a:lnSpc>
                <a:spcPct val="115000"/>
              </a:lnSpc>
              <a:spcBef>
                <a:spcPts val="0"/>
              </a:spcBef>
              <a:spcAft>
                <a:spcPts val="600"/>
              </a:spcAft>
            </a:pPr>
            <a:r>
              <a:rPr sz="1000" b="0">
                <a:solidFill>
                  <a:srgbClr val="3E4C59"/>
                </a:solidFill>
                <a:latin typeface="Arial"/>
              </a:rPr>
              <a:t>Runbook runs; mesh recovers; agent posts a postmortem.</a:t>
            </a:r>
          </a:p>
        </p:txBody>
      </p:sp>
      <p:sp>
        <p:nvSpPr>
          <p:cNvPr id="33" name="Rounded Rectangle 32"/>
          <p:cNvSpPr/>
          <p:nvPr/>
        </p:nvSpPr>
        <p:spPr>
          <a:xfrm>
            <a:off x="566928" y="5029200"/>
            <a:ext cx="11057839" cy="914400"/>
          </a:xfrm>
          <a:prstGeom prst="roundRect">
            <a:avLst>
              <a:gd name="adj" fmla="val 45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029200"/>
            <a:ext cx="91440" cy="91440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157216"/>
            <a:ext cx="10673791" cy="658368"/>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FF7300"/>
                </a:solidFill>
                <a:latin typeface="Arial"/>
              </a:rPr>
              <a:t>◆  Runs offline, resets clean</a:t>
            </a:r>
          </a:p>
          <a:p>
            <a:pPr algn="l">
              <a:lnSpc>
                <a:spcPct val="112000"/>
              </a:lnSpc>
              <a:spcBef>
                <a:spcPts val="0"/>
              </a:spcBef>
              <a:spcAft>
                <a:spcPts val="0"/>
              </a:spcAft>
            </a:pPr>
            <a:r>
              <a:rPr sz="1050" b="0">
                <a:solidFill>
                  <a:srgbClr val="3E4C59"/>
                </a:solidFill>
                <a:latin typeface="Arial"/>
              </a:rPr>
              <a:t>No vendor credentials. A token-gated chaos endpoint injects the fault; disable-chaos (or reset) returns to a clean baseline for the next run.</a:t>
            </a:r>
          </a:p>
        </p:txBody>
      </p:sp>
      <p:sp>
        <p:nvSpPr>
          <p:cNvPr id="36" name="TextBox 35"/>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37" name="TextBox 36"/>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43  /  48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COMPARISON</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POC → Enterprise: the hardening path</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55648"/>
          <a:ext cx="11057838" cy="3602736"/>
        </p:xfrm>
        <a:graphic>
          <a:graphicData uri="http://schemas.openxmlformats.org/drawingml/2006/table">
            <a:tbl>
              <a:tblPr firstRow="0" bandRow="0">
                <a:tableStyleId>{2D5ABB26-0587-4C30-8999-92F81FD0307C}</a:tableStyleId>
              </a:tblPr>
              <a:tblGrid>
                <a:gridCol w="2653881"/>
                <a:gridCol w="3317351"/>
                <a:gridCol w="5086606"/>
              </a:tblGrid>
              <a:tr h="384048">
                <a:tc>
                  <a:txBody>
                    <a:bodyPr wrap="square"/>
                    <a:lstStyle/>
                    <a:p>
                      <a:pPr algn="l">
                        <a:lnSpc>
                          <a:spcPct val="100000"/>
                        </a:lnSpc>
                      </a:pPr>
                      <a:r>
                        <a:rPr sz="1050" b="1">
                          <a:solidFill>
                            <a:srgbClr val="FFFFFF"/>
                          </a:solidFill>
                          <a:latin typeface="Arial"/>
                        </a:rPr>
                        <a:t>Capability</a:t>
                      </a:r>
                    </a:p>
                  </a:txBody>
                  <a:tcPr anchor="ctr" marL="91440" marR="73152" marT="18288" marB="18288">
                    <a:solidFill>
                      <a:srgbClr val="1B2733"/>
                    </a:solidFill>
                  </a:tcPr>
                </a:tc>
                <a:tc>
                  <a:txBody>
                    <a:bodyPr wrap="square"/>
                    <a:lstStyle/>
                    <a:p>
                      <a:pPr algn="l">
                        <a:lnSpc>
                          <a:spcPct val="100000"/>
                        </a:lnSpc>
                      </a:pPr>
                      <a:r>
                        <a:rPr sz="1050" b="1">
                          <a:solidFill>
                            <a:srgbClr val="FFFFFF"/>
                          </a:solidFill>
                          <a:latin typeface="Arial"/>
                        </a:rPr>
                        <a:t>POC state</a:t>
                      </a:r>
                    </a:p>
                  </a:txBody>
                  <a:tcPr anchor="ctr" marL="91440" marR="73152" marT="18288" marB="18288">
                    <a:solidFill>
                      <a:srgbClr val="1B2733"/>
                    </a:solidFill>
                  </a:tcPr>
                </a:tc>
                <a:tc>
                  <a:txBody>
                    <a:bodyPr wrap="square"/>
                    <a:lstStyle/>
                    <a:p>
                      <a:pPr algn="l">
                        <a:lnSpc>
                          <a:spcPct val="100000"/>
                        </a:lnSpc>
                      </a:pPr>
                      <a:r>
                        <a:rPr sz="1050" b="1">
                          <a:solidFill>
                            <a:srgbClr val="FFFFFF"/>
                          </a:solidFill>
                          <a:latin typeface="Arial"/>
                        </a:rPr>
                        <a:t>Enterprise requirement</a:t>
                      </a:r>
                    </a:p>
                  </a:txBody>
                  <a:tcPr anchor="ctr" marL="91440" marR="73152" marT="18288" marB="18288">
                    <a:solidFill>
                      <a:srgbClr val="1B2733"/>
                    </a:solidFill>
                  </a:tcPr>
                </a:tc>
              </a:tr>
              <a:tr h="402336">
                <a:tc>
                  <a:txBody>
                    <a:bodyPr wrap="square"/>
                    <a:lstStyle/>
                    <a:p>
                      <a:pPr algn="l">
                        <a:lnSpc>
                          <a:spcPct val="100000"/>
                        </a:lnSpc>
                      </a:pPr>
                      <a:r>
                        <a:rPr sz="950" b="1">
                          <a:solidFill>
                            <a:srgbClr val="1B2733"/>
                          </a:solidFill>
                          <a:latin typeface="Arial"/>
                        </a:rPr>
                        <a:t>Identity &amp; access</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Unauthenticated local net</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OIDC/SSO + workload identity + per-tool RBAC at the gateway</a:t>
                      </a:r>
                    </a:p>
                  </a:txBody>
                  <a:tcPr anchor="ctr" marL="91440" marR="73152" marT="18288" marB="18288">
                    <a:solidFill>
                      <a:srgbClr val="F6F8FA"/>
                    </a:solidFill>
                  </a:tcPr>
                </a:tc>
              </a:tr>
              <a:tr h="402336">
                <a:tc>
                  <a:txBody>
                    <a:bodyPr wrap="square"/>
                    <a:lstStyle/>
                    <a:p>
                      <a:pPr algn="l">
                        <a:lnSpc>
                          <a:spcPct val="100000"/>
                        </a:lnSpc>
                      </a:pPr>
                      <a:r>
                        <a:rPr sz="950" b="1">
                          <a:solidFill>
                            <a:srgbClr val="1B2733"/>
                          </a:solidFill>
                          <a:latin typeface="Arial"/>
                        </a:rPr>
                        <a:t>Secrets</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.env variables</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Vault / cloud secrets manager; rotation</a:t>
                      </a:r>
                    </a:p>
                  </a:txBody>
                  <a:tcPr anchor="ctr" marL="91440" marR="73152" marT="18288" marB="18288">
                    <a:solidFill>
                      <a:srgbClr val="FFFFFF"/>
                    </a:solidFill>
                  </a:tcPr>
                </a:tc>
              </a:tr>
              <a:tr h="402336">
                <a:tc>
                  <a:txBody>
                    <a:bodyPr wrap="square"/>
                    <a:lstStyle/>
                    <a:p>
                      <a:pPr algn="l">
                        <a:lnSpc>
                          <a:spcPct val="100000"/>
                        </a:lnSpc>
                      </a:pPr>
                      <a:r>
                        <a:rPr sz="950" b="1">
                          <a:solidFill>
                            <a:srgbClr val="1B2733"/>
                          </a:solidFill>
                          <a:latin typeface="Arial"/>
                        </a:rPr>
                        <a:t>Audit log</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In-memory, session-scoped</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Durable, tamper-evident, tied to identity, SIEM-fed</a:t>
                      </a:r>
                    </a:p>
                  </a:txBody>
                  <a:tcPr anchor="ctr" marL="91440" marR="73152" marT="18288" marB="18288">
                    <a:solidFill>
                      <a:srgbClr val="F6F8FA"/>
                    </a:solidFill>
                  </a:tcPr>
                </a:tc>
              </a:tr>
              <a:tr h="402336">
                <a:tc>
                  <a:txBody>
                    <a:bodyPr wrap="square"/>
                    <a:lstStyle/>
                    <a:p>
                      <a:pPr algn="l">
                        <a:lnSpc>
                          <a:spcPct val="100000"/>
                        </a:lnSpc>
                      </a:pPr>
                      <a:r>
                        <a:rPr sz="950" b="1">
                          <a:solidFill>
                            <a:srgbClr val="1B2733"/>
                          </a:solidFill>
                          <a:latin typeface="Arial"/>
                        </a:rPr>
                        <a:t>Approval gate</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S1 prompt / S2 code-level</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Hard code-level interception in both; recorded signal</a:t>
                      </a:r>
                    </a:p>
                  </a:txBody>
                  <a:tcPr anchor="ctr" marL="91440" marR="73152" marT="18288" marB="18288">
                    <a:solidFill>
                      <a:srgbClr val="FFFFFF"/>
                    </a:solidFill>
                  </a:tcPr>
                </a:tc>
              </a:tr>
              <a:tr h="402336">
                <a:tc>
                  <a:txBody>
                    <a:bodyPr wrap="square"/>
                    <a:lstStyle/>
                    <a:p>
                      <a:pPr algn="l">
                        <a:lnSpc>
                          <a:spcPct val="100000"/>
                        </a:lnSpc>
                      </a:pPr>
                      <a:r>
                        <a:rPr sz="950" b="1">
                          <a:solidFill>
                            <a:srgbClr val="1B2733"/>
                          </a:solidFill>
                          <a:latin typeface="Arial"/>
                        </a:rPr>
                        <a:t>Service catalog</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Static in-code map</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CMDB-backed, team-maintained, versioned</a:t>
                      </a:r>
                    </a:p>
                  </a:txBody>
                  <a:tcPr anchor="ctr" marL="91440" marR="73152" marT="18288" marB="18288">
                    <a:solidFill>
                      <a:srgbClr val="F6F8FA"/>
                    </a:solidFill>
                  </a:tcPr>
                </a:tc>
              </a:tr>
              <a:tr h="402336">
                <a:tc>
                  <a:txBody>
                    <a:bodyPr wrap="square"/>
                    <a:lstStyle/>
                    <a:p>
                      <a:pPr algn="l">
                        <a:lnSpc>
                          <a:spcPct val="100000"/>
                        </a:lnSpc>
                      </a:pPr>
                      <a:r>
                        <a:rPr sz="950" b="1">
                          <a:solidFill>
                            <a:srgbClr val="1B2733"/>
                          </a:solidFill>
                          <a:latin typeface="Arial"/>
                        </a:rPr>
                        <a:t>Observability backends</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Mock MCP servers</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Live Splunk (app 7931) + Datadog (Bits AI) MCPs</a:t>
                      </a:r>
                    </a:p>
                  </a:txBody>
                  <a:tcPr anchor="ctr" marL="91440" marR="73152" marT="18288" marB="18288">
                    <a:solidFill>
                      <a:srgbClr val="FFFFFF"/>
                    </a:solidFill>
                  </a:tcPr>
                </a:tc>
              </a:tr>
              <a:tr h="402336">
                <a:tc>
                  <a:txBody>
                    <a:bodyPr wrap="square"/>
                    <a:lstStyle/>
                    <a:p>
                      <a:pPr algn="l">
                        <a:lnSpc>
                          <a:spcPct val="100000"/>
                        </a:lnSpc>
                      </a:pPr>
                      <a:r>
                        <a:rPr sz="950" b="1">
                          <a:solidFill>
                            <a:srgbClr val="1B2733"/>
                          </a:solidFill>
                          <a:latin typeface="Arial"/>
                        </a:rPr>
                        <a:t>Trace-ID handling</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Verbatim (demo id)</a:t>
                      </a:r>
                    </a:p>
                  </a:txBody>
                  <a:tcPr anchor="ctr" marL="91440" marR="73152" marT="18288" marB="18288">
                    <a:solidFill>
                      <a:srgbClr val="F6F8FA"/>
                    </a:solidFill>
                  </a:tcPr>
                </a:tc>
                <a:tc>
                  <a:txBody>
                    <a:bodyPr wrap="square"/>
                    <a:lstStyle/>
                    <a:p>
                      <a:pPr algn="l">
                        <a:lnSpc>
                          <a:spcPct val="100000"/>
                        </a:lnSpc>
                      </a:pPr>
                      <a:r>
                        <a:rPr sz="950" b="0">
                          <a:solidFill>
                            <a:srgbClr val="1B2733"/>
                          </a:solidFill>
                          <a:latin typeface="Arial"/>
                        </a:rPr>
                        <a:t>True 64/128-bit normalization on real traffic</a:t>
                      </a:r>
                    </a:p>
                  </a:txBody>
                  <a:tcPr anchor="ctr" marL="91440" marR="73152" marT="18288" marB="18288">
                    <a:solidFill>
                      <a:srgbClr val="F6F8FA"/>
                    </a:solidFill>
                  </a:tcPr>
                </a:tc>
              </a:tr>
              <a:tr h="402336">
                <a:tc>
                  <a:txBody>
                    <a:bodyPr wrap="square"/>
                    <a:lstStyle/>
                    <a:p>
                      <a:pPr algn="l">
                        <a:lnSpc>
                          <a:spcPct val="100000"/>
                        </a:lnSpc>
                      </a:pPr>
                      <a:r>
                        <a:rPr sz="950" b="1">
                          <a:solidFill>
                            <a:srgbClr val="1B2733"/>
                          </a:solidFill>
                          <a:latin typeface="Arial"/>
                        </a:rPr>
                        <a:t>Scale</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Single node</a:t>
                      </a:r>
                    </a:p>
                  </a:txBody>
                  <a:tcPr anchor="ctr" marL="91440" marR="73152" marT="18288" marB="18288">
                    <a:solidFill>
                      <a:srgbClr val="FFFFFF"/>
                    </a:solidFill>
                  </a:tcPr>
                </a:tc>
                <a:tc>
                  <a:txBody>
                    <a:bodyPr wrap="square"/>
                    <a:lstStyle/>
                    <a:p>
                      <a:pPr algn="l">
                        <a:lnSpc>
                          <a:spcPct val="100000"/>
                        </a:lnSpc>
                      </a:pPr>
                      <a:r>
                        <a:rPr sz="950" b="0">
                          <a:solidFill>
                            <a:srgbClr val="1B2733"/>
                          </a:solidFill>
                          <a:latin typeface="Arial"/>
                        </a:rPr>
                        <a:t>Agents on K8s; proxy behind LB; managed infra</a:t>
                      </a:r>
                    </a:p>
                  </a:txBody>
                  <a:tcPr anchor="ctr" marL="91440" marR="73152" marT="18288" marB="18288">
                    <a:solidFill>
                      <a:srgbClr val="FFFFFF"/>
                    </a:solidFill>
                  </a:tcPr>
                </a:tc>
              </a:tr>
            </a:tbl>
          </a:graphicData>
        </a:graphic>
      </p:graphicFrame>
      <p:sp>
        <p:nvSpPr>
          <p:cNvPr id="8" name="TextBox 7"/>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9" name="TextBox 8"/>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44  /  48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COMPARISON</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Cross-cutting gotchas to respect</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74519"/>
            <a:ext cx="5391759" cy="1170432"/>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74519"/>
            <a:ext cx="91440" cy="1170432"/>
          </a:xfrm>
          <a:prstGeom prst="rect">
            <a:avLst/>
          </a:prstGeom>
          <a:solidFill>
            <a:srgbClr val="CE4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20824"/>
            <a:ext cx="4934559" cy="896112"/>
          </a:xfrm>
          <a:prstGeom prst="rect">
            <a:avLst/>
          </a:prstGeom>
          <a:noFill/>
        </p:spPr>
        <p:txBody>
          <a:bodyPr wrap="square" anchor="t" lIns="0" rIns="0" tIns="0" bIns="0">
            <a:noAutofit/>
          </a:bodyPr>
          <a:lstStyle/>
          <a:p>
            <a:pPr algn="l">
              <a:lnSpc>
                <a:spcPct val="100000"/>
              </a:lnSpc>
              <a:spcBef>
                <a:spcPts val="0"/>
              </a:spcBef>
              <a:spcAft>
                <a:spcPts val="300"/>
              </a:spcAft>
            </a:pPr>
            <a:r>
              <a:rPr sz="1250" b="1">
                <a:solidFill>
                  <a:srgbClr val="1B2733"/>
                </a:solidFill>
                <a:latin typeface="Arial"/>
              </a:rPr>
              <a:t>Trace-ID width (64 vs 128-bit)</a:t>
            </a:r>
          </a:p>
          <a:p>
            <a:pPr algn="l">
              <a:lnSpc>
                <a:spcPct val="112000"/>
              </a:lnSpc>
              <a:spcBef>
                <a:spcPts val="0"/>
              </a:spcBef>
              <a:spcAft>
                <a:spcPts val="600"/>
              </a:spcAft>
            </a:pPr>
            <a:r>
              <a:rPr sz="1050" b="0">
                <a:solidFill>
                  <a:srgbClr val="3E4C59"/>
                </a:solidFill>
                <a:latin typeface="Arial"/>
              </a:rPr>
              <a:t>The #1 correctness bug. Normalize or the agent sees 'no logs.' Mocks mask it.</a:t>
            </a:r>
          </a:p>
        </p:txBody>
      </p:sp>
      <p:sp>
        <p:nvSpPr>
          <p:cNvPr id="10" name="Rounded Rectangle 9"/>
          <p:cNvSpPr/>
          <p:nvPr/>
        </p:nvSpPr>
        <p:spPr>
          <a:xfrm>
            <a:off x="6233007" y="1874519"/>
            <a:ext cx="5391759" cy="1170432"/>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3007" y="1874519"/>
            <a:ext cx="91440" cy="1170432"/>
          </a:xfrm>
          <a:prstGeom prst="rect">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9039" y="2020824"/>
            <a:ext cx="4934559" cy="896112"/>
          </a:xfrm>
          <a:prstGeom prst="rect">
            <a:avLst/>
          </a:prstGeom>
          <a:noFill/>
        </p:spPr>
        <p:txBody>
          <a:bodyPr wrap="square" anchor="t" lIns="0" rIns="0" tIns="0" bIns="0">
            <a:noAutofit/>
          </a:bodyPr>
          <a:lstStyle/>
          <a:p>
            <a:pPr algn="l">
              <a:lnSpc>
                <a:spcPct val="100000"/>
              </a:lnSpc>
              <a:spcBef>
                <a:spcPts val="0"/>
              </a:spcBef>
              <a:spcAft>
                <a:spcPts val="300"/>
              </a:spcAft>
            </a:pPr>
            <a:r>
              <a:rPr sz="1250" b="1">
                <a:solidFill>
                  <a:srgbClr val="1B2733"/>
                </a:solidFill>
                <a:latin typeface="Arial"/>
              </a:rPr>
              <a:t>NATS async propagation</a:t>
            </a:r>
          </a:p>
          <a:p>
            <a:pPr algn="l">
              <a:lnSpc>
                <a:spcPct val="112000"/>
              </a:lnSpc>
              <a:spcBef>
                <a:spcPts val="0"/>
              </a:spcBef>
              <a:spcAft>
                <a:spcPts val="600"/>
              </a:spcAft>
            </a:pPr>
            <a:r>
              <a:rPr sz="1050" b="0">
                <a:solidFill>
                  <a:srgbClr val="3E4C59"/>
                </a:solidFill>
                <a:latin typeface="Arial"/>
              </a:rPr>
              <a:t>HTTP trace context auto-propagates; NATS does not. Inject traceparent into the envelope.</a:t>
            </a:r>
          </a:p>
        </p:txBody>
      </p:sp>
      <p:sp>
        <p:nvSpPr>
          <p:cNvPr id="13" name="Rounded Rectangle 12"/>
          <p:cNvSpPr/>
          <p:nvPr/>
        </p:nvSpPr>
        <p:spPr>
          <a:xfrm>
            <a:off x="566928" y="3246120"/>
            <a:ext cx="5391759" cy="1170432"/>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246120"/>
            <a:ext cx="91440" cy="1170432"/>
          </a:xfrm>
          <a:prstGeom prst="rect">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392424"/>
            <a:ext cx="4934559" cy="896112"/>
          </a:xfrm>
          <a:prstGeom prst="rect">
            <a:avLst/>
          </a:prstGeom>
          <a:noFill/>
        </p:spPr>
        <p:txBody>
          <a:bodyPr wrap="square" anchor="t" lIns="0" rIns="0" tIns="0" bIns="0">
            <a:noAutofit/>
          </a:bodyPr>
          <a:lstStyle/>
          <a:p>
            <a:pPr algn="l">
              <a:lnSpc>
                <a:spcPct val="100000"/>
              </a:lnSpc>
              <a:spcBef>
                <a:spcPts val="0"/>
              </a:spcBef>
              <a:spcAft>
                <a:spcPts val="300"/>
              </a:spcAft>
            </a:pPr>
            <a:r>
              <a:rPr sz="1250" b="1">
                <a:solidFill>
                  <a:srgbClr val="1B2733"/>
                </a:solidFill>
                <a:latin typeface="Arial"/>
              </a:rPr>
              <a:t>Untraced Postgres</a:t>
            </a:r>
          </a:p>
          <a:p>
            <a:pPr algn="l">
              <a:lnSpc>
                <a:spcPct val="112000"/>
              </a:lnSpc>
              <a:spcBef>
                <a:spcPts val="0"/>
              </a:spcBef>
              <a:spcAft>
                <a:spcPts val="600"/>
              </a:spcAft>
            </a:pPr>
            <a:r>
              <a:rPr sz="1050" b="0">
                <a:solidFill>
                  <a:srgbClr val="3E4C59"/>
                </a:solidFill>
                <a:latin typeface="Arial"/>
              </a:rPr>
              <a:t>Turn on SQL connector tracing or DB latency is invisible to the agent.</a:t>
            </a:r>
          </a:p>
        </p:txBody>
      </p:sp>
      <p:sp>
        <p:nvSpPr>
          <p:cNvPr id="16" name="Rounded Rectangle 15"/>
          <p:cNvSpPr/>
          <p:nvPr/>
        </p:nvSpPr>
        <p:spPr>
          <a:xfrm>
            <a:off x="6233007" y="3246120"/>
            <a:ext cx="5391759" cy="1170432"/>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3246120"/>
            <a:ext cx="91440" cy="1170432"/>
          </a:xfrm>
          <a:prstGeom prst="rect">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9039" y="3392424"/>
            <a:ext cx="4934559" cy="896112"/>
          </a:xfrm>
          <a:prstGeom prst="rect">
            <a:avLst/>
          </a:prstGeom>
          <a:noFill/>
        </p:spPr>
        <p:txBody>
          <a:bodyPr wrap="square" anchor="t" lIns="0" rIns="0" tIns="0" bIns="0">
            <a:noAutofit/>
          </a:bodyPr>
          <a:lstStyle/>
          <a:p>
            <a:pPr algn="l">
              <a:lnSpc>
                <a:spcPct val="100000"/>
              </a:lnSpc>
              <a:spcBef>
                <a:spcPts val="0"/>
              </a:spcBef>
              <a:spcAft>
                <a:spcPts val="300"/>
              </a:spcAft>
            </a:pPr>
            <a:r>
              <a:rPr sz="1250" b="1">
                <a:solidFill>
                  <a:srgbClr val="1B2733"/>
                </a:solidFill>
                <a:latin typeface="Arial"/>
              </a:rPr>
              <a:t>SSE buffering at the gateway</a:t>
            </a:r>
          </a:p>
          <a:p>
            <a:pPr algn="l">
              <a:lnSpc>
                <a:spcPct val="112000"/>
              </a:lnSpc>
              <a:spcBef>
                <a:spcPts val="0"/>
              </a:spcBef>
              <a:spcAft>
                <a:spcPts val="600"/>
              </a:spcAft>
            </a:pPr>
            <a:r>
              <a:rPr sz="1050" b="0">
                <a:solidFill>
                  <a:srgbClr val="3E4C59"/>
                </a:solidFill>
                <a:latin typeface="Arial"/>
              </a:rPr>
              <a:t>A buffering proxy breaks streaming run_runbook progress.</a:t>
            </a:r>
          </a:p>
        </p:txBody>
      </p:sp>
      <p:sp>
        <p:nvSpPr>
          <p:cNvPr id="19" name="Rounded Rectangle 18"/>
          <p:cNvSpPr/>
          <p:nvPr/>
        </p:nvSpPr>
        <p:spPr>
          <a:xfrm>
            <a:off x="566928" y="4617720"/>
            <a:ext cx="5391759" cy="1170432"/>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617720"/>
            <a:ext cx="91440" cy="1170432"/>
          </a:xfrm>
          <a:prstGeom prst="rect">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764024"/>
            <a:ext cx="4934559" cy="896112"/>
          </a:xfrm>
          <a:prstGeom prst="rect">
            <a:avLst/>
          </a:prstGeom>
          <a:noFill/>
        </p:spPr>
        <p:txBody>
          <a:bodyPr wrap="square" anchor="t" lIns="0" rIns="0" tIns="0" bIns="0">
            <a:noAutofit/>
          </a:bodyPr>
          <a:lstStyle/>
          <a:p>
            <a:pPr algn="l">
              <a:lnSpc>
                <a:spcPct val="100000"/>
              </a:lnSpc>
              <a:spcBef>
                <a:spcPts val="0"/>
              </a:spcBef>
              <a:spcAft>
                <a:spcPts val="300"/>
              </a:spcAft>
            </a:pPr>
            <a:r>
              <a:rPr sz="1250" b="1">
                <a:solidFill>
                  <a:srgbClr val="1B2733"/>
                </a:solidFill>
                <a:latin typeface="Arial"/>
              </a:rPr>
              <a:t>Model non-determinism (Ollama)</a:t>
            </a:r>
          </a:p>
          <a:p>
            <a:pPr algn="l">
              <a:lnSpc>
                <a:spcPct val="112000"/>
              </a:lnSpc>
              <a:spcBef>
                <a:spcPts val="0"/>
              </a:spcBef>
              <a:spcAft>
                <a:spcPts val="600"/>
              </a:spcAft>
            </a:pPr>
            <a:r>
              <a:rPr sz="1050" b="0">
                <a:solidFill>
                  <a:srgbClr val="3E4C59"/>
                </a:solidFill>
                <a:latin typeface="Arial"/>
              </a:rPr>
              <a:t>Keep maxTurns ≥ 25; prefer a cloud model for the live demo.</a:t>
            </a:r>
          </a:p>
        </p:txBody>
      </p:sp>
      <p:sp>
        <p:nvSpPr>
          <p:cNvPr id="22" name="Rounded Rectangle 21"/>
          <p:cNvSpPr/>
          <p:nvPr/>
        </p:nvSpPr>
        <p:spPr>
          <a:xfrm>
            <a:off x="6233007" y="4617720"/>
            <a:ext cx="5391759" cy="1170432"/>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3007" y="4617720"/>
            <a:ext cx="91440" cy="1170432"/>
          </a:xfrm>
          <a:prstGeom prst="rect">
            <a:avLst/>
          </a:prstGeom>
          <a:solidFill>
            <a:srgbClr val="D98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9039" y="4764024"/>
            <a:ext cx="4934559" cy="896112"/>
          </a:xfrm>
          <a:prstGeom prst="rect">
            <a:avLst/>
          </a:prstGeom>
          <a:noFill/>
        </p:spPr>
        <p:txBody>
          <a:bodyPr wrap="square" anchor="t" lIns="0" rIns="0" tIns="0" bIns="0">
            <a:noAutofit/>
          </a:bodyPr>
          <a:lstStyle/>
          <a:p>
            <a:pPr algn="l">
              <a:lnSpc>
                <a:spcPct val="100000"/>
              </a:lnSpc>
              <a:spcBef>
                <a:spcPts val="0"/>
              </a:spcBef>
              <a:spcAft>
                <a:spcPts val="300"/>
              </a:spcAft>
            </a:pPr>
            <a:r>
              <a:rPr sz="1250" b="1">
                <a:solidFill>
                  <a:srgbClr val="1B2733"/>
                </a:solidFill>
                <a:latin typeface="Arial"/>
              </a:rPr>
              <a:t>In-memory state</a:t>
            </a:r>
          </a:p>
          <a:p>
            <a:pPr algn="l">
              <a:lnSpc>
                <a:spcPct val="112000"/>
              </a:lnSpc>
              <a:spcBef>
                <a:spcPts val="0"/>
              </a:spcBef>
              <a:spcAft>
                <a:spcPts val="600"/>
              </a:spcAft>
            </a:pPr>
            <a:r>
              <a:rPr sz="1050" b="0">
                <a:solidFill>
                  <a:srgbClr val="3E4C59"/>
                </a:solidFill>
                <a:latin typeface="Arial"/>
              </a:rPr>
              <a:t>Audit log &amp; pending approvals are volatile — a restart drops them.</a:t>
            </a:r>
          </a:p>
        </p:txBody>
      </p:sp>
      <p:sp>
        <p:nvSpPr>
          <p:cNvPr id="25" name="TextBox 24"/>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26" name="TextBox 25"/>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45  /  48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WRAP-UP</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Summary &amp; next steps</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28800"/>
            <a:ext cx="6126480" cy="393192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5528" y="2048255"/>
            <a:ext cx="82296" cy="237744"/>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011679"/>
            <a:ext cx="5468112"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What we proved</a:t>
            </a:r>
          </a:p>
        </p:txBody>
      </p:sp>
      <p:sp>
        <p:nvSpPr>
          <p:cNvPr id="10" name="TextBox 9"/>
          <p:cNvSpPr txBox="1"/>
          <p:nvPr/>
        </p:nvSpPr>
        <p:spPr>
          <a:xfrm>
            <a:off x="859536" y="2514600"/>
            <a:ext cx="5532120" cy="3108960"/>
          </a:xfrm>
          <a:prstGeom prst="rect">
            <a:avLst/>
          </a:prstGeom>
          <a:noFill/>
        </p:spPr>
        <p:txBody>
          <a:bodyPr wrap="square" anchor="t" lIns="0" rIns="0" tIns="0" bIns="0">
            <a:noAutofit/>
          </a:bodyPr>
          <a:lstStyle/>
          <a:p>
            <a:pPr algn="l" marL="256032" indent="-256032">
              <a:lnSpc>
                <a:spcPct val="106000"/>
              </a:lnSpc>
              <a:spcBef>
                <a:spcPts val="0"/>
              </a:spcBef>
              <a:spcAft>
                <a:spcPts val="1000"/>
              </a:spcAft>
              <a:buClr>
                <a:srgbClr val="FF7300"/>
              </a:buClr>
              <a:buFont typeface="Arial"/>
              <a:buChar char="▪"/>
            </a:pPr>
            <a:r>
              <a:rPr sz="1200" b="1">
                <a:solidFill>
                  <a:srgbClr val="1B2733"/>
                </a:solidFill>
                <a:latin typeface="Arial"/>
              </a:rPr>
              <a:t>The capability works.  </a:t>
            </a:r>
            <a:r>
              <a:rPr sz="1200" b="0">
                <a:solidFill>
                  <a:srgbClr val="1B2733"/>
                </a:solidFill>
                <a:latin typeface="Arial"/>
              </a:rPr>
              <a:t>cross-platform diagnosis + approved remediation in a 5-minute, offline, laptop demo.</a:t>
            </a:r>
          </a:p>
          <a:p>
            <a:pPr algn="l" marL="256032" indent="-256032">
              <a:lnSpc>
                <a:spcPct val="106000"/>
              </a:lnSpc>
              <a:spcBef>
                <a:spcPts val="0"/>
              </a:spcBef>
              <a:spcAft>
                <a:spcPts val="1000"/>
              </a:spcAft>
              <a:buClr>
                <a:srgbClr val="FF7300"/>
              </a:buClr>
              <a:buFont typeface="Arial"/>
              <a:buChar char="▪"/>
            </a:pPr>
            <a:r>
              <a:rPr sz="1200" b="1">
                <a:solidFill>
                  <a:srgbClr val="1B2733"/>
                </a:solidFill>
                <a:latin typeface="Arial"/>
              </a:rPr>
              <a:t>Two credible architectures  </a:t>
            </a:r>
            <a:r>
              <a:rPr sz="1200" b="0">
                <a:solidFill>
                  <a:srgbClr val="1B2733"/>
                </a:solidFill>
                <a:latin typeface="Arial"/>
              </a:rPr>
              <a:t>— Ballerina + MCP Proxy and LangChain + A2A — each with clear trade-offs.</a:t>
            </a:r>
          </a:p>
          <a:p>
            <a:pPr algn="l" marL="256032" indent="-256032">
              <a:lnSpc>
                <a:spcPct val="106000"/>
              </a:lnSpc>
              <a:spcBef>
                <a:spcPts val="0"/>
              </a:spcBef>
              <a:spcAft>
                <a:spcPts val="1000"/>
              </a:spcAft>
              <a:buClr>
                <a:srgbClr val="FF7300"/>
              </a:buClr>
              <a:buFont typeface="Arial"/>
              <a:buChar char="▪"/>
            </a:pPr>
            <a:r>
              <a:rPr sz="1200" b="1">
                <a:solidFill>
                  <a:srgbClr val="1B2733"/>
                </a:solidFill>
                <a:latin typeface="Arial"/>
              </a:rPr>
              <a:t>The durable bets hold:  </a:t>
            </a:r>
            <a:r>
              <a:rPr sz="1200" b="0">
                <a:solidFill>
                  <a:srgbClr val="1B2733"/>
                </a:solidFill>
                <a:latin typeface="Arial"/>
              </a:rPr>
              <a:t>MCP as the contract, single-context correlation, propose-before-act, model portability.</a:t>
            </a:r>
          </a:p>
          <a:p>
            <a:pPr algn="l" marL="256032" indent="-256032">
              <a:lnSpc>
                <a:spcPct val="106000"/>
              </a:lnSpc>
              <a:spcBef>
                <a:spcPts val="0"/>
              </a:spcBef>
              <a:spcAft>
                <a:spcPts val="1000"/>
              </a:spcAft>
              <a:buClr>
                <a:srgbClr val="FF7300"/>
              </a:buClr>
              <a:buFont typeface="Arial"/>
              <a:buChar char="▪"/>
            </a:pPr>
            <a:r>
              <a:rPr sz="1200" b="1">
                <a:solidFill>
                  <a:srgbClr val="1B2733"/>
                </a:solidFill>
                <a:latin typeface="Arial"/>
              </a:rPr>
              <a:t>A clean path to production  </a:t>
            </a:r>
            <a:r>
              <a:rPr sz="1200" b="0">
                <a:solidFill>
                  <a:srgbClr val="1B2733"/>
                </a:solidFill>
                <a:latin typeface="Arial"/>
              </a:rPr>
              <a:t>exists for either — a hardening checklist, not a re-architecture.</a:t>
            </a:r>
          </a:p>
        </p:txBody>
      </p:sp>
      <p:sp>
        <p:nvSpPr>
          <p:cNvPr id="11" name="Rounded Rectangle 10"/>
          <p:cNvSpPr/>
          <p:nvPr/>
        </p:nvSpPr>
        <p:spPr>
          <a:xfrm>
            <a:off x="7059168" y="1828800"/>
            <a:ext cx="4565599" cy="3931920"/>
          </a:xfrm>
          <a:prstGeom prst="roundRect">
            <a:avLst>
              <a:gd name="adj" fmla="val 4500"/>
            </a:avLst>
          </a:prstGeom>
          <a:solidFill>
            <a:srgbClr val="1B2733"/>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2057400"/>
            <a:ext cx="4053535" cy="457200"/>
          </a:xfrm>
          <a:prstGeom prst="rect">
            <a:avLst/>
          </a:prstGeom>
          <a:noFill/>
        </p:spPr>
        <p:txBody>
          <a:bodyPr wrap="square" anchor="t" lIns="0" rIns="0" tIns="0" bIns="0">
            <a:noAutofit/>
          </a:bodyPr>
          <a:lstStyle/>
          <a:p>
            <a:pPr algn="l">
              <a:lnSpc>
                <a:spcPct val="100000"/>
              </a:lnSpc>
              <a:spcBef>
                <a:spcPts val="0"/>
              </a:spcBef>
              <a:spcAft>
                <a:spcPts val="600"/>
              </a:spcAft>
            </a:pPr>
            <a:r>
              <a:rPr sz="1200" b="1">
                <a:solidFill>
                  <a:srgbClr val="FF7300"/>
                </a:solidFill>
                <a:latin typeface="Arial"/>
              </a:rPr>
              <a:t>NEXT STEPS</a:t>
            </a:r>
          </a:p>
        </p:txBody>
      </p:sp>
      <p:sp>
        <p:nvSpPr>
          <p:cNvPr id="13" name="TextBox 12"/>
          <p:cNvSpPr txBox="1"/>
          <p:nvPr/>
        </p:nvSpPr>
        <p:spPr>
          <a:xfrm>
            <a:off x="7315200" y="2560320"/>
            <a:ext cx="4053535" cy="3017520"/>
          </a:xfrm>
          <a:prstGeom prst="rect">
            <a:avLst/>
          </a:prstGeom>
          <a:noFill/>
        </p:spPr>
        <p:txBody>
          <a:bodyPr wrap="square" anchor="t" lIns="0" rIns="0" tIns="0" bIns="0">
            <a:noAutofit/>
          </a:bodyPr>
          <a:lstStyle/>
          <a:p>
            <a:pPr algn="l">
              <a:lnSpc>
                <a:spcPct val="118000"/>
              </a:lnSpc>
              <a:spcBef>
                <a:spcPts val="0"/>
              </a:spcBef>
              <a:spcAft>
                <a:spcPts val="1100"/>
              </a:spcAft>
            </a:pPr>
            <a:r>
              <a:rPr sz="1300" b="1">
                <a:solidFill>
                  <a:srgbClr val="FF7300"/>
                </a:solidFill>
                <a:latin typeface="Arial"/>
              </a:rPr>
              <a:t>1   </a:t>
            </a:r>
            <a:r>
              <a:rPr sz="1150" b="0">
                <a:solidFill>
                  <a:srgbClr val="FFFFFF"/>
                </a:solidFill>
                <a:latin typeface="Arial"/>
              </a:rPr>
              <a:t>Fill in the recommendation with the client's team &amp; governance context.</a:t>
            </a:r>
          </a:p>
          <a:p>
            <a:pPr algn="l">
              <a:lnSpc>
                <a:spcPct val="118000"/>
              </a:lnSpc>
              <a:spcBef>
                <a:spcPts val="0"/>
              </a:spcBef>
              <a:spcAft>
                <a:spcPts val="1100"/>
              </a:spcAft>
            </a:pPr>
            <a:r>
              <a:rPr sz="1300" b="1">
                <a:solidFill>
                  <a:srgbClr val="FF7300"/>
                </a:solidFill>
                <a:latin typeface="Arial"/>
              </a:rPr>
              <a:t>2   </a:t>
            </a:r>
            <a:r>
              <a:rPr sz="1150" b="0">
                <a:solidFill>
                  <a:srgbClr val="FFFFFF"/>
                </a:solidFill>
                <a:latin typeface="Arial"/>
              </a:rPr>
              <a:t>Pick one architecture for a hardening spike (auth + live MCPs).</a:t>
            </a:r>
          </a:p>
          <a:p>
            <a:pPr algn="l">
              <a:lnSpc>
                <a:spcPct val="118000"/>
              </a:lnSpc>
              <a:spcBef>
                <a:spcPts val="0"/>
              </a:spcBef>
              <a:spcAft>
                <a:spcPts val="1100"/>
              </a:spcAft>
            </a:pPr>
            <a:r>
              <a:rPr sz="1300" b="1">
                <a:solidFill>
                  <a:srgbClr val="FF7300"/>
                </a:solidFill>
                <a:latin typeface="Arial"/>
              </a:rPr>
              <a:t>3   </a:t>
            </a:r>
            <a:r>
              <a:rPr sz="1150" b="0">
                <a:solidFill>
                  <a:srgbClr val="FFFFFF"/>
                </a:solidFill>
                <a:latin typeface="Arial"/>
              </a:rPr>
              <a:t>Wire real Splunk &amp; Datadog MCPs; exercise trace-ID normalization.</a:t>
            </a:r>
          </a:p>
          <a:p>
            <a:pPr algn="l">
              <a:lnSpc>
                <a:spcPct val="118000"/>
              </a:lnSpc>
              <a:spcBef>
                <a:spcPts val="0"/>
              </a:spcBef>
              <a:spcAft>
                <a:spcPts val="1100"/>
              </a:spcAft>
            </a:pPr>
            <a:r>
              <a:rPr sz="1300" b="1">
                <a:solidFill>
                  <a:srgbClr val="FF7300"/>
                </a:solidFill>
                <a:latin typeface="Arial"/>
              </a:rPr>
              <a:t>4   </a:t>
            </a:r>
            <a:r>
              <a:rPr sz="1150" b="0">
                <a:solidFill>
                  <a:srgbClr val="FFFFFF"/>
                </a:solidFill>
                <a:latin typeface="Arial"/>
              </a:rPr>
              <a:t>Run the demo live with the client on their own laptop.</a:t>
            </a:r>
          </a:p>
        </p:txBody>
      </p:sp>
      <p:sp>
        <p:nvSpPr>
          <p:cNvPr id="14" name="TextBox 13"/>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15" name="TextBox 14"/>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46  /  48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APPENDIX</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Ports &amp; endpoints reference</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828800"/>
          <a:ext cx="5346038" cy="2816352"/>
        </p:xfrm>
        <a:graphic>
          <a:graphicData uri="http://schemas.openxmlformats.org/drawingml/2006/table">
            <a:tbl>
              <a:tblPr firstRow="0" bandRow="0">
                <a:tableStyleId>{2D5ABB26-0587-4C30-8999-92F81FD0307C}</a:tableStyleId>
              </a:tblPr>
              <a:tblGrid>
                <a:gridCol w="3635306"/>
                <a:gridCol w="1710732"/>
              </a:tblGrid>
              <a:tr h="402336">
                <a:tc>
                  <a:txBody>
                    <a:bodyPr wrap="square"/>
                    <a:lstStyle/>
                    <a:p>
                      <a:pPr algn="l">
                        <a:lnSpc>
                          <a:spcPct val="100000"/>
                        </a:lnSpc>
                      </a:pPr>
                      <a:r>
                        <a:rPr sz="1050" b="1">
                          <a:solidFill>
                            <a:srgbClr val="FFFFFF"/>
                          </a:solidFill>
                          <a:latin typeface="Arial"/>
                        </a:rPr>
                        <a:t>Solution 1 · Ballerina</a:t>
                      </a:r>
                    </a:p>
                  </a:txBody>
                  <a:tcPr anchor="ctr" marL="91440" marR="73152" marT="18288" marB="18288">
                    <a:solidFill>
                      <a:srgbClr val="0A6E82"/>
                    </a:solidFill>
                  </a:tcPr>
                </a:tc>
                <a:tc>
                  <a:txBody>
                    <a:bodyPr wrap="square"/>
                    <a:lstStyle/>
                    <a:p>
                      <a:pPr algn="l">
                        <a:lnSpc>
                          <a:spcPct val="100000"/>
                        </a:lnSpc>
                      </a:pPr>
                      <a:r>
                        <a:rPr sz="1050" b="1">
                          <a:solidFill>
                            <a:srgbClr val="FFFFFF"/>
                          </a:solidFill>
                          <a:latin typeface="Arial"/>
                        </a:rPr>
                        <a:t>Port</a:t>
                      </a:r>
                    </a:p>
                  </a:txBody>
                  <a:tcPr anchor="ctr" marL="91440" marR="73152" marT="18288" marB="18288">
                    <a:solidFill>
                      <a:srgbClr val="0A6E82"/>
                    </a:solidFill>
                  </a:tcPr>
                </a:tc>
              </a:tr>
              <a:tr h="402336">
                <a:tc>
                  <a:txBody>
                    <a:bodyPr wrap="square"/>
                    <a:lstStyle/>
                    <a:p>
                      <a:pPr algn="l">
                        <a:lnSpc>
                          <a:spcPct val="100000"/>
                        </a:lnSpc>
                      </a:pPr>
                      <a:r>
                        <a:rPr sz="1000" b="1">
                          <a:solidFill>
                            <a:srgbClr val="1B2733"/>
                          </a:solidFill>
                          <a:latin typeface="Arial"/>
                        </a:rPr>
                        <a:t>DevOps Agent</a:t>
                      </a:r>
                    </a:p>
                  </a:txBody>
                  <a:tcPr anchor="ctr" marL="91440" marR="73152" marT="18288" marB="18288">
                    <a:solidFill>
                      <a:srgbClr val="F6F8FA"/>
                    </a:solidFill>
                  </a:tcPr>
                </a:tc>
                <a:tc>
                  <a:txBody>
                    <a:bodyPr wrap="square"/>
                    <a:lstStyle/>
                    <a:p>
                      <a:pPr algn="l">
                        <a:lnSpc>
                          <a:spcPct val="100000"/>
                        </a:lnSpc>
                      </a:pPr>
                      <a:r>
                        <a:rPr sz="1000" b="0">
                          <a:solidFill>
                            <a:srgbClr val="1B2733"/>
                          </a:solidFill>
                          <a:latin typeface="Arial"/>
                        </a:rPr>
                        <a:t>8092 → 8000</a:t>
                      </a:r>
                    </a:p>
                  </a:txBody>
                  <a:tcPr anchor="ctr" marL="91440" marR="73152" marT="18288" marB="18288">
                    <a:solidFill>
                      <a:srgbClr val="F6F8FA"/>
                    </a:solidFill>
                  </a:tcPr>
                </a:tc>
              </a:tr>
              <a:tr h="402336">
                <a:tc>
                  <a:txBody>
                    <a:bodyPr wrap="square"/>
                    <a:lstStyle/>
                    <a:p>
                      <a:pPr algn="l">
                        <a:lnSpc>
                          <a:spcPct val="100000"/>
                        </a:lnSpc>
                      </a:pPr>
                      <a:r>
                        <a:rPr sz="1000" b="1">
                          <a:solidFill>
                            <a:srgbClr val="1B2733"/>
                          </a:solidFill>
                          <a:latin typeface="Arial"/>
                        </a:rPr>
                        <a:t>MCP Proxy</a:t>
                      </a:r>
                    </a:p>
                  </a:txBody>
                  <a:tcPr anchor="ctr" marL="91440" marR="73152" marT="18288" marB="18288">
                    <a:solidFill>
                      <a:srgbClr val="FFFFFF"/>
                    </a:solidFill>
                  </a:tcPr>
                </a:tc>
                <a:tc>
                  <a:txBody>
                    <a:bodyPr wrap="square"/>
                    <a:lstStyle/>
                    <a:p>
                      <a:pPr algn="l">
                        <a:lnSpc>
                          <a:spcPct val="100000"/>
                        </a:lnSpc>
                      </a:pPr>
                      <a:r>
                        <a:rPr sz="1000" b="0">
                          <a:solidFill>
                            <a:srgbClr val="1B2733"/>
                          </a:solidFill>
                          <a:latin typeface="Arial"/>
                        </a:rPr>
                        <a:t>8290</a:t>
                      </a:r>
                    </a:p>
                  </a:txBody>
                  <a:tcPr anchor="ctr" marL="91440" marR="73152" marT="18288" marB="18288">
                    <a:solidFill>
                      <a:srgbClr val="FFFFFF"/>
                    </a:solidFill>
                  </a:tcPr>
                </a:tc>
              </a:tr>
              <a:tr h="402336">
                <a:tc>
                  <a:txBody>
                    <a:bodyPr wrap="square"/>
                    <a:lstStyle/>
                    <a:p>
                      <a:pPr algn="l">
                        <a:lnSpc>
                          <a:spcPct val="100000"/>
                        </a:lnSpc>
                      </a:pPr>
                      <a:r>
                        <a:rPr sz="1000" b="1">
                          <a:solidFill>
                            <a:srgbClr val="1B2733"/>
                          </a:solidFill>
                          <a:latin typeface="Arial"/>
                        </a:rPr>
                        <a:t>splunk-mock-mcp</a:t>
                      </a:r>
                    </a:p>
                  </a:txBody>
                  <a:tcPr anchor="ctr" marL="91440" marR="73152" marT="18288" marB="18288">
                    <a:solidFill>
                      <a:srgbClr val="F6F8FA"/>
                    </a:solidFill>
                  </a:tcPr>
                </a:tc>
                <a:tc>
                  <a:txBody>
                    <a:bodyPr wrap="square"/>
                    <a:lstStyle/>
                    <a:p>
                      <a:pPr algn="l">
                        <a:lnSpc>
                          <a:spcPct val="100000"/>
                        </a:lnSpc>
                      </a:pPr>
                      <a:r>
                        <a:rPr sz="1000" b="0">
                          <a:solidFill>
                            <a:srgbClr val="1B2733"/>
                          </a:solidFill>
                          <a:latin typeface="Arial"/>
                        </a:rPr>
                        <a:t>8400</a:t>
                      </a:r>
                    </a:p>
                  </a:txBody>
                  <a:tcPr anchor="ctr" marL="91440" marR="73152" marT="18288" marB="18288">
                    <a:solidFill>
                      <a:srgbClr val="F6F8FA"/>
                    </a:solidFill>
                  </a:tcPr>
                </a:tc>
              </a:tr>
              <a:tr h="402336">
                <a:tc>
                  <a:txBody>
                    <a:bodyPr wrap="square"/>
                    <a:lstStyle/>
                    <a:p>
                      <a:pPr algn="l">
                        <a:lnSpc>
                          <a:spcPct val="100000"/>
                        </a:lnSpc>
                      </a:pPr>
                      <a:r>
                        <a:rPr sz="1000" b="1">
                          <a:solidFill>
                            <a:srgbClr val="1B2733"/>
                          </a:solidFill>
                          <a:latin typeface="Arial"/>
                        </a:rPr>
                        <a:t>datadog-mock-mcp</a:t>
                      </a:r>
                    </a:p>
                  </a:txBody>
                  <a:tcPr anchor="ctr" marL="91440" marR="73152" marT="18288" marB="18288">
                    <a:solidFill>
                      <a:srgbClr val="FFFFFF"/>
                    </a:solidFill>
                  </a:tcPr>
                </a:tc>
                <a:tc>
                  <a:txBody>
                    <a:bodyPr wrap="square"/>
                    <a:lstStyle/>
                    <a:p>
                      <a:pPr algn="l">
                        <a:lnSpc>
                          <a:spcPct val="100000"/>
                        </a:lnSpc>
                      </a:pPr>
                      <a:r>
                        <a:rPr sz="1000" b="0">
                          <a:solidFill>
                            <a:srgbClr val="1B2733"/>
                          </a:solidFill>
                          <a:latin typeface="Arial"/>
                        </a:rPr>
                        <a:t>8401</a:t>
                      </a:r>
                    </a:p>
                  </a:txBody>
                  <a:tcPr anchor="ctr" marL="91440" marR="73152" marT="18288" marB="18288">
                    <a:solidFill>
                      <a:srgbClr val="FFFFFF"/>
                    </a:solidFill>
                  </a:tcPr>
                </a:tc>
              </a:tr>
              <a:tr h="402336">
                <a:tc>
                  <a:txBody>
                    <a:bodyPr wrap="square"/>
                    <a:lstStyle/>
                    <a:p>
                      <a:pPr algn="l">
                        <a:lnSpc>
                          <a:spcPct val="100000"/>
                        </a:lnSpc>
                      </a:pPr>
                      <a:r>
                        <a:rPr sz="1000" b="1">
                          <a:solidFill>
                            <a:srgbClr val="1B2733"/>
                          </a:solidFill>
                          <a:latin typeface="Arial"/>
                        </a:rPr>
                        <a:t>payment chaos endpoint</a:t>
                      </a:r>
                    </a:p>
                  </a:txBody>
                  <a:tcPr anchor="ctr" marL="91440" marR="73152" marT="18288" marB="18288">
                    <a:solidFill>
                      <a:srgbClr val="F6F8FA"/>
                    </a:solidFill>
                  </a:tcPr>
                </a:tc>
                <a:tc>
                  <a:txBody>
                    <a:bodyPr wrap="square"/>
                    <a:lstStyle/>
                    <a:p>
                      <a:pPr algn="l">
                        <a:lnSpc>
                          <a:spcPct val="100000"/>
                        </a:lnSpc>
                      </a:pPr>
                      <a:r>
                        <a:rPr sz="1000" b="0">
                          <a:solidFill>
                            <a:srgbClr val="1B2733"/>
                          </a:solidFill>
                          <a:latin typeface="Arial"/>
                        </a:rPr>
                        <a:t>9196</a:t>
                      </a:r>
                    </a:p>
                  </a:txBody>
                  <a:tcPr anchor="ctr" marL="91440" marR="73152" marT="18288" marB="18288">
                    <a:solidFill>
                      <a:srgbClr val="F6F8FA"/>
                    </a:solidFill>
                  </a:tcPr>
                </a:tc>
              </a:tr>
              <a:tr h="402336">
                <a:tc>
                  <a:txBody>
                    <a:bodyPr wrap="square"/>
                    <a:lstStyle/>
                    <a:p>
                      <a:pPr algn="l">
                        <a:lnSpc>
                          <a:spcPct val="100000"/>
                        </a:lnSpc>
                      </a:pPr>
                      <a:r>
                        <a:rPr sz="1000" b="1">
                          <a:solidFill>
                            <a:srgbClr val="1B2733"/>
                          </a:solidFill>
                          <a:latin typeface="Arial"/>
                        </a:rPr>
                        <a:t>Prometheus scrape</a:t>
                      </a:r>
                    </a:p>
                  </a:txBody>
                  <a:tcPr anchor="ctr" marL="91440" marR="73152" marT="18288" marB="18288">
                    <a:solidFill>
                      <a:srgbClr val="FFFFFF"/>
                    </a:solidFill>
                  </a:tcPr>
                </a:tc>
                <a:tc>
                  <a:txBody>
                    <a:bodyPr wrap="square"/>
                    <a:lstStyle/>
                    <a:p>
                      <a:pPr algn="l">
                        <a:lnSpc>
                          <a:spcPct val="100000"/>
                        </a:lnSpc>
                      </a:pPr>
                      <a:r>
                        <a:rPr sz="1000" b="0">
                          <a:solidFill>
                            <a:srgbClr val="1B2733"/>
                          </a:solidFill>
                          <a:latin typeface="Arial"/>
                        </a:rPr>
                        <a:t>9797</a:t>
                      </a:r>
                    </a:p>
                  </a:txBody>
                  <a:tcPr anchor="ctr" marL="91440" marR="73152" marT="18288" marB="18288">
                    <a:solidFill>
                      <a:srgbClr val="FFFFFF"/>
                    </a:solidFill>
                  </a:tcPr>
                </a:tc>
              </a:tr>
            </a:tbl>
          </a:graphicData>
        </a:graphic>
      </p:graphicFrame>
      <p:graphicFrame>
        <p:nvGraphicFramePr>
          <p:cNvPr id="8" name="Table 7"/>
          <p:cNvGraphicFramePr>
            <a:graphicFrameLocks noGrp="1"/>
          </p:cNvGraphicFramePr>
          <p:nvPr/>
        </p:nvGraphicFramePr>
        <p:xfrm>
          <a:off x="6278727" y="1828800"/>
          <a:ext cx="5346038" cy="2816352"/>
        </p:xfrm>
        <a:graphic>
          <a:graphicData uri="http://schemas.openxmlformats.org/drawingml/2006/table">
            <a:tbl>
              <a:tblPr firstRow="0" bandRow="0">
                <a:tableStyleId>{2D5ABB26-0587-4C30-8999-92F81FD0307C}</a:tableStyleId>
              </a:tblPr>
              <a:tblGrid>
                <a:gridCol w="3635306"/>
                <a:gridCol w="1710732"/>
              </a:tblGrid>
              <a:tr h="402336">
                <a:tc>
                  <a:txBody>
                    <a:bodyPr wrap="square"/>
                    <a:lstStyle/>
                    <a:p>
                      <a:pPr algn="l">
                        <a:lnSpc>
                          <a:spcPct val="100000"/>
                        </a:lnSpc>
                      </a:pPr>
                      <a:r>
                        <a:rPr sz="1050" b="1">
                          <a:solidFill>
                            <a:srgbClr val="FFFFFF"/>
                          </a:solidFill>
                          <a:latin typeface="Arial"/>
                        </a:rPr>
                        <a:t>Solution 2 · LangChain</a:t>
                      </a:r>
                    </a:p>
                  </a:txBody>
                  <a:tcPr anchor="ctr" marL="91440" marR="73152" marT="18288" marB="18288">
                    <a:solidFill>
                      <a:srgbClr val="5138C0"/>
                    </a:solidFill>
                  </a:tcPr>
                </a:tc>
                <a:tc>
                  <a:txBody>
                    <a:bodyPr wrap="square"/>
                    <a:lstStyle/>
                    <a:p>
                      <a:pPr algn="l">
                        <a:lnSpc>
                          <a:spcPct val="100000"/>
                        </a:lnSpc>
                      </a:pPr>
                      <a:r>
                        <a:rPr sz="1050" b="1">
                          <a:solidFill>
                            <a:srgbClr val="FFFFFF"/>
                          </a:solidFill>
                          <a:latin typeface="Arial"/>
                        </a:rPr>
                        <a:t>Port</a:t>
                      </a:r>
                    </a:p>
                  </a:txBody>
                  <a:tcPr anchor="ctr" marL="91440" marR="73152" marT="18288" marB="18288">
                    <a:solidFill>
                      <a:srgbClr val="5138C0"/>
                    </a:solidFill>
                  </a:tcPr>
                </a:tc>
              </a:tr>
              <a:tr h="402336">
                <a:tc>
                  <a:txBody>
                    <a:bodyPr wrap="square"/>
                    <a:lstStyle/>
                    <a:p>
                      <a:pPr algn="l">
                        <a:lnSpc>
                          <a:spcPct val="100000"/>
                        </a:lnSpc>
                      </a:pPr>
                      <a:r>
                        <a:rPr sz="1000" b="1">
                          <a:solidFill>
                            <a:srgbClr val="1B2733"/>
                          </a:solidFill>
                          <a:latin typeface="Arial"/>
                        </a:rPr>
                        <a:t>Orchestrator</a:t>
                      </a:r>
                    </a:p>
                  </a:txBody>
                  <a:tcPr anchor="ctr" marL="91440" marR="73152" marT="18288" marB="18288">
                    <a:solidFill>
                      <a:srgbClr val="F6F8FA"/>
                    </a:solidFill>
                  </a:tcPr>
                </a:tc>
                <a:tc>
                  <a:txBody>
                    <a:bodyPr wrap="square"/>
                    <a:lstStyle/>
                    <a:p>
                      <a:pPr algn="l">
                        <a:lnSpc>
                          <a:spcPct val="100000"/>
                        </a:lnSpc>
                      </a:pPr>
                      <a:r>
                        <a:rPr sz="1000" b="0">
                          <a:solidFill>
                            <a:srgbClr val="1B2733"/>
                          </a:solidFill>
                          <a:latin typeface="Arial"/>
                        </a:rPr>
                        <a:t>18092 → 8000</a:t>
                      </a:r>
                    </a:p>
                  </a:txBody>
                  <a:tcPr anchor="ctr" marL="91440" marR="73152" marT="18288" marB="18288">
                    <a:solidFill>
                      <a:srgbClr val="F6F8FA"/>
                    </a:solidFill>
                  </a:tcPr>
                </a:tc>
              </a:tr>
              <a:tr h="402336">
                <a:tc>
                  <a:txBody>
                    <a:bodyPr wrap="square"/>
                    <a:lstStyle/>
                    <a:p>
                      <a:pPr algn="l">
                        <a:lnSpc>
                          <a:spcPct val="100000"/>
                        </a:lnSpc>
                      </a:pPr>
                      <a:r>
                        <a:rPr sz="1000" b="1">
                          <a:solidFill>
                            <a:srgbClr val="1B2733"/>
                          </a:solidFill>
                          <a:latin typeface="Arial"/>
                        </a:rPr>
                        <a:t>DataDogAgent (A2A)</a:t>
                      </a:r>
                    </a:p>
                  </a:txBody>
                  <a:tcPr anchor="ctr" marL="91440" marR="73152" marT="18288" marB="18288">
                    <a:solidFill>
                      <a:srgbClr val="FFFFFF"/>
                    </a:solidFill>
                  </a:tcPr>
                </a:tc>
                <a:tc>
                  <a:txBody>
                    <a:bodyPr wrap="square"/>
                    <a:lstStyle/>
                    <a:p>
                      <a:pPr algn="l">
                        <a:lnSpc>
                          <a:spcPct val="100000"/>
                        </a:lnSpc>
                      </a:pPr>
                      <a:r>
                        <a:rPr sz="1000" b="0">
                          <a:solidFill>
                            <a:srgbClr val="1B2733"/>
                          </a:solidFill>
                          <a:latin typeface="Arial"/>
                        </a:rPr>
                        <a:t>18101</a:t>
                      </a:r>
                    </a:p>
                  </a:txBody>
                  <a:tcPr anchor="ctr" marL="91440" marR="73152" marT="18288" marB="18288">
                    <a:solidFill>
                      <a:srgbClr val="FFFFFF"/>
                    </a:solidFill>
                  </a:tcPr>
                </a:tc>
              </a:tr>
              <a:tr h="402336">
                <a:tc>
                  <a:txBody>
                    <a:bodyPr wrap="square"/>
                    <a:lstStyle/>
                    <a:p>
                      <a:pPr algn="l">
                        <a:lnSpc>
                          <a:spcPct val="100000"/>
                        </a:lnSpc>
                      </a:pPr>
                      <a:r>
                        <a:rPr sz="1000" b="1">
                          <a:solidFill>
                            <a:srgbClr val="1B2733"/>
                          </a:solidFill>
                          <a:latin typeface="Arial"/>
                        </a:rPr>
                        <a:t>SplunkAgent (A2A)</a:t>
                      </a:r>
                    </a:p>
                  </a:txBody>
                  <a:tcPr anchor="ctr" marL="91440" marR="73152" marT="18288" marB="18288">
                    <a:solidFill>
                      <a:srgbClr val="F6F8FA"/>
                    </a:solidFill>
                  </a:tcPr>
                </a:tc>
                <a:tc>
                  <a:txBody>
                    <a:bodyPr wrap="square"/>
                    <a:lstStyle/>
                    <a:p>
                      <a:pPr algn="l">
                        <a:lnSpc>
                          <a:spcPct val="100000"/>
                        </a:lnSpc>
                      </a:pPr>
                      <a:r>
                        <a:rPr sz="1000" b="0">
                          <a:solidFill>
                            <a:srgbClr val="1B2733"/>
                          </a:solidFill>
                          <a:latin typeface="Arial"/>
                        </a:rPr>
                        <a:t>18102</a:t>
                      </a:r>
                    </a:p>
                  </a:txBody>
                  <a:tcPr anchor="ctr" marL="91440" marR="73152" marT="18288" marB="18288">
                    <a:solidFill>
                      <a:srgbClr val="F6F8FA"/>
                    </a:solidFill>
                  </a:tcPr>
                </a:tc>
              </a:tr>
              <a:tr h="402336">
                <a:tc>
                  <a:txBody>
                    <a:bodyPr wrap="square"/>
                    <a:lstStyle/>
                    <a:p>
                      <a:pPr algn="l">
                        <a:lnSpc>
                          <a:spcPct val="100000"/>
                        </a:lnSpc>
                      </a:pPr>
                      <a:r>
                        <a:rPr sz="1000" b="1">
                          <a:solidFill>
                            <a:srgbClr val="1B2733"/>
                          </a:solidFill>
                          <a:latin typeface="Arial"/>
                        </a:rPr>
                        <a:t>datadog-mock-mcp</a:t>
                      </a:r>
                    </a:p>
                  </a:txBody>
                  <a:tcPr anchor="ctr" marL="91440" marR="73152" marT="18288" marB="18288">
                    <a:solidFill>
                      <a:srgbClr val="FFFFFF"/>
                    </a:solidFill>
                  </a:tcPr>
                </a:tc>
                <a:tc>
                  <a:txBody>
                    <a:bodyPr wrap="square"/>
                    <a:lstStyle/>
                    <a:p>
                      <a:pPr algn="l">
                        <a:lnSpc>
                          <a:spcPct val="100000"/>
                        </a:lnSpc>
                      </a:pPr>
                      <a:r>
                        <a:rPr sz="1000" b="0">
                          <a:solidFill>
                            <a:srgbClr val="1B2733"/>
                          </a:solidFill>
                          <a:latin typeface="Arial"/>
                        </a:rPr>
                        <a:t>18401</a:t>
                      </a:r>
                    </a:p>
                  </a:txBody>
                  <a:tcPr anchor="ctr" marL="91440" marR="73152" marT="18288" marB="18288">
                    <a:solidFill>
                      <a:srgbClr val="FFFFFF"/>
                    </a:solidFill>
                  </a:tcPr>
                </a:tc>
              </a:tr>
              <a:tr h="402336">
                <a:tc>
                  <a:txBody>
                    <a:bodyPr wrap="square"/>
                    <a:lstStyle/>
                    <a:p>
                      <a:pPr algn="l">
                        <a:lnSpc>
                          <a:spcPct val="100000"/>
                        </a:lnSpc>
                      </a:pPr>
                      <a:r>
                        <a:rPr sz="1000" b="1">
                          <a:solidFill>
                            <a:srgbClr val="1B2733"/>
                          </a:solidFill>
                          <a:latin typeface="Arial"/>
                        </a:rPr>
                        <a:t>splunk-mock-mcp</a:t>
                      </a:r>
                    </a:p>
                  </a:txBody>
                  <a:tcPr anchor="ctr" marL="91440" marR="73152" marT="18288" marB="18288">
                    <a:solidFill>
                      <a:srgbClr val="F6F8FA"/>
                    </a:solidFill>
                  </a:tcPr>
                </a:tc>
                <a:tc>
                  <a:txBody>
                    <a:bodyPr wrap="square"/>
                    <a:lstStyle/>
                    <a:p>
                      <a:pPr algn="l">
                        <a:lnSpc>
                          <a:spcPct val="100000"/>
                        </a:lnSpc>
                      </a:pPr>
                      <a:r>
                        <a:rPr sz="1000" b="0">
                          <a:solidFill>
                            <a:srgbClr val="1B2733"/>
                          </a:solidFill>
                          <a:latin typeface="Arial"/>
                        </a:rPr>
                        <a:t>18400</a:t>
                      </a:r>
                    </a:p>
                  </a:txBody>
                  <a:tcPr anchor="ctr" marL="91440" marR="73152" marT="18288" marB="18288">
                    <a:solidFill>
                      <a:srgbClr val="F6F8FA"/>
                    </a:solidFill>
                  </a:tcPr>
                </a:tc>
              </a:tr>
              <a:tr h="402336">
                <a:tc>
                  <a:txBody>
                    <a:bodyPr wrap="square"/>
                    <a:lstStyle/>
                    <a:p>
                      <a:pPr algn="l">
                        <a:lnSpc>
                          <a:spcPct val="100000"/>
                        </a:lnSpc>
                      </a:pPr>
                      <a:r>
                        <a:rPr sz="1000" b="1">
                          <a:solidFill>
                            <a:srgbClr val="1B2733"/>
                          </a:solidFill>
                          <a:latin typeface="Arial"/>
                        </a:rPr>
                        <a:t>OTLP collector</a:t>
                      </a:r>
                    </a:p>
                  </a:txBody>
                  <a:tcPr anchor="ctr" marL="91440" marR="73152" marT="18288" marB="18288">
                    <a:solidFill>
                      <a:srgbClr val="FFFFFF"/>
                    </a:solidFill>
                  </a:tcPr>
                </a:tc>
                <a:tc>
                  <a:txBody>
                    <a:bodyPr wrap="square"/>
                    <a:lstStyle/>
                    <a:p>
                      <a:pPr algn="l">
                        <a:lnSpc>
                          <a:spcPct val="100000"/>
                        </a:lnSpc>
                      </a:pPr>
                      <a:r>
                        <a:rPr sz="1000" b="0">
                          <a:solidFill>
                            <a:srgbClr val="1B2733"/>
                          </a:solidFill>
                          <a:latin typeface="Arial"/>
                        </a:rPr>
                        <a:t>14317 / 14318</a:t>
                      </a:r>
                    </a:p>
                  </a:txBody>
                  <a:tcPr anchor="ctr" marL="91440" marR="73152" marT="18288" marB="18288">
                    <a:solidFill>
                      <a:srgbClr val="FFFFFF"/>
                    </a:solidFill>
                  </a:tcPr>
                </a:tc>
              </a:tr>
            </a:tbl>
          </a:graphicData>
        </a:graphic>
      </p:graphicFrame>
      <p:sp>
        <p:nvSpPr>
          <p:cNvPr id="9" name="TextBox 8"/>
          <p:cNvSpPr txBox="1"/>
          <p:nvPr/>
        </p:nvSpPr>
        <p:spPr>
          <a:xfrm>
            <a:off x="566928" y="5074920"/>
            <a:ext cx="11057839" cy="822960"/>
          </a:xfrm>
          <a:prstGeom prst="rect">
            <a:avLst/>
          </a:prstGeom>
          <a:noFill/>
        </p:spPr>
        <p:txBody>
          <a:bodyPr wrap="square" anchor="t" lIns="0" rIns="0" tIns="0" bIns="0">
            <a:noAutofit/>
          </a:bodyPr>
          <a:lstStyle/>
          <a:p>
            <a:pPr algn="l">
              <a:lnSpc>
                <a:spcPct val="130000"/>
              </a:lnSpc>
              <a:spcBef>
                <a:spcPts val="0"/>
              </a:spcBef>
              <a:spcAft>
                <a:spcPts val="600"/>
              </a:spcAft>
            </a:pPr>
            <a:r>
              <a:rPr sz="1100" b="1">
                <a:solidFill>
                  <a:srgbClr val="1B2733"/>
                </a:solidFill>
                <a:latin typeface="Arial"/>
              </a:rPr>
              <a:t>Shared:  </a:t>
            </a:r>
            <a:r>
              <a:rPr sz="1100" b="0">
                <a:solidFill>
                  <a:srgbClr val="3E4C59"/>
                </a:solidFill>
                <a:latin typeface="Arial"/>
              </a:rPr>
              <a:t>demo trace_id </a:t>
            </a:r>
            <a:r>
              <a:rPr sz="1100" b="1">
                <a:solidFill>
                  <a:srgbClr val="C85A00"/>
                </a:solidFill>
                <a:latin typeface="Consolas"/>
              </a:rPr>
              <a:t>abc123def456789012345678deadbeef</a:t>
            </a:r>
            <a:r>
              <a:rPr sz="1100" b="0">
                <a:solidFill>
                  <a:srgbClr val="3E4C59"/>
                </a:solidFill>
                <a:latin typeface="Arial"/>
              </a:rPr>
              <a:t>   ·   WSO2 AMP console </a:t>
            </a:r>
            <a:r>
              <a:rPr sz="1100" b="1">
                <a:solidFill>
                  <a:srgbClr val="1B2733"/>
                </a:solidFill>
                <a:latin typeface="Consolas"/>
              </a:rPr>
              <a:t>:3000</a:t>
            </a:r>
            <a:r>
              <a:rPr sz="1100" b="0">
                <a:solidFill>
                  <a:srgbClr val="3E4C59"/>
                </a:solidFill>
                <a:latin typeface="Arial"/>
              </a:rPr>
              <a:t>   ·   chaos token </a:t>
            </a:r>
            <a:r>
              <a:rPr sz="1100" b="1">
                <a:solidFill>
                  <a:srgbClr val="1B2733"/>
                </a:solidFill>
                <a:latin typeface="Consolas"/>
              </a:rPr>
              <a:t>dev-chaos-token</a:t>
            </a:r>
          </a:p>
          <a:p>
            <a:pPr algn="l">
              <a:lnSpc>
                <a:spcPct val="100000"/>
              </a:lnSpc>
              <a:spcBef>
                <a:spcPts val="600"/>
              </a:spcBef>
              <a:spcAft>
                <a:spcPts val="600"/>
              </a:spcAft>
            </a:pPr>
            <a:r>
              <a:rPr sz="1050" b="0">
                <a:solidFill>
                  <a:srgbClr val="6B7885"/>
                </a:solidFill>
                <a:latin typeface="Arial"/>
              </a:rPr>
              <a:t>The LangChain stack 1-prefixes every host port so both stacks run side-by-side for a live A/B on one machine.</a:t>
            </a:r>
          </a:p>
        </p:txBody>
      </p:sp>
      <p:sp>
        <p:nvSpPr>
          <p:cNvPr id="10" name="TextBox 9"/>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POC Architecture Review</a:t>
            </a:r>
          </a:p>
        </p:txBody>
      </p:sp>
      <p:sp>
        <p:nvSpPr>
          <p:cNvPr id="11" name="TextBox 10"/>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47  /  48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02920"/>
            <a:ext cx="2194560" cy="457200"/>
          </a:xfrm>
          <a:prstGeom prst="rect">
            <a:avLst/>
          </a:prstGeom>
          <a:noFill/>
        </p:spPr>
        <p:txBody>
          <a:bodyPr wrap="square" anchor="ctr" lIns="0" rIns="0" tIns="0" bIns="0">
            <a:noAutofit/>
          </a:bodyPr>
          <a:lstStyle/>
          <a:p>
            <a:pPr algn="l">
              <a:lnSpc>
                <a:spcPct val="100000"/>
              </a:lnSpc>
              <a:spcBef>
                <a:spcPts val="0"/>
              </a:spcBef>
              <a:spcAft>
                <a:spcPts val="600"/>
              </a:spcAft>
            </a:pPr>
            <a:r>
              <a:rPr sz="2200" b="1">
                <a:solidFill>
                  <a:srgbClr val="FFFFFF"/>
                </a:solidFill>
                <a:latin typeface="Arial"/>
              </a:rPr>
              <a:t>wso</a:t>
            </a:r>
            <a:r>
              <a:rPr sz="2200" b="1">
                <a:solidFill>
                  <a:srgbClr val="FF7300"/>
                </a:solidFill>
                <a:latin typeface="Arial"/>
              </a:rPr>
              <a:t>2</a:t>
            </a:r>
          </a:p>
        </p:txBody>
      </p:sp>
      <p:sp>
        <p:nvSpPr>
          <p:cNvPr id="5" name="TextBox 4"/>
          <p:cNvSpPr txBox="1"/>
          <p:nvPr/>
        </p:nvSpPr>
        <p:spPr>
          <a:xfrm>
            <a:off x="566928" y="2651760"/>
            <a:ext cx="11057839" cy="1280160"/>
          </a:xfrm>
          <a:prstGeom prst="rect">
            <a:avLst/>
          </a:prstGeom>
          <a:noFill/>
        </p:spPr>
        <p:txBody>
          <a:bodyPr wrap="square" anchor="t" lIns="0" rIns="0" tIns="0" bIns="0">
            <a:noAutofit/>
          </a:bodyPr>
          <a:lstStyle/>
          <a:p>
            <a:pPr algn="l">
              <a:lnSpc>
                <a:spcPct val="100000"/>
              </a:lnSpc>
              <a:spcBef>
                <a:spcPts val="0"/>
              </a:spcBef>
              <a:spcAft>
                <a:spcPts val="800"/>
              </a:spcAft>
            </a:pPr>
            <a:r>
              <a:rPr sz="4400" b="1">
                <a:solidFill>
                  <a:srgbClr val="FFFFFF"/>
                </a:solidFill>
                <a:latin typeface="Arial"/>
              </a:rPr>
              <a:t>Thank you.</a:t>
            </a:r>
          </a:p>
          <a:p>
            <a:pPr algn="l">
              <a:lnSpc>
                <a:spcPct val="120000"/>
              </a:lnSpc>
              <a:spcBef>
                <a:spcPts val="0"/>
              </a:spcBef>
              <a:spcAft>
                <a:spcPts val="600"/>
              </a:spcAft>
            </a:pPr>
            <a:r>
              <a:rPr sz="1600" b="0">
                <a:solidFill>
                  <a:srgbClr val="AEBECD"/>
                </a:solidFill>
                <a:latin typeface="Arial"/>
              </a:rPr>
              <a:t>Questions, pushback, and better ideas all welcome — this is a team effort.</a:t>
            </a:r>
          </a:p>
        </p:txBody>
      </p:sp>
      <p:sp>
        <p:nvSpPr>
          <p:cNvPr id="6" name="Rectangle 5"/>
          <p:cNvSpPr/>
          <p:nvPr/>
        </p:nvSpPr>
        <p:spPr>
          <a:xfrm>
            <a:off x="566928" y="4663440"/>
            <a:ext cx="2743200" cy="4572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892040"/>
            <a:ext cx="11057839" cy="457200"/>
          </a:xfrm>
          <a:prstGeom prst="rect">
            <a:avLst/>
          </a:prstGeom>
          <a:noFill/>
        </p:spPr>
        <p:txBody>
          <a:bodyPr wrap="square" anchor="ctr" lIns="0" rIns="0" tIns="0" bIns="0">
            <a:noAutofit/>
          </a:bodyPr>
          <a:lstStyle/>
          <a:p>
            <a:pPr algn="l">
              <a:lnSpc>
                <a:spcPct val="100000"/>
              </a:lnSpc>
              <a:spcBef>
                <a:spcPts val="0"/>
              </a:spcBef>
              <a:spcAft>
                <a:spcPts val="600"/>
              </a:spcAft>
            </a:pPr>
            <a:r>
              <a:rPr sz="1300" b="1">
                <a:solidFill>
                  <a:srgbClr val="FFFFFF"/>
                </a:solidFill>
                <a:latin typeface="Arial"/>
              </a:rPr>
              <a:t>Scott Bechtel</a:t>
            </a:r>
            <a:r>
              <a:rPr sz="1300" b="0">
                <a:solidFill>
                  <a:srgbClr val="AEBECD"/>
                </a:solidFill>
                <a:latin typeface="Arial"/>
              </a:rPr>
              <a:t>   ·   WSO2 Forward Deployed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